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(841 × 1189 mm), verified against the ACM Multimedia 2026 presenter guidelines. All text, bars, tables, nodes, pins and logo placeholders are editable; scene/robot photographs are cropped from the supplied paper. Tables 1–2: selected comparisons only. Table 7: cross-step identity coverage. Robot trial counts follow Table 3 and Section 4.3; the Table 3 caption says 5 trials and requires author confirmation. Conference and Tianjin University logos and paper/code QR are intentional placeholders. The 12% abstract claim is omitted because the aggregate weighting is not specified. See README.md and SOURCES.md for provenance, editing and build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6336000"/>
          </a:xfrm>
          <a:prstGeom prst="rect">
            <a:avLst/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28000"/>
            <a:ext cx="30276000" cy="10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6000" y="540000"/>
            <a:ext cx="2016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87DCD1"/>
                </a:solidFill>
                <a:latin typeface="DejaVu Sans"/>
              </a:defRPr>
            </a:pPr>
            <a:r>
              <a:t>VISUAL GROUNDING × IDENTITY-CONSISTENT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116000"/>
            <a:ext cx="20880000" cy="18483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19"/>
              </a:lnSpc>
              <a:spcBef>
                <a:spcPts val="0"/>
              </a:spcBef>
              <a:spcAft>
                <a:spcPts val="0"/>
              </a:spcAft>
              <a:defRPr sz="11000" b="1">
                <a:solidFill>
                  <a:srgbClr val="FFFFFF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968000" y="792000"/>
            <a:ext cx="2952000" cy="1512000"/>
          </a:xfrm>
          <a:prstGeom prst="roundRect">
            <a:avLst>
              <a:gd name="adj" fmla="val 4761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76000" y="1116000"/>
            <a:ext cx="2736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8E5ED"/>
                </a:solidFill>
                <a:latin typeface="DejaVu Sans"/>
              </a:defRPr>
            </a:pPr>
            <a:r>
              <a:t>ACM MM 2026</a:t>
            </a:r>
          </a:p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8E5ED"/>
                </a:solidFill>
                <a:latin typeface="DejaVu Sans"/>
              </a:defRPr>
            </a:pPr>
            <a:r>
              <a:t>LOGO PLACEHOLDER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88000" y="792000"/>
            <a:ext cx="2952000" cy="1512000"/>
          </a:xfrm>
          <a:prstGeom prst="roundRect">
            <a:avLst>
              <a:gd name="adj" fmla="val 4761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96000" y="1116000"/>
            <a:ext cx="2736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8E5ED"/>
                </a:solidFill>
                <a:latin typeface="DejaVu Sans"/>
              </a:defRPr>
            </a:pPr>
            <a:r>
              <a:t>TIANJIN UNIVERSITY</a:t>
            </a:r>
          </a:p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8E5ED"/>
                </a:solidFill>
                <a:latin typeface="DejaVu Sans"/>
              </a:defRPr>
            </a:pPr>
            <a:r>
              <a:t>LOGO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2844000"/>
            <a:ext cx="28404000" cy="15628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FFFFFF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FFFFFF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000" y="4500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E0EBF2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6000" y="4968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E0EBF2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6000" y="5544000"/>
            <a:ext cx="2840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87DCD1"/>
                </a:solidFill>
                <a:latin typeface="DejaVu Sans"/>
              </a:defRPr>
            </a:pPr>
            <a:r>
              <a:t>Tianjin University | ACM Multimedia 2026 · Rio de Janeiro, Brazil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6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model parameters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2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2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170K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2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PinCoT reasoning samples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408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768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68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evaluation benchmarks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44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004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+35.4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04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CrossPoint vs. Mimo-7B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6000" y="9144000"/>
            <a:ext cx="28404000" cy="788400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512000" y="961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12000" y="969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8000" y="9648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One entity. One persistent identity.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10584000"/>
            <a:ext cx="13428000" cy="6243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82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334B"/>
                </a:solidFill>
                <a:latin typeface="DejaVu Sans"/>
              </a:defRPr>
            </a:pPr>
            <a:r>
              <a:t>Why visual reasoning drifts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12000" y="11340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72000" y="11484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Text CoT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2000" y="12096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Implicit references can switch objects.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12000" y="12924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72000" y="13068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Coordinate CoT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2000" y="13680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A location alone does not track identity.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12000" y="14508000"/>
            <a:ext cx="13428000" cy="1404000"/>
          </a:xfrm>
          <a:prstGeom prst="roundRect">
            <a:avLst>
              <a:gd name="adj" fmla="val 5128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2000" y="14652000"/>
            <a:ext cx="1270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PinCoT / 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15264000"/>
            <a:ext cx="1270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66B7C"/>
                </a:solidFill>
                <a:latin typeface="DejaVu Sans"/>
              </a:defRPr>
            </a:pPr>
            <a:r>
              <a:t>Ground once; reuse the same entity ID.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56000" y="10584000"/>
            <a:ext cx="56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752000" y="10584000"/>
            <a:ext cx="56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43" name="Picture 42" descr="view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000" y="11160000"/>
            <a:ext cx="5652000" cy="4248000"/>
          </a:xfrm>
          <a:prstGeom prst="rect">
            <a:avLst/>
          </a:prstGeom>
        </p:spPr>
      </p:pic>
      <p:pic>
        <p:nvPicPr>
          <p:cNvPr id="44" name="Picture 43" descr="view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2000" y="11160000"/>
            <a:ext cx="5652000" cy="4248000"/>
          </a:xfrm>
          <a:prstGeom prst="rect">
            <a:avLst/>
          </a:prstGeom>
        </p:spPr>
      </p:pic>
      <p:cxnSp>
        <p:nvCxnSpPr>
          <p:cNvPr id="45" name="Connector 44"/>
          <p:cNvCxnSpPr/>
          <p:nvPr/>
        </p:nvCxnSpPr>
        <p:spPr>
          <a:xfrm>
            <a:off x="21888000" y="13212000"/>
            <a:ext cx="648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392000" y="1310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392000" y="1321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9495368" y="13462847"/>
            <a:ext cx="288000" cy="28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6272000" y="11376000"/>
            <a:ext cx="2592000" cy="504000"/>
          </a:xfrm>
          <a:prstGeom prst="roundRect">
            <a:avLst>
              <a:gd name="adj" fmla="val 714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44000" y="11412000"/>
            <a:ext cx="2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51" name="Oval 50"/>
          <p:cNvSpPr/>
          <p:nvPr/>
        </p:nvSpPr>
        <p:spPr>
          <a:xfrm>
            <a:off x="27378288" y="14015088"/>
            <a:ext cx="288000" cy="28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968000" y="11376000"/>
            <a:ext cx="2592000" cy="504000"/>
          </a:xfrm>
          <a:prstGeom prst="roundRect">
            <a:avLst>
              <a:gd name="adj" fmla="val 714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040000" y="11412000"/>
            <a:ext cx="2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56000" y="15624000"/>
            <a:ext cx="125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Same microwave → same obj_01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56000" y="16200000"/>
            <a:ext cx="125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Name + ID + view + point = reasoning anchor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6000" y="17532000"/>
            <a:ext cx="13824000" cy="10296000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512000" y="180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12000" y="181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68000" y="181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From data to RoboPIN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12000" y="19044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Automated PIN-170K construction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12000" y="19728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00000" y="19872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8000" y="19836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Semantic parsing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28000" y="20412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Qwen3-VL-32B extracts task-relevant entities.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48000" y="21060000"/>
            <a:ext cx="0" cy="180000"/>
          </a:xfrm>
          <a:prstGeom prst="line">
            <a:avLst/>
          </a:prstGeom>
          <a:ln w="254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512000" y="21276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00000" y="21420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28000" y="21384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Point grounding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628000" y="21960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Florence-2 + SAM 2.1; reverse verification.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848000" y="22608000"/>
            <a:ext cx="0" cy="180000"/>
          </a:xfrm>
          <a:prstGeom prst="line">
            <a:avLst/>
          </a:prstGeom>
          <a:ln w="254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1512000" y="22824000"/>
            <a:ext cx="12672000" cy="1296000"/>
          </a:xfrm>
          <a:prstGeom prst="roundRect">
            <a:avLst>
              <a:gd name="adj" fmla="val 5555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00000" y="22968000"/>
            <a:ext cx="828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28000" y="22932000"/>
            <a:ext cx="1126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PinCoT generation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28000" y="23508000"/>
            <a:ext cx="1126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Grounded traces + rule-based quality filtering.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12000" y="24732000"/>
            <a:ext cx="12672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7E87"/>
                </a:solidFill>
                <a:latin typeface="DejaVu Sans"/>
              </a:defRPr>
            </a:pPr>
            <a:r>
              <a:t>Three-stage post-training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12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656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56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Embodied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knowledge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508000" y="26244000"/>
            <a:ext cx="324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688000" y="2613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88000" y="2624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5904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048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48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Structured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reasoning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900000" y="26244000"/>
            <a:ext cx="324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080000" y="2613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080000" y="2624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0296000" y="25416000"/>
            <a:ext cx="3888000" cy="1692000"/>
          </a:xfrm>
          <a:prstGeom prst="roundRect">
            <a:avLst>
              <a:gd name="adj" fmla="val 4255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40000" y="25632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40000" y="26244000"/>
            <a:ext cx="3600000" cy="730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Process</a:t>
            </a:r>
          </a:p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alignment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5516000" y="17532000"/>
            <a:ext cx="13824000" cy="10296000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6092000" y="180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6092000" y="181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848000" y="181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Benchmark highlights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092000" y="19044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RoboPIN 4B vs. Mimo-Embodied 7B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6092000" y="19800000"/>
            <a:ext cx="12672000" cy="828000"/>
          </a:xfrm>
          <a:prstGeom prst="roundRect">
            <a:avLst>
              <a:gd name="adj" fmla="val 4347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6308000" y="20016000"/>
            <a:ext cx="522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Benchmark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636000" y="20016000"/>
            <a:ext cx="194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7B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32000" y="20016000"/>
            <a:ext cx="219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4B / ours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532000" y="20016000"/>
            <a:ext cx="205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Δ pp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092000" y="20664000"/>
            <a:ext cx="12672000" cy="79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308000" y="2080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EmbSpatial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636000" y="2080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76.2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0" y="2080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83.1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532000" y="2080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308000" y="21600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RoboSpatial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636000" y="21600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61.8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832000" y="21600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66.6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532000" y="21600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+4.8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6092000" y="22248000"/>
            <a:ext cx="12672000" cy="792000"/>
          </a:xfrm>
          <a:prstGeom prst="rect">
            <a:avLst/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6308000" y="22392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334B"/>
                </a:solidFill>
                <a:latin typeface="DejaVu Sans"/>
              </a:defRPr>
            </a:pPr>
            <a:r>
              <a:t>CrossPoint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636000" y="22392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36.8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832000" y="22392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532000" y="22392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+35.4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308000" y="23184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BLINK · multi-view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636000" y="23184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26.3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832000" y="23184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6532000" y="23184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+46.6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92000" y="23832000"/>
            <a:ext cx="12672000" cy="79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308000" y="239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RoboRefit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636000" y="23976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82.3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832000" y="23976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89.0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532000" y="23976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308000" y="2476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RoboAfford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636000" y="2476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69.8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3832000" y="2476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532000" y="2476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+3.0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092000" y="25776000"/>
            <a:ext cx="12672000" cy="10116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334B"/>
                </a:solidFill>
                <a:latin typeface="DejaVu Sans"/>
              </a:defRPr>
            </a:pPr>
            <a:r>
              <a:t>Strong cross-view correspondence</a:t>
            </a:r>
          </a:p>
          <a:p>
            <a:pPr algn="l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334B"/>
                </a:solidFill>
                <a:latin typeface="DejaVu Sans"/>
              </a:defRPr>
            </a:pPr>
            <a:r>
              <a:t>with a smaller parameter budget.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092000" y="27072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Selected results, Tables 1–2; Δ is percentage points.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36000" y="28332000"/>
            <a:ext cx="13824000" cy="9144000"/>
          </a:xfrm>
          <a:prstGeom prst="roundRect">
            <a:avLst>
              <a:gd name="adj" fmla="val 15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512000" y="288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512000" y="289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68000" y="289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Why process rewards help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12000" y="29880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Reward the process and the answer.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512000" y="30600000"/>
            <a:ext cx="12672000" cy="1260000"/>
          </a:xfrm>
          <a:prstGeom prst="roundRect">
            <a:avLst>
              <a:gd name="adj" fmla="val 5714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00000" y="30852000"/>
            <a:ext cx="1209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Format + consistency + pin + accuracy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12000" y="32292000"/>
            <a:ext cx="1267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Cross-step identity coverage · EmbSpatial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512000" y="33156000"/>
            <a:ext cx="306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782A3"/>
                </a:solidFill>
                <a:latin typeface="DejaVu Sans"/>
              </a:defRPr>
            </a:pPr>
            <a:r>
              <a:t>w/o RFT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752000" y="33192000"/>
            <a:ext cx="7272000" cy="360000"/>
          </a:xfrm>
          <a:prstGeom prst="roundRect">
            <a:avLst>
              <a:gd name="adj" fmla="val 10000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4752000" y="33192000"/>
            <a:ext cx="1367136" cy="360000"/>
          </a:xfrm>
          <a:prstGeom prst="roundRect">
            <a:avLst>
              <a:gd name="adj" fmla="val 10000"/>
            </a:avLst>
          </a:prstGeom>
          <a:solidFill>
            <a:srgbClr val="578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2276000" y="33120000"/>
            <a:ext cx="19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5782A3"/>
                </a:solidFill>
                <a:latin typeface="DejaVu Sans"/>
              </a:defRPr>
            </a:pPr>
            <a:r>
              <a:t>18.8%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512000" y="34056000"/>
            <a:ext cx="306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752000" y="34092000"/>
            <a:ext cx="7272000" cy="360000"/>
          </a:xfrm>
          <a:prstGeom prst="roundRect">
            <a:avLst>
              <a:gd name="adj" fmla="val 10000"/>
            </a:avLst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4752000" y="34092000"/>
            <a:ext cx="7264728" cy="360000"/>
          </a:xfrm>
          <a:prstGeom prst="roundRect">
            <a:avLst>
              <a:gd name="adj" fmla="val 10000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276000" y="34020000"/>
            <a:ext cx="19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99.9%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12000" y="35064000"/>
            <a:ext cx="12672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RFT enforces persistent ID reuse, beyond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localizing anchors correctly.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512000" y="36540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Anchor correctness: 89.1% | Table 7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5516000" y="28332000"/>
            <a:ext cx="13824000" cy="9144000"/>
          </a:xfrm>
          <a:prstGeom prst="roundRect">
            <a:avLst>
              <a:gd name="adj" fmla="val 15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6092000" y="288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6092000" y="289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848000" y="289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Zero-shot robot transfer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092000" y="29880000"/>
            <a:ext cx="1267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xArm · static + wrist RGB cameras</a:t>
            </a:r>
          </a:p>
        </p:txBody>
      </p:sp>
      <p:pic>
        <p:nvPicPr>
          <p:cNvPr id="153" name="Picture 152" descr="robot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2000" y="30600000"/>
            <a:ext cx="12672000" cy="3888000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6092000" y="34776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566B7C"/>
                </a:solidFill>
                <a:latin typeface="DejaVu Sans"/>
              </a:defRPr>
            </a:pPr>
            <a:r>
              <a:t>Successful executions / 20 per task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092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092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0484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0484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4876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876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6092000" y="36900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Paper Figure 3 and Table 3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36000" y="37980000"/>
            <a:ext cx="28404000" cy="3888000"/>
          </a:xfrm>
          <a:prstGeom prst="roundRect">
            <a:avLst>
              <a:gd name="adj" fmla="val 3703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512000" y="38448000"/>
            <a:ext cx="22284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Ground every step. Preserve every identity.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12000" y="39240000"/>
            <a:ext cx="22284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PinCoT makes visual evidence trackable across reasoning steps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and viewpoints, supporting reliable embodied decisions.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12000" y="40464000"/>
            <a:ext cx="2228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87DCD1"/>
                </a:solidFill>
                <a:latin typeface="DejaVu Sans"/>
              </a:defRPr>
            </a:pPr>
            <a:r>
              <a:t>Contact: quark404@tju.edu.cn | yuanyf@tju.edu.cn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12000" y="41076000"/>
            <a:ext cx="22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DAE7EF"/>
                </a:solidFill>
                <a:latin typeface="DejaVu Sans"/>
              </a:defRPr>
            </a:pPr>
            <a:r>
              <a:t>* Equal contribution † Corresponding authors: Yifu Yuan, Jianye Hao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5812000" y="38556000"/>
            <a:ext cx="2808000" cy="2808000"/>
          </a:xfrm>
          <a:prstGeom prst="roundRect">
            <a:avLst>
              <a:gd name="adj" fmla="val 2564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6028000" y="39240000"/>
            <a:ext cx="2376000" cy="12641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PAPER / CODE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PLACEHOLDER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