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30276000" cy="42804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A0 portrait 841 × 1189 mm. Styled to match the user-supplied AI RoboPIN mockup: Rio decorative background, gradient rounded panel headers, native icons, callout cards and bottom waves. Scientific figures and text remain grounded in the paper. The external API-based PosterAgent generator was not run. Original Figure 1 comparison and Figure 2 pipeline are preserved. The qualitative panel adds the original Figure 4 reasoning examples. Three grouped bar charts reproduce paper Figure 1 and Tables 1–3: spatial mean over 13 capability columns, pointing mean over 5 benchmarks, robot successes over 60 trials. Missing robot baseline is n/a. The detailed selected-benchmark table is retained in the source notes rather than repeated on this poster. The robot trial-count caption conflict in the source paper still requires author confirmation. Logos are original official images; paper/code QR remains an intentional placeholder. Chart bars, values, axes, text and training nodes are editable; source figures are replaceable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0276000" cy="42804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rio-wave-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30276000" cy="42804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92000" y="288000"/>
            <a:ext cx="19800000" cy="254556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910"/>
              </a:lnSpc>
              <a:spcBef>
                <a:spcPts val="0"/>
              </a:spcBef>
              <a:spcAft>
                <a:spcPts val="0"/>
              </a:spcAft>
              <a:defRPr sz="15500" b="1">
                <a:solidFill>
                  <a:srgbClr val="00576B"/>
                </a:solidFill>
                <a:latin typeface="DejaVu Sans"/>
              </a:defRPr>
            </a:pPr>
            <a:r>
              <a:t>RoboPIN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4000" y="2520000"/>
            <a:ext cx="21240000" cy="125829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387"/>
              </a:lnSpc>
              <a:spcBef>
                <a:spcPts val="0"/>
              </a:spcBef>
              <a:spcAft>
                <a:spcPts val="0"/>
              </a:spcAft>
              <a:defRPr sz="4100" b="1">
                <a:solidFill>
                  <a:srgbClr val="102B46"/>
                </a:solidFill>
                <a:latin typeface="DejaVu Sans"/>
              </a:defRPr>
            </a:pPr>
            <a:r>
              <a:t>Grounded Embodied Reasoning</a:t>
            </a:r>
          </a:p>
          <a:p>
            <a:pPr algn="l">
              <a:lnSpc>
                <a:spcPts val="4387"/>
              </a:lnSpc>
              <a:spcBef>
                <a:spcPts val="0"/>
              </a:spcBef>
              <a:spcAft>
                <a:spcPts val="0"/>
              </a:spcAft>
              <a:defRPr sz="4100" b="1">
                <a:solidFill>
                  <a:srgbClr val="102B46"/>
                </a:solidFill>
                <a:latin typeface="DejaVu Sans"/>
              </a:defRPr>
            </a:pPr>
            <a:r>
              <a:t>via Pinned Chain-of-Thought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4000" y="3924000"/>
            <a:ext cx="21960000" cy="50036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806"/>
              </a:lnSpc>
              <a:spcBef>
                <a:spcPts val="0"/>
              </a:spcBef>
              <a:spcAft>
                <a:spcPts val="0"/>
              </a:spcAft>
              <a:defRPr sz="2300" b="0">
                <a:solidFill>
                  <a:srgbClr val="18334B"/>
                </a:solidFill>
                <a:latin typeface="DejaVu Sans"/>
              </a:defRPr>
            </a:pPr>
            <a:r>
              <a:t>Yaoting Huang* · Yifu Yuan*† · Linqi Han · Chengwen Li · Shuoheng Zhang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4000" y="4392000"/>
            <a:ext cx="21960000" cy="50036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806"/>
              </a:lnSpc>
              <a:spcBef>
                <a:spcPts val="0"/>
              </a:spcBef>
              <a:spcAft>
                <a:spcPts val="0"/>
              </a:spcAft>
              <a:defRPr sz="2300" b="0">
                <a:solidFill>
                  <a:srgbClr val="18334B"/>
                </a:solidFill>
                <a:latin typeface="DejaVu Sans"/>
              </a:defRPr>
            </a:pPr>
            <a:r>
              <a:t>Xianze Yao · Hongyao Tang · Yan Zheng · Jianye Hao†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4000" y="5004000"/>
            <a:ext cx="22032000" cy="50036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806"/>
              </a:lnSpc>
              <a:spcBef>
                <a:spcPts val="0"/>
              </a:spcBef>
              <a:spcAft>
                <a:spcPts val="0"/>
              </a:spcAft>
              <a:defRPr sz="2300" b="1">
                <a:solidFill>
                  <a:srgbClr val="007E87"/>
                </a:solidFill>
                <a:latin typeface="DejaVu Sans"/>
              </a:defRPr>
            </a:pPr>
            <a:r>
              <a:t>Tianjin University · ACM Multimedia 2026 · Rio de Janeiro, Brazil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4000" y="5544000"/>
            <a:ext cx="22032000" cy="4228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566B7C"/>
                </a:solidFill>
                <a:latin typeface="DejaVu Sans"/>
              </a:defRPr>
            </a:pPr>
            <a:r>
              <a:t>quark404@tju.edu.cn · yuanyf@tju.edu.cn | * Equal contribution † Corresponding authors</a:t>
            </a:r>
          </a:p>
        </p:txBody>
      </p:sp>
      <p:pic>
        <p:nvPicPr>
          <p:cNvPr id="10" name="Picture 9" descr="mm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714857" y="684000"/>
            <a:ext cx="7654285" cy="1692000"/>
          </a:xfrm>
          <a:prstGeom prst="rect">
            <a:avLst/>
          </a:prstGeom>
        </p:spPr>
      </p:pic>
      <p:pic>
        <p:nvPicPr>
          <p:cNvPr id="11" name="Picture 10" descr="tju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292000" y="3344129"/>
            <a:ext cx="2304000" cy="2167741"/>
          </a:xfrm>
          <a:prstGeom prst="ellipse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25848000" y="3888000"/>
            <a:ext cx="3996000" cy="5468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172"/>
              </a:lnSpc>
              <a:spcBef>
                <a:spcPts val="0"/>
              </a:spcBef>
              <a:spcAft>
                <a:spcPts val="0"/>
              </a:spcAft>
              <a:defRPr sz="2600" b="1">
                <a:solidFill>
                  <a:srgbClr val="102B46"/>
                </a:solidFill>
                <a:latin typeface="DejaVu Sans"/>
              </a:defRPr>
            </a:pPr>
            <a:r>
              <a:t>Tianjin University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4000" y="6300000"/>
            <a:ext cx="15624000" cy="12924000"/>
          </a:xfrm>
          <a:prstGeom prst="roundRect">
            <a:avLst>
              <a:gd name="adj" fmla="val 2785"/>
            </a:avLst>
          </a:prstGeom>
          <a:solidFill>
            <a:srgbClr val="FFFFFF"/>
          </a:solidFill>
          <a:ln w="12700">
            <a:solidFill>
              <a:srgbClr val="BDE5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04000" y="6300000"/>
            <a:ext cx="15624000" cy="1548000"/>
          </a:xfrm>
          <a:prstGeom prst="roundRect">
            <a:avLst>
              <a:gd name="adj" fmla="val 20000"/>
            </a:avLst>
          </a:prstGeom>
          <a:gradFill rotWithShape="1">
            <a:gsLst>
              <a:gs pos="0">
                <a:srgbClr val="00798B"/>
              </a:gs>
              <a:gs pos="100000">
                <a:srgbClr val="12A58F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29200" y="7488000"/>
            <a:ext cx="15573600" cy="11710800"/>
          </a:xfrm>
          <a:prstGeom prst="roundRect">
            <a:avLst>
              <a:gd name="adj" fmla="val 3074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88000" y="6516000"/>
            <a:ext cx="576000" cy="576000"/>
          </a:xfrm>
          <a:prstGeom prst="ellipse">
            <a:avLst/>
          </a:prstGeom>
          <a:solidFill>
            <a:srgbClr val="F6CF42"/>
          </a:solidFill>
          <a:ln w="38100">
            <a:solidFill>
              <a:srgbClr val="F6CF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1332000" y="7056000"/>
            <a:ext cx="288000" cy="216000"/>
          </a:xfrm>
          <a:prstGeom prst="roundRect">
            <a:avLst>
              <a:gd name="adj" fmla="val 15000"/>
            </a:avLst>
          </a:prstGeom>
          <a:solidFill>
            <a:srgbClr val="F6CF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8" name="Connector 17"/>
          <p:cNvCxnSpPr/>
          <p:nvPr/>
        </p:nvCxnSpPr>
        <p:spPr>
          <a:xfrm>
            <a:off x="1368000" y="7344000"/>
            <a:ext cx="216000" cy="0"/>
          </a:xfrm>
          <a:prstGeom prst="line">
            <a:avLst/>
          </a:prstGeom>
          <a:ln w="38100">
            <a:solidFill>
              <a:srgbClr val="F6CF4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1908000" y="6804000"/>
            <a:ext cx="144000" cy="0"/>
          </a:xfrm>
          <a:prstGeom prst="line">
            <a:avLst/>
          </a:prstGeom>
          <a:ln w="25400">
            <a:solidFill>
              <a:srgbClr val="F6CF4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1781470" y="7109470"/>
            <a:ext cx="101823" cy="101823"/>
          </a:xfrm>
          <a:prstGeom prst="line">
            <a:avLst/>
          </a:prstGeom>
          <a:ln w="25400">
            <a:solidFill>
              <a:srgbClr val="F6CF4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1476000" y="7236000"/>
            <a:ext cx="0" cy="144000"/>
          </a:xfrm>
          <a:prstGeom prst="line">
            <a:avLst/>
          </a:prstGeom>
          <a:ln w="25400">
            <a:solidFill>
              <a:srgbClr val="F6CF4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H="1">
            <a:off x="1068706" y="7109470"/>
            <a:ext cx="101823" cy="101823"/>
          </a:xfrm>
          <a:prstGeom prst="line">
            <a:avLst/>
          </a:prstGeom>
          <a:ln w="25400">
            <a:solidFill>
              <a:srgbClr val="F6CF4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H="1">
            <a:off x="900000" y="6804000"/>
            <a:ext cx="144000" cy="0"/>
          </a:xfrm>
          <a:prstGeom prst="line">
            <a:avLst/>
          </a:prstGeom>
          <a:ln w="25400">
            <a:solidFill>
              <a:srgbClr val="F6CF4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 flipH="1" flipV="1">
            <a:off x="1068706" y="6396706"/>
            <a:ext cx="101823" cy="101823"/>
          </a:xfrm>
          <a:prstGeom prst="line">
            <a:avLst/>
          </a:prstGeom>
          <a:ln w="25400">
            <a:solidFill>
              <a:srgbClr val="F6CF4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 flipV="1">
            <a:off x="1476000" y="6228000"/>
            <a:ext cx="0" cy="144000"/>
          </a:xfrm>
          <a:prstGeom prst="line">
            <a:avLst/>
          </a:prstGeom>
          <a:ln w="25400">
            <a:solidFill>
              <a:srgbClr val="F6CF4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V="1">
            <a:off x="1781470" y="6396706"/>
            <a:ext cx="101823" cy="101823"/>
          </a:xfrm>
          <a:prstGeom prst="line">
            <a:avLst/>
          </a:prstGeom>
          <a:ln w="25400">
            <a:solidFill>
              <a:srgbClr val="F6CF4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2664000" y="6516000"/>
            <a:ext cx="13176000" cy="7327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636"/>
              </a:lnSpc>
              <a:spcBef>
                <a:spcPts val="0"/>
              </a:spcBef>
              <a:spcAft>
                <a:spcPts val="0"/>
              </a:spcAft>
              <a:defRPr sz="3800" b="1">
                <a:solidFill>
                  <a:srgbClr val="FFFFFF"/>
                </a:solidFill>
                <a:latin typeface="DejaVu Sans"/>
              </a:defRPr>
            </a:pPr>
            <a:r>
              <a:t>Motivation</a:t>
            </a:r>
          </a:p>
        </p:txBody>
      </p:sp>
      <p:pic>
        <p:nvPicPr>
          <p:cNvPr id="28" name="Picture 27" descr="figure-1-cot-compariso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6000" y="7776000"/>
            <a:ext cx="14760000" cy="7958789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936000" y="16020000"/>
            <a:ext cx="14760000" cy="4228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566B7C"/>
                </a:solidFill>
                <a:latin typeface="DejaVu Sans"/>
              </a:defRPr>
            </a:pPr>
            <a:r>
              <a:t>Figure 1: comparing three CoT paradigms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36000" y="16524000"/>
            <a:ext cx="14760000" cy="1152000"/>
          </a:xfrm>
          <a:prstGeom prst="roundRect">
            <a:avLst>
              <a:gd name="adj" fmla="val 18750"/>
            </a:avLst>
          </a:prstGeom>
          <a:gradFill rotWithShape="1">
            <a:gsLst>
              <a:gs pos="0">
                <a:srgbClr val="E9F7FA"/>
              </a:gs>
              <a:gs pos="100000">
                <a:srgbClr val="F0F8FD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1332000" y="16632000"/>
            <a:ext cx="864000" cy="936000"/>
          </a:xfrm>
          <a:prstGeom prst="roundRect">
            <a:avLst>
              <a:gd name="adj" fmla="val 20000"/>
            </a:avLst>
          </a:prstGeom>
          <a:gradFill rotWithShape="1">
            <a:gsLst>
              <a:gs pos="0">
                <a:srgbClr val="13A6AE"/>
              </a:gs>
              <a:gs pos="100000">
                <a:srgbClr val="00748B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332000" y="16740000"/>
            <a:ext cx="864000" cy="57783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3415"/>
              </a:lnSpc>
              <a:spcBef>
                <a:spcPts val="0"/>
              </a:spcBef>
              <a:spcAft>
                <a:spcPts val="0"/>
              </a:spcAft>
              <a:defRPr sz="2800" b="1">
                <a:solidFill>
                  <a:srgbClr val="FFFFFF"/>
                </a:solidFill>
                <a:latin typeface="DejaVu Sans"/>
              </a:defRPr>
            </a:pPr>
            <a:r>
              <a:t>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484000" y="16632000"/>
            <a:ext cx="12744000" cy="5313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050"/>
              </a:lnSpc>
              <a:spcBef>
                <a:spcPts val="0"/>
              </a:spcBef>
              <a:spcAft>
                <a:spcPts val="0"/>
              </a:spcAft>
              <a:defRPr sz="2500" b="1">
                <a:solidFill>
                  <a:srgbClr val="007E87"/>
                </a:solidFill>
                <a:latin typeface="DejaVu Sans"/>
              </a:defRPr>
            </a:pPr>
            <a:r>
              <a:t>Reference drift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484000" y="17172000"/>
            <a:ext cx="12744000" cy="45387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44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18334B"/>
                </a:solidFill>
                <a:latin typeface="DejaVu Sans"/>
              </a:defRPr>
            </a:pPr>
            <a:r>
              <a:t>Textual references can switch between similar objects during multi-step reasoning.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36000" y="17820000"/>
            <a:ext cx="14760000" cy="1152000"/>
          </a:xfrm>
          <a:prstGeom prst="roundRect">
            <a:avLst>
              <a:gd name="adj" fmla="val 18750"/>
            </a:avLst>
          </a:prstGeom>
          <a:gradFill rotWithShape="1">
            <a:gsLst>
              <a:gs pos="0">
                <a:srgbClr val="E9F7FA"/>
              </a:gs>
              <a:gs pos="100000">
                <a:srgbClr val="F0F8FD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1332000" y="17928000"/>
            <a:ext cx="864000" cy="936000"/>
          </a:xfrm>
          <a:prstGeom prst="roundRect">
            <a:avLst>
              <a:gd name="adj" fmla="val 20000"/>
            </a:avLst>
          </a:prstGeom>
          <a:gradFill rotWithShape="1">
            <a:gsLst>
              <a:gs pos="0">
                <a:srgbClr val="13A6AE"/>
              </a:gs>
              <a:gs pos="100000">
                <a:srgbClr val="00748B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332000" y="18036000"/>
            <a:ext cx="864000" cy="57783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3415"/>
              </a:lnSpc>
              <a:spcBef>
                <a:spcPts val="0"/>
              </a:spcBef>
              <a:spcAft>
                <a:spcPts val="0"/>
              </a:spcAft>
              <a:defRPr sz="2800" b="1">
                <a:solidFill>
                  <a:srgbClr val="FFFFFF"/>
                </a:solidFill>
                <a:latin typeface="DejaVu Sans"/>
              </a:defRPr>
            </a:pPr>
            <a:r>
              <a:t>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484000" y="17928000"/>
            <a:ext cx="12744000" cy="5313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050"/>
              </a:lnSpc>
              <a:spcBef>
                <a:spcPts val="0"/>
              </a:spcBef>
              <a:spcAft>
                <a:spcPts val="0"/>
              </a:spcAft>
              <a:defRPr sz="2500" b="1">
                <a:solidFill>
                  <a:srgbClr val="007E87"/>
                </a:solidFill>
                <a:latin typeface="DejaVu Sans"/>
              </a:defRPr>
            </a:pPr>
            <a:r>
              <a:t>Reasoning–answer misalignment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84000" y="18468000"/>
            <a:ext cx="12744000" cy="45387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44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18334B"/>
                </a:solidFill>
                <a:latin typeface="DejaVu Sans"/>
              </a:defRPr>
            </a:pPr>
            <a:r>
              <a:t>A correct intermediate analysis can still end on the wrong object, especially across views.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6416000" y="6300000"/>
            <a:ext cx="13356000" cy="12924000"/>
          </a:xfrm>
          <a:prstGeom prst="roundRect">
            <a:avLst>
              <a:gd name="adj" fmla="val 2785"/>
            </a:avLst>
          </a:prstGeom>
          <a:solidFill>
            <a:srgbClr val="FFFFFF"/>
          </a:solidFill>
          <a:ln w="12700">
            <a:solidFill>
              <a:srgbClr val="BDE5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16416000" y="6300000"/>
            <a:ext cx="13356000" cy="1548000"/>
          </a:xfrm>
          <a:prstGeom prst="roundRect">
            <a:avLst>
              <a:gd name="adj" fmla="val 20000"/>
            </a:avLst>
          </a:prstGeom>
          <a:gradFill rotWithShape="1">
            <a:gsLst>
              <a:gs pos="0">
                <a:srgbClr val="00798B"/>
              </a:gs>
              <a:gs pos="100000">
                <a:srgbClr val="12A58F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16441200" y="7488000"/>
            <a:ext cx="13305600" cy="11710800"/>
          </a:xfrm>
          <a:prstGeom prst="roundRect">
            <a:avLst>
              <a:gd name="adj" fmla="val 3074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16740000" y="6192000"/>
            <a:ext cx="1296000" cy="1296000"/>
          </a:xfrm>
          <a:prstGeom prst="ellipse">
            <a:avLst/>
          </a:prstGeom>
          <a:solidFill>
            <a:srgbClr val="006B7C"/>
          </a:solidFill>
          <a:ln w="38100">
            <a:solidFill>
              <a:srgbClr val="006B7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16956000" y="6408000"/>
            <a:ext cx="864000" cy="864000"/>
          </a:xfrm>
          <a:prstGeom prst="ellipse">
            <a:avLst/>
          </a:prstGeom>
          <a:solidFill>
            <a:srgbClr val="006B7C"/>
          </a:solidFill>
          <a:ln w="381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17100000" y="6552000"/>
            <a:ext cx="576000" cy="576000"/>
          </a:xfrm>
          <a:prstGeom prst="ellipse">
            <a:avLst/>
          </a:prstGeom>
          <a:solidFill>
            <a:srgbClr val="006B7C"/>
          </a:solidFill>
          <a:ln w="381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17244000" y="6696000"/>
            <a:ext cx="288000" cy="288000"/>
          </a:xfrm>
          <a:prstGeom prst="ellipse">
            <a:avLst/>
          </a:prstGeom>
          <a:solidFill>
            <a:srgbClr val="006B7C"/>
          </a:solidFill>
          <a:ln w="381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7" name="Connector 46"/>
          <p:cNvCxnSpPr/>
          <p:nvPr/>
        </p:nvCxnSpPr>
        <p:spPr>
          <a:xfrm flipV="1">
            <a:off x="17388000" y="6336000"/>
            <a:ext cx="468000" cy="504000"/>
          </a:xfrm>
          <a:prstGeom prst="line">
            <a:avLst/>
          </a:prstGeom>
          <a:ln w="5080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17676000" y="6336000"/>
            <a:ext cx="180000" cy="0"/>
          </a:xfrm>
          <a:prstGeom prst="line">
            <a:avLst/>
          </a:prstGeom>
          <a:ln w="3810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17856000" y="6336000"/>
            <a:ext cx="0" cy="180000"/>
          </a:xfrm>
          <a:prstGeom prst="line">
            <a:avLst/>
          </a:prstGeom>
          <a:ln w="3810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/>
          <p:cNvSpPr txBox="1"/>
          <p:nvPr/>
        </p:nvSpPr>
        <p:spPr>
          <a:xfrm>
            <a:off x="18576000" y="6516000"/>
            <a:ext cx="10908000" cy="65530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026"/>
              </a:lnSpc>
              <a:spcBef>
                <a:spcPts val="0"/>
              </a:spcBef>
              <a:spcAft>
                <a:spcPts val="0"/>
              </a:spcAft>
              <a:defRPr sz="3300" b="1">
                <a:solidFill>
                  <a:srgbClr val="FFFFFF"/>
                </a:solidFill>
                <a:latin typeface="DejaVu Sans"/>
              </a:defRPr>
            </a:pPr>
            <a:r>
              <a:t>Key Insight: Persistent Identity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6884000" y="7992000"/>
            <a:ext cx="5328000" cy="50036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806"/>
              </a:lnSpc>
              <a:spcBef>
                <a:spcPts val="0"/>
              </a:spcBef>
              <a:spcAft>
                <a:spcPts val="0"/>
              </a:spcAft>
              <a:defRPr sz="2300" b="1">
                <a:solidFill>
                  <a:srgbClr val="007E87"/>
                </a:solidFill>
                <a:latin typeface="DejaVu Sans"/>
              </a:defRPr>
            </a:pPr>
            <a:r>
              <a:t>VIEW 0</a:t>
            </a:r>
          </a:p>
        </p:txBody>
      </p:sp>
      <p:pic>
        <p:nvPicPr>
          <p:cNvPr id="52" name="Picture 51" descr="view-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6884000" y="8532000"/>
            <a:ext cx="5328000" cy="4068000"/>
          </a:xfrm>
          <a:prstGeom prst="rect">
            <a:avLst/>
          </a:prstGeom>
        </p:spPr>
      </p:pic>
      <p:sp>
        <p:nvSpPr>
          <p:cNvPr id="53" name="Oval 52"/>
          <p:cNvSpPr/>
          <p:nvPr/>
        </p:nvSpPr>
        <p:spPr>
          <a:xfrm>
            <a:off x="20125152" y="10738367"/>
            <a:ext cx="273600" cy="273600"/>
          </a:xfrm>
          <a:prstGeom prst="ellipse">
            <a:avLst/>
          </a:prstGeom>
          <a:solidFill>
            <a:srgbClr val="007E87"/>
          </a:solidFill>
          <a:ln w="381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ounded Rectangle 53"/>
          <p:cNvSpPr/>
          <p:nvPr/>
        </p:nvSpPr>
        <p:spPr>
          <a:xfrm>
            <a:off x="17064000" y="8712000"/>
            <a:ext cx="2484000" cy="468000"/>
          </a:xfrm>
          <a:prstGeom prst="roundRect">
            <a:avLst>
              <a:gd name="adj" fmla="val 7692"/>
            </a:avLst>
          </a:prstGeom>
          <a:solidFill>
            <a:srgbClr val="007E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7136000" y="8748000"/>
            <a:ext cx="2340000" cy="50036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806"/>
              </a:lnSpc>
              <a:spcBef>
                <a:spcPts val="0"/>
              </a:spcBef>
              <a:spcAft>
                <a:spcPts val="0"/>
              </a:spcAft>
              <a:defRPr sz="2300" b="1">
                <a:solidFill>
                  <a:srgbClr val="FFFFFF"/>
                </a:solidFill>
                <a:latin typeface="DejaVu Sans"/>
              </a:defRPr>
            </a:pPr>
            <a:r>
              <a:t>obj_01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3940000" y="7992000"/>
            <a:ext cx="5328000" cy="50036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806"/>
              </a:lnSpc>
              <a:spcBef>
                <a:spcPts val="0"/>
              </a:spcBef>
              <a:spcAft>
                <a:spcPts val="0"/>
              </a:spcAft>
              <a:defRPr sz="2300" b="1">
                <a:solidFill>
                  <a:srgbClr val="007E87"/>
                </a:solidFill>
                <a:latin typeface="DejaVu Sans"/>
              </a:defRPr>
            </a:pPr>
            <a:r>
              <a:t>VIEW 1</a:t>
            </a:r>
          </a:p>
        </p:txBody>
      </p:sp>
      <p:pic>
        <p:nvPicPr>
          <p:cNvPr id="57" name="Picture 56" descr="view-1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3940000" y="8532000"/>
            <a:ext cx="5328000" cy="4068000"/>
          </a:xfrm>
          <a:prstGeom prst="rect">
            <a:avLst/>
          </a:prstGeom>
        </p:spPr>
      </p:pic>
      <p:sp>
        <p:nvSpPr>
          <p:cNvPr id="58" name="Oval 57"/>
          <p:cNvSpPr/>
          <p:nvPr/>
        </p:nvSpPr>
        <p:spPr>
          <a:xfrm>
            <a:off x="28300032" y="11267208"/>
            <a:ext cx="273600" cy="273600"/>
          </a:xfrm>
          <a:prstGeom prst="ellipse">
            <a:avLst/>
          </a:prstGeom>
          <a:solidFill>
            <a:srgbClr val="007E87"/>
          </a:solidFill>
          <a:ln w="381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ounded Rectangle 58"/>
          <p:cNvSpPr/>
          <p:nvPr/>
        </p:nvSpPr>
        <p:spPr>
          <a:xfrm>
            <a:off x="24120000" y="8712000"/>
            <a:ext cx="2484000" cy="468000"/>
          </a:xfrm>
          <a:prstGeom prst="roundRect">
            <a:avLst>
              <a:gd name="adj" fmla="val 7692"/>
            </a:avLst>
          </a:prstGeom>
          <a:solidFill>
            <a:srgbClr val="007E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24192000" y="8748000"/>
            <a:ext cx="2340000" cy="50036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806"/>
              </a:lnSpc>
              <a:spcBef>
                <a:spcPts val="0"/>
              </a:spcBef>
              <a:spcAft>
                <a:spcPts val="0"/>
              </a:spcAft>
              <a:defRPr sz="2300" b="1">
                <a:solidFill>
                  <a:srgbClr val="FFFFFF"/>
                </a:solidFill>
                <a:latin typeface="DejaVu Sans"/>
              </a:defRPr>
            </a:pPr>
            <a:r>
              <a:t>obj_01</a:t>
            </a:r>
          </a:p>
        </p:txBody>
      </p:sp>
      <p:cxnSp>
        <p:nvCxnSpPr>
          <p:cNvPr id="61" name="Connector 60"/>
          <p:cNvCxnSpPr/>
          <p:nvPr/>
        </p:nvCxnSpPr>
        <p:spPr>
          <a:xfrm>
            <a:off x="22572000" y="10512000"/>
            <a:ext cx="936000" cy="0"/>
          </a:xfrm>
          <a:prstGeom prst="line">
            <a:avLst/>
          </a:prstGeom>
          <a:ln w="38100">
            <a:solidFill>
              <a:srgbClr val="007E8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>
            <a:off x="23364000" y="10404000"/>
            <a:ext cx="144000" cy="108000"/>
          </a:xfrm>
          <a:prstGeom prst="line">
            <a:avLst/>
          </a:prstGeom>
          <a:ln w="38100">
            <a:solidFill>
              <a:srgbClr val="007E8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 flipV="1">
            <a:off x="23364000" y="10512000"/>
            <a:ext cx="144000" cy="108000"/>
          </a:xfrm>
          <a:prstGeom prst="line">
            <a:avLst/>
          </a:prstGeom>
          <a:ln w="38100">
            <a:solidFill>
              <a:srgbClr val="007E8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Rounded Rectangle 63"/>
          <p:cNvSpPr/>
          <p:nvPr/>
        </p:nvSpPr>
        <p:spPr>
          <a:xfrm>
            <a:off x="16848000" y="12960000"/>
            <a:ext cx="12492000" cy="2556000"/>
          </a:xfrm>
          <a:prstGeom prst="roundRect">
            <a:avLst>
              <a:gd name="adj" fmla="val 9859"/>
            </a:avLst>
          </a:prstGeom>
          <a:gradFill rotWithShape="1">
            <a:gsLst>
              <a:gs pos="0">
                <a:srgbClr val="E7F7FA"/>
              </a:gs>
              <a:gs pos="100000">
                <a:srgbClr val="EDF6FD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17244000" y="13320000"/>
            <a:ext cx="11700000" cy="59332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538"/>
              </a:lnSpc>
              <a:spcBef>
                <a:spcPts val="0"/>
              </a:spcBef>
              <a:spcAft>
                <a:spcPts val="0"/>
              </a:spcAft>
              <a:defRPr sz="2900" b="1">
                <a:solidFill>
                  <a:srgbClr val="007E87"/>
                </a:solidFill>
                <a:latin typeface="DejaVu Sans"/>
              </a:defRPr>
            </a:pPr>
            <a:r>
              <a:t>Same entity. Same ID. Different views.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7244000" y="14148000"/>
            <a:ext cx="11700000" cy="5313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050"/>
              </a:lnSpc>
              <a:spcBef>
                <a:spcPts val="0"/>
              </a:spcBef>
              <a:spcAft>
                <a:spcPts val="0"/>
              </a:spcAft>
              <a:defRPr sz="2500" b="1">
                <a:solidFill>
                  <a:srgbClr val="18334B"/>
                </a:solidFill>
                <a:latin typeface="DejaVu Sans"/>
              </a:defRPr>
            </a:pPr>
            <a:r>
              <a:t>Reasoning anchor = name + ID + view + point.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7244000" y="14868000"/>
            <a:ext cx="11700000" cy="46937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562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8334B"/>
                </a:solidFill>
                <a:latin typeface="DejaVu Sans"/>
              </a:defRPr>
            </a:pPr>
            <a:r>
              <a:t>Introduce the anchor; reuse its identity throughout the reasoning chain.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16848000" y="16092000"/>
            <a:ext cx="9504000" cy="2880000"/>
          </a:xfrm>
          <a:prstGeom prst="roundRect">
            <a:avLst>
              <a:gd name="adj" fmla="val 8750"/>
            </a:avLst>
          </a:prstGeom>
          <a:gradFill rotWithShape="1">
            <a:gsLst>
              <a:gs pos="0">
                <a:srgbClr val="E8F7EF"/>
              </a:gs>
              <a:gs pos="100000">
                <a:srgbClr val="EDF9F5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9" name="Connector 68"/>
          <p:cNvCxnSpPr/>
          <p:nvPr/>
        </p:nvCxnSpPr>
        <p:spPr>
          <a:xfrm>
            <a:off x="17748000" y="16740000"/>
            <a:ext cx="144000" cy="0"/>
          </a:xfrm>
          <a:prstGeom prst="line">
            <a:avLst/>
          </a:prstGeom>
          <a:ln w="63500">
            <a:solidFill>
              <a:srgbClr val="007E8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>
            <a:off x="17684735" y="16892735"/>
            <a:ext cx="101823" cy="101823"/>
          </a:xfrm>
          <a:prstGeom prst="line">
            <a:avLst/>
          </a:prstGeom>
          <a:ln w="63500">
            <a:solidFill>
              <a:srgbClr val="007E8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>
            <a:off x="17532000" y="16956000"/>
            <a:ext cx="0" cy="144000"/>
          </a:xfrm>
          <a:prstGeom prst="line">
            <a:avLst/>
          </a:prstGeom>
          <a:ln w="63500">
            <a:solidFill>
              <a:srgbClr val="007E8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 flipH="1">
            <a:off x="17277441" y="16892735"/>
            <a:ext cx="101823" cy="101823"/>
          </a:xfrm>
          <a:prstGeom prst="line">
            <a:avLst/>
          </a:prstGeom>
          <a:ln w="63500">
            <a:solidFill>
              <a:srgbClr val="007E8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 flipH="1">
            <a:off x="17172000" y="16740000"/>
            <a:ext cx="144000" cy="0"/>
          </a:xfrm>
          <a:prstGeom prst="line">
            <a:avLst/>
          </a:prstGeom>
          <a:ln w="63500">
            <a:solidFill>
              <a:srgbClr val="007E8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 flipH="1" flipV="1">
            <a:off x="17277441" y="16485441"/>
            <a:ext cx="101823" cy="101823"/>
          </a:xfrm>
          <a:prstGeom prst="line">
            <a:avLst/>
          </a:prstGeom>
          <a:ln w="63500">
            <a:solidFill>
              <a:srgbClr val="007E8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 flipV="1">
            <a:off x="17532000" y="16380000"/>
            <a:ext cx="0" cy="144000"/>
          </a:xfrm>
          <a:prstGeom prst="line">
            <a:avLst/>
          </a:prstGeom>
          <a:ln w="63500">
            <a:solidFill>
              <a:srgbClr val="007E8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 flipV="1">
            <a:off x="17684735" y="16485441"/>
            <a:ext cx="101823" cy="101823"/>
          </a:xfrm>
          <a:prstGeom prst="line">
            <a:avLst/>
          </a:prstGeom>
          <a:ln w="63500">
            <a:solidFill>
              <a:srgbClr val="007E8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Oval 76"/>
          <p:cNvSpPr/>
          <p:nvPr/>
        </p:nvSpPr>
        <p:spPr>
          <a:xfrm>
            <a:off x="17280000" y="16488000"/>
            <a:ext cx="504000" cy="504000"/>
          </a:xfrm>
          <a:prstGeom prst="ellipse">
            <a:avLst/>
          </a:prstGeom>
          <a:solidFill>
            <a:srgbClr val="007E87"/>
          </a:solidFill>
          <a:ln w="38100">
            <a:solidFill>
              <a:srgbClr val="007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Oval 77"/>
          <p:cNvSpPr/>
          <p:nvPr/>
        </p:nvSpPr>
        <p:spPr>
          <a:xfrm>
            <a:off x="17442000" y="16650000"/>
            <a:ext cx="180000" cy="180000"/>
          </a:xfrm>
          <a:prstGeom prst="ellipse">
            <a:avLst/>
          </a:prstGeom>
          <a:solidFill>
            <a:srgbClr val="E8F7EF"/>
          </a:solidFill>
          <a:ln w="38100">
            <a:solidFill>
              <a:srgbClr val="E8F7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18252000" y="16416000"/>
            <a:ext cx="7668000" cy="6088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660"/>
              </a:lnSpc>
              <a:spcBef>
                <a:spcPts val="0"/>
              </a:spcBef>
              <a:spcAft>
                <a:spcPts val="0"/>
              </a:spcAft>
              <a:defRPr sz="3000" b="1">
                <a:solidFill>
                  <a:srgbClr val="007E87"/>
                </a:solidFill>
                <a:latin typeface="DejaVu Sans"/>
              </a:defRPr>
            </a:pPr>
            <a:r>
              <a:t>Our insight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7280000" y="17532000"/>
            <a:ext cx="8532000" cy="856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806"/>
              </a:lnSpc>
              <a:spcBef>
                <a:spcPts val="0"/>
              </a:spcBef>
              <a:spcAft>
                <a:spcPts val="0"/>
              </a:spcAft>
              <a:defRPr sz="2300" b="0">
                <a:solidFill>
                  <a:srgbClr val="18334B"/>
                </a:solidFill>
                <a:latin typeface="DejaVu Sans"/>
              </a:defRPr>
            </a:pPr>
            <a:r>
              <a:t>Persistent IDs connect visual grounding, intermediate</a:t>
            </a:r>
          </a:p>
          <a:p>
            <a:pPr algn="l">
              <a:lnSpc>
                <a:spcPts val="2806"/>
              </a:lnSpc>
              <a:spcBef>
                <a:spcPts val="0"/>
              </a:spcBef>
              <a:spcAft>
                <a:spcPts val="0"/>
              </a:spcAft>
              <a:defRPr sz="2300" b="0">
                <a:solidFill>
                  <a:srgbClr val="18334B"/>
                </a:solidFill>
                <a:latin typeface="DejaVu Sans"/>
              </a:defRPr>
            </a:pPr>
            <a:r>
              <a:t>steps and the final answer.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26856000" y="16236000"/>
            <a:ext cx="2520000" cy="2160000"/>
          </a:xfrm>
          <a:prstGeom prst="roundRect">
            <a:avLst/>
          </a:prstGeom>
          <a:noFill/>
          <a:ln w="19050">
            <a:solidFill>
              <a:srgbClr val="9DB6C7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27036000" y="17064000"/>
            <a:ext cx="2160000" cy="705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210"/>
              </a:lnSpc>
              <a:spcBef>
                <a:spcPts val="0"/>
              </a:spcBef>
              <a:spcAft>
                <a:spcPts val="0"/>
              </a:spcAft>
              <a:defRPr sz="1700" b="1">
                <a:solidFill>
                  <a:srgbClr val="566B7C"/>
                </a:solidFill>
                <a:latin typeface="DejaVu Sans"/>
              </a:defRPr>
            </a:pPr>
            <a:r>
              <a:t>QR</a:t>
            </a:r>
          </a:p>
          <a:p>
            <a:pPr algn="ctr">
              <a:lnSpc>
                <a:spcPts val="2210"/>
              </a:lnSpc>
              <a:spcBef>
                <a:spcPts val="0"/>
              </a:spcBef>
              <a:spcAft>
                <a:spcPts val="0"/>
              </a:spcAft>
              <a:defRPr sz="1700" b="1">
                <a:solidFill>
                  <a:srgbClr val="566B7C"/>
                </a:solidFill>
                <a:latin typeface="DejaVu Sans"/>
              </a:defRPr>
            </a:pPr>
            <a:r>
              <a:t>PLACEHOLDER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26712000" y="18648000"/>
            <a:ext cx="2808000" cy="4228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102B46"/>
                </a:solidFill>
                <a:latin typeface="DejaVu Sans"/>
              </a:defRPr>
            </a:pPr>
            <a:r>
              <a:t>PAPER / CODE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504000" y="19584000"/>
            <a:ext cx="29268000" cy="10944000"/>
          </a:xfrm>
          <a:prstGeom prst="roundRect">
            <a:avLst>
              <a:gd name="adj" fmla="val 3289"/>
            </a:avLst>
          </a:prstGeom>
          <a:solidFill>
            <a:srgbClr val="FFFFFF"/>
          </a:solidFill>
          <a:ln w="12700">
            <a:solidFill>
              <a:srgbClr val="BDE5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ounded Rectangle 84"/>
          <p:cNvSpPr/>
          <p:nvPr/>
        </p:nvSpPr>
        <p:spPr>
          <a:xfrm>
            <a:off x="504000" y="19584000"/>
            <a:ext cx="29268000" cy="1548000"/>
          </a:xfrm>
          <a:prstGeom prst="roundRect">
            <a:avLst>
              <a:gd name="adj" fmla="val 20000"/>
            </a:avLst>
          </a:prstGeom>
          <a:gradFill rotWithShape="1">
            <a:gsLst>
              <a:gs pos="0">
                <a:srgbClr val="00798B"/>
              </a:gs>
              <a:gs pos="100000">
                <a:srgbClr val="12A58F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ounded Rectangle 85"/>
          <p:cNvSpPr/>
          <p:nvPr/>
        </p:nvSpPr>
        <p:spPr>
          <a:xfrm>
            <a:off x="529200" y="20772000"/>
            <a:ext cx="29217600" cy="9730800"/>
          </a:xfrm>
          <a:prstGeom prst="roundRect">
            <a:avLst>
              <a:gd name="adj" fmla="val 3699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828000" y="19476000"/>
            <a:ext cx="1296000" cy="1296000"/>
          </a:xfrm>
          <a:prstGeom prst="ellipse">
            <a:avLst/>
          </a:prstGeom>
          <a:solidFill>
            <a:srgbClr val="006B7C"/>
          </a:solidFill>
          <a:ln w="38100">
            <a:solidFill>
              <a:srgbClr val="006B7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8" name="Connector 87"/>
          <p:cNvCxnSpPr/>
          <p:nvPr/>
        </p:nvCxnSpPr>
        <p:spPr>
          <a:xfrm>
            <a:off x="1764000" y="20124000"/>
            <a:ext cx="180000" cy="0"/>
          </a:xfrm>
          <a:prstGeom prst="line">
            <a:avLst/>
          </a:prstGeom>
          <a:ln w="8890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>
            <a:off x="1679646" y="20327646"/>
            <a:ext cx="127279" cy="127279"/>
          </a:xfrm>
          <a:prstGeom prst="line">
            <a:avLst/>
          </a:prstGeom>
          <a:ln w="8890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>
            <a:off x="1476000" y="20412000"/>
            <a:ext cx="0" cy="180000"/>
          </a:xfrm>
          <a:prstGeom prst="line">
            <a:avLst/>
          </a:prstGeom>
          <a:ln w="8890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Connector 90"/>
          <p:cNvCxnSpPr/>
          <p:nvPr/>
        </p:nvCxnSpPr>
        <p:spPr>
          <a:xfrm flipH="1">
            <a:off x="1145074" y="20327646"/>
            <a:ext cx="127279" cy="127279"/>
          </a:xfrm>
          <a:prstGeom prst="line">
            <a:avLst/>
          </a:prstGeom>
          <a:ln w="8890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 91"/>
          <p:cNvCxnSpPr/>
          <p:nvPr/>
        </p:nvCxnSpPr>
        <p:spPr>
          <a:xfrm flipH="1">
            <a:off x="1008000" y="20124000"/>
            <a:ext cx="180000" cy="0"/>
          </a:xfrm>
          <a:prstGeom prst="line">
            <a:avLst/>
          </a:prstGeom>
          <a:ln w="8890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or 92"/>
          <p:cNvCxnSpPr/>
          <p:nvPr/>
        </p:nvCxnSpPr>
        <p:spPr>
          <a:xfrm flipH="1" flipV="1">
            <a:off x="1145074" y="19793074"/>
            <a:ext cx="127279" cy="127279"/>
          </a:xfrm>
          <a:prstGeom prst="line">
            <a:avLst/>
          </a:prstGeom>
          <a:ln w="8890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 93"/>
          <p:cNvCxnSpPr/>
          <p:nvPr/>
        </p:nvCxnSpPr>
        <p:spPr>
          <a:xfrm flipV="1">
            <a:off x="1476000" y="19656000"/>
            <a:ext cx="0" cy="180000"/>
          </a:xfrm>
          <a:prstGeom prst="line">
            <a:avLst/>
          </a:prstGeom>
          <a:ln w="8890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Connector 94"/>
          <p:cNvCxnSpPr/>
          <p:nvPr/>
        </p:nvCxnSpPr>
        <p:spPr>
          <a:xfrm flipV="1">
            <a:off x="1679646" y="19793074"/>
            <a:ext cx="127279" cy="127279"/>
          </a:xfrm>
          <a:prstGeom prst="line">
            <a:avLst/>
          </a:prstGeom>
          <a:ln w="8890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6" name="Oval 95"/>
          <p:cNvSpPr/>
          <p:nvPr/>
        </p:nvSpPr>
        <p:spPr>
          <a:xfrm>
            <a:off x="1152000" y="19800000"/>
            <a:ext cx="648000" cy="64800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Oval 96"/>
          <p:cNvSpPr/>
          <p:nvPr/>
        </p:nvSpPr>
        <p:spPr>
          <a:xfrm>
            <a:off x="1353600" y="20001600"/>
            <a:ext cx="244800" cy="244800"/>
          </a:xfrm>
          <a:prstGeom prst="ellipse">
            <a:avLst/>
          </a:prstGeom>
          <a:solidFill>
            <a:srgbClr val="006B7C"/>
          </a:solidFill>
          <a:ln w="38100">
            <a:solidFill>
              <a:srgbClr val="006B7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2664000" y="19800000"/>
            <a:ext cx="26820000" cy="71727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514"/>
              </a:lnSpc>
              <a:spcBef>
                <a:spcPts val="0"/>
              </a:spcBef>
              <a:spcAft>
                <a:spcPts val="0"/>
              </a:spcAft>
              <a:defRPr sz="3700" b="1">
                <a:solidFill>
                  <a:srgbClr val="FFFFFF"/>
                </a:solidFill>
                <a:latin typeface="DejaVu Sans"/>
              </a:defRPr>
            </a:pPr>
            <a:r>
              <a:t>Our Method: RoboPIN / PinCoT</a:t>
            </a:r>
          </a:p>
        </p:txBody>
      </p:sp>
      <p:pic>
        <p:nvPicPr>
          <p:cNvPr id="99" name="Picture 98" descr="figure-2-data-pipelin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36000" y="21060000"/>
            <a:ext cx="28404000" cy="6336166"/>
          </a:xfrm>
          <a:prstGeom prst="rect">
            <a:avLst/>
          </a:prstGeom>
        </p:spPr>
      </p:pic>
      <p:sp>
        <p:nvSpPr>
          <p:cNvPr id="100" name="TextBox 99"/>
          <p:cNvSpPr txBox="1"/>
          <p:nvPr/>
        </p:nvSpPr>
        <p:spPr>
          <a:xfrm>
            <a:off x="1512000" y="28332000"/>
            <a:ext cx="4752000" cy="8425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  <a:defRPr sz="2500" b="1">
                <a:solidFill>
                  <a:srgbClr val="007E87"/>
                </a:solidFill>
                <a:latin typeface="DejaVu Sans"/>
              </a:defRPr>
            </a:pPr>
            <a:r>
              <a:t>Three-stage</a:t>
            </a:r>
          </a:p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  <a:defRPr sz="2500" b="1">
                <a:solidFill>
                  <a:srgbClr val="007E87"/>
                </a:solidFill>
                <a:latin typeface="DejaVu Sans"/>
              </a:defRPr>
            </a:pPr>
            <a:r>
              <a:t>post-training</a:t>
            </a:r>
          </a:p>
        </p:txBody>
      </p:sp>
      <p:sp>
        <p:nvSpPr>
          <p:cNvPr id="101" name="Rounded Rectangle 100"/>
          <p:cNvSpPr/>
          <p:nvPr/>
        </p:nvSpPr>
        <p:spPr>
          <a:xfrm>
            <a:off x="6840000" y="28080000"/>
            <a:ext cx="6696000" cy="1476000"/>
          </a:xfrm>
          <a:prstGeom prst="roundRect">
            <a:avLst>
              <a:gd name="adj" fmla="val 12195"/>
            </a:avLst>
          </a:prstGeom>
          <a:gradFill rotWithShape="1">
            <a:gsLst>
              <a:gs pos="0">
                <a:srgbClr val="D0F2F4"/>
              </a:gs>
              <a:gs pos="100000">
                <a:srgbClr val="E8F9FB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6984000" y="28296000"/>
            <a:ext cx="6408000" cy="5468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3172"/>
              </a:lnSpc>
              <a:spcBef>
                <a:spcPts val="0"/>
              </a:spcBef>
              <a:spcAft>
                <a:spcPts val="0"/>
              </a:spcAft>
              <a:defRPr sz="2600" b="1">
                <a:solidFill>
                  <a:srgbClr val="007E87"/>
                </a:solidFill>
                <a:latin typeface="DejaVu Sans"/>
              </a:defRPr>
            </a:pPr>
            <a:r>
              <a:t>SFT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6984000" y="28944000"/>
            <a:ext cx="6408000" cy="48486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684"/>
              </a:lnSpc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18334B"/>
                </a:solidFill>
                <a:latin typeface="DejaVu Sans"/>
              </a:defRPr>
            </a:pPr>
            <a:r>
              <a:t>Embodied knowledge</a:t>
            </a:r>
          </a:p>
        </p:txBody>
      </p:sp>
      <p:cxnSp>
        <p:nvCxnSpPr>
          <p:cNvPr id="104" name="Connector 103"/>
          <p:cNvCxnSpPr/>
          <p:nvPr/>
        </p:nvCxnSpPr>
        <p:spPr>
          <a:xfrm>
            <a:off x="13752000" y="28800000"/>
            <a:ext cx="540000" cy="0"/>
          </a:xfrm>
          <a:prstGeom prst="line">
            <a:avLst/>
          </a:prstGeom>
          <a:ln w="38100">
            <a:solidFill>
              <a:srgbClr val="007E8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Connector 104"/>
          <p:cNvCxnSpPr/>
          <p:nvPr/>
        </p:nvCxnSpPr>
        <p:spPr>
          <a:xfrm>
            <a:off x="14148000" y="28692000"/>
            <a:ext cx="144000" cy="108000"/>
          </a:xfrm>
          <a:prstGeom prst="line">
            <a:avLst/>
          </a:prstGeom>
          <a:ln w="38100">
            <a:solidFill>
              <a:srgbClr val="007E8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Connector 105"/>
          <p:cNvCxnSpPr/>
          <p:nvPr/>
        </p:nvCxnSpPr>
        <p:spPr>
          <a:xfrm flipV="1">
            <a:off x="14148000" y="28800000"/>
            <a:ext cx="144000" cy="108000"/>
          </a:xfrm>
          <a:prstGeom prst="line">
            <a:avLst/>
          </a:prstGeom>
          <a:ln w="38100">
            <a:solidFill>
              <a:srgbClr val="007E8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7" name="Rounded Rectangle 106"/>
          <p:cNvSpPr/>
          <p:nvPr/>
        </p:nvSpPr>
        <p:spPr>
          <a:xfrm>
            <a:off x="14508000" y="28080000"/>
            <a:ext cx="6696000" cy="1476000"/>
          </a:xfrm>
          <a:prstGeom prst="roundRect">
            <a:avLst>
              <a:gd name="adj" fmla="val 12195"/>
            </a:avLst>
          </a:prstGeom>
          <a:gradFill rotWithShape="1">
            <a:gsLst>
              <a:gs pos="0">
                <a:srgbClr val="D0F2F4"/>
              </a:gs>
              <a:gs pos="100000">
                <a:srgbClr val="E8F9FB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14652000" y="28296000"/>
            <a:ext cx="6408000" cy="5468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3172"/>
              </a:lnSpc>
              <a:spcBef>
                <a:spcPts val="0"/>
              </a:spcBef>
              <a:spcAft>
                <a:spcPts val="0"/>
              </a:spcAft>
              <a:defRPr sz="2600" b="1">
                <a:solidFill>
                  <a:srgbClr val="007E87"/>
                </a:solidFill>
                <a:latin typeface="DejaVu Sans"/>
              </a:defRPr>
            </a:pPr>
            <a:r>
              <a:t>CoT-SFT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4652000" y="28944000"/>
            <a:ext cx="6408000" cy="48486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684"/>
              </a:lnSpc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18334B"/>
                </a:solidFill>
                <a:latin typeface="DejaVu Sans"/>
              </a:defRPr>
            </a:pPr>
            <a:r>
              <a:t>Structured reasoning</a:t>
            </a:r>
          </a:p>
        </p:txBody>
      </p:sp>
      <p:cxnSp>
        <p:nvCxnSpPr>
          <p:cNvPr id="110" name="Connector 109"/>
          <p:cNvCxnSpPr/>
          <p:nvPr/>
        </p:nvCxnSpPr>
        <p:spPr>
          <a:xfrm>
            <a:off x="21420000" y="28800000"/>
            <a:ext cx="540000" cy="0"/>
          </a:xfrm>
          <a:prstGeom prst="line">
            <a:avLst/>
          </a:prstGeom>
          <a:ln w="38100">
            <a:solidFill>
              <a:srgbClr val="007E8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Connector 110"/>
          <p:cNvCxnSpPr/>
          <p:nvPr/>
        </p:nvCxnSpPr>
        <p:spPr>
          <a:xfrm>
            <a:off x="21816000" y="28692000"/>
            <a:ext cx="144000" cy="108000"/>
          </a:xfrm>
          <a:prstGeom prst="line">
            <a:avLst/>
          </a:prstGeom>
          <a:ln w="38100">
            <a:solidFill>
              <a:srgbClr val="007E8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" name="Connector 111"/>
          <p:cNvCxnSpPr/>
          <p:nvPr/>
        </p:nvCxnSpPr>
        <p:spPr>
          <a:xfrm flipV="1">
            <a:off x="21816000" y="28800000"/>
            <a:ext cx="144000" cy="108000"/>
          </a:xfrm>
          <a:prstGeom prst="line">
            <a:avLst/>
          </a:prstGeom>
          <a:ln w="38100">
            <a:solidFill>
              <a:srgbClr val="007E8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3" name="Rounded Rectangle 112"/>
          <p:cNvSpPr/>
          <p:nvPr/>
        </p:nvSpPr>
        <p:spPr>
          <a:xfrm>
            <a:off x="22464000" y="28080000"/>
            <a:ext cx="6696000" cy="1476000"/>
          </a:xfrm>
          <a:prstGeom prst="roundRect">
            <a:avLst>
              <a:gd name="adj" fmla="val 12195"/>
            </a:avLst>
          </a:prstGeom>
          <a:gradFill rotWithShape="1">
            <a:gsLst>
              <a:gs pos="0">
                <a:srgbClr val="D0F2F4"/>
              </a:gs>
              <a:gs pos="100000">
                <a:srgbClr val="E8F9FB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22608000" y="28296000"/>
            <a:ext cx="6408000" cy="5468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3172"/>
              </a:lnSpc>
              <a:spcBef>
                <a:spcPts val="0"/>
              </a:spcBef>
              <a:spcAft>
                <a:spcPts val="0"/>
              </a:spcAft>
              <a:defRPr sz="2600" b="1">
                <a:solidFill>
                  <a:srgbClr val="007E87"/>
                </a:solidFill>
                <a:latin typeface="DejaVu Sans"/>
              </a:defRPr>
            </a:pPr>
            <a:r>
              <a:t>RFT / GRPO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22608000" y="28944000"/>
            <a:ext cx="6408000" cy="48486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684"/>
              </a:lnSpc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18334B"/>
                </a:solidFill>
                <a:latin typeface="DejaVu Sans"/>
              </a:defRPr>
            </a:pPr>
            <a:r>
              <a:t>Process alignment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36000" y="29916000"/>
            <a:ext cx="28404000" cy="50036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806"/>
              </a:lnSpc>
              <a:spcBef>
                <a:spcPts val="0"/>
              </a:spcBef>
              <a:spcAft>
                <a:spcPts val="0"/>
              </a:spcAft>
              <a:defRPr sz="2300" b="1">
                <a:solidFill>
                  <a:srgbClr val="18334B"/>
                </a:solidFill>
                <a:latin typeface="DejaVu Sans"/>
              </a:defRPr>
            </a:pPr>
            <a:r>
              <a:t>PinCoT binds visual evidence to persistent identities. PIN-170K supplies structured traces; process rewards supervise grounding and identity consistency.</a:t>
            </a:r>
          </a:p>
        </p:txBody>
      </p:sp>
      <p:sp>
        <p:nvSpPr>
          <p:cNvPr id="117" name="Rounded Rectangle 116"/>
          <p:cNvSpPr/>
          <p:nvPr/>
        </p:nvSpPr>
        <p:spPr>
          <a:xfrm>
            <a:off x="504000" y="30888000"/>
            <a:ext cx="14400000" cy="10692000"/>
          </a:xfrm>
          <a:prstGeom prst="roundRect">
            <a:avLst>
              <a:gd name="adj" fmla="val 3367"/>
            </a:avLst>
          </a:prstGeom>
          <a:solidFill>
            <a:srgbClr val="FFFFFF"/>
          </a:solidFill>
          <a:ln w="12700">
            <a:solidFill>
              <a:srgbClr val="BDE5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Rounded Rectangle 117"/>
          <p:cNvSpPr/>
          <p:nvPr/>
        </p:nvSpPr>
        <p:spPr>
          <a:xfrm>
            <a:off x="504000" y="30888000"/>
            <a:ext cx="14400000" cy="1548000"/>
          </a:xfrm>
          <a:prstGeom prst="roundRect">
            <a:avLst>
              <a:gd name="adj" fmla="val 20000"/>
            </a:avLst>
          </a:prstGeom>
          <a:gradFill rotWithShape="1">
            <a:gsLst>
              <a:gs pos="0">
                <a:srgbClr val="00798B"/>
              </a:gs>
              <a:gs pos="100000">
                <a:srgbClr val="12A58F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Rounded Rectangle 118"/>
          <p:cNvSpPr/>
          <p:nvPr/>
        </p:nvSpPr>
        <p:spPr>
          <a:xfrm>
            <a:off x="529200" y="32076000"/>
            <a:ext cx="14349600" cy="9478800"/>
          </a:xfrm>
          <a:prstGeom prst="roundRect">
            <a:avLst>
              <a:gd name="adj" fmla="val 3797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Oval 119"/>
          <p:cNvSpPr/>
          <p:nvPr/>
        </p:nvSpPr>
        <p:spPr>
          <a:xfrm>
            <a:off x="828000" y="30780000"/>
            <a:ext cx="1296000" cy="1296000"/>
          </a:xfrm>
          <a:prstGeom prst="ellipse">
            <a:avLst/>
          </a:prstGeom>
          <a:solidFill>
            <a:srgbClr val="006B7C"/>
          </a:solidFill>
          <a:ln w="38100">
            <a:solidFill>
              <a:srgbClr val="006B7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Rounded Rectangle 120"/>
          <p:cNvSpPr/>
          <p:nvPr/>
        </p:nvSpPr>
        <p:spPr>
          <a:xfrm>
            <a:off x="1152000" y="31032000"/>
            <a:ext cx="648000" cy="828000"/>
          </a:xfrm>
          <a:prstGeom prst="roundRect">
            <a:avLst>
              <a:gd name="adj" fmla="val 11111"/>
            </a:avLst>
          </a:prstGeom>
          <a:solidFill>
            <a:srgbClr val="006B7C"/>
          </a:solidFill>
          <a:ln w="317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Rounded Rectangle 121"/>
          <p:cNvSpPr/>
          <p:nvPr/>
        </p:nvSpPr>
        <p:spPr>
          <a:xfrm>
            <a:off x="1296000" y="30960000"/>
            <a:ext cx="360000" cy="18000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3" name="Connector 122"/>
          <p:cNvCxnSpPr/>
          <p:nvPr/>
        </p:nvCxnSpPr>
        <p:spPr>
          <a:xfrm>
            <a:off x="1332000" y="31284000"/>
            <a:ext cx="360000" cy="0"/>
          </a:xfrm>
          <a:prstGeom prst="line">
            <a:avLst/>
          </a:prstGeom>
          <a:ln w="2540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4" name="Oval 123"/>
          <p:cNvSpPr/>
          <p:nvPr/>
        </p:nvSpPr>
        <p:spPr>
          <a:xfrm>
            <a:off x="1216800" y="31258800"/>
            <a:ext cx="50400" cy="5040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5" name="Connector 124"/>
          <p:cNvCxnSpPr/>
          <p:nvPr/>
        </p:nvCxnSpPr>
        <p:spPr>
          <a:xfrm>
            <a:off x="1332000" y="31500000"/>
            <a:ext cx="360000" cy="0"/>
          </a:xfrm>
          <a:prstGeom prst="line">
            <a:avLst/>
          </a:prstGeom>
          <a:ln w="2540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6" name="Oval 125"/>
          <p:cNvSpPr/>
          <p:nvPr/>
        </p:nvSpPr>
        <p:spPr>
          <a:xfrm>
            <a:off x="1216800" y="31474800"/>
            <a:ext cx="50400" cy="5040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7" name="Connector 126"/>
          <p:cNvCxnSpPr/>
          <p:nvPr/>
        </p:nvCxnSpPr>
        <p:spPr>
          <a:xfrm>
            <a:off x="1332000" y="31716000"/>
            <a:ext cx="360000" cy="0"/>
          </a:xfrm>
          <a:prstGeom prst="line">
            <a:avLst/>
          </a:prstGeom>
          <a:ln w="2540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8" name="Oval 127"/>
          <p:cNvSpPr/>
          <p:nvPr/>
        </p:nvSpPr>
        <p:spPr>
          <a:xfrm>
            <a:off x="1216800" y="31690800"/>
            <a:ext cx="50400" cy="5040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2664000" y="31104000"/>
            <a:ext cx="11952000" cy="686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270"/>
              </a:lnSpc>
              <a:spcBef>
                <a:spcPts val="0"/>
              </a:spcBef>
              <a:spcAft>
                <a:spcPts val="0"/>
              </a:spcAft>
              <a:defRPr sz="3500" b="1">
                <a:solidFill>
                  <a:srgbClr val="FFFFFF"/>
                </a:solidFill>
                <a:latin typeface="DejaVu Sans"/>
              </a:defRPr>
            </a:pPr>
            <a:r>
              <a:t>Experimental Results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1332000" y="32472000"/>
            <a:ext cx="216000" cy="216000"/>
          </a:xfrm>
          <a:prstGeom prst="rect">
            <a:avLst/>
          </a:prstGeom>
          <a:solidFill>
            <a:srgbClr val="CFD9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1692000" y="32436000"/>
            <a:ext cx="6084000" cy="43838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318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8334B"/>
                </a:solidFill>
                <a:latin typeface="DejaVu Sans"/>
              </a:defRPr>
            </a:pPr>
            <a:r>
              <a:t>Embodied-R1 (3B)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7812000" y="32472000"/>
            <a:ext cx="216000" cy="216000"/>
          </a:xfrm>
          <a:prstGeom prst="rect">
            <a:avLst/>
          </a:prstGeom>
          <a:solidFill>
            <a:srgbClr val="AEBE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8172000" y="32436000"/>
            <a:ext cx="6084000" cy="43838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318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8334B"/>
                </a:solidFill>
                <a:latin typeface="DejaVu Sans"/>
              </a:defRPr>
            </a:pPr>
            <a:r>
              <a:t>RoboBrain2.0 (7B)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1332000" y="33048000"/>
            <a:ext cx="216000" cy="216000"/>
          </a:xfrm>
          <a:prstGeom prst="rect">
            <a:avLst/>
          </a:prstGeom>
          <a:solidFill>
            <a:srgbClr val="7E98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1692000" y="33012000"/>
            <a:ext cx="6084000" cy="43838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318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8334B"/>
                </a:solidFill>
                <a:latin typeface="DejaVu Sans"/>
              </a:defRPr>
            </a:pPr>
            <a:r>
              <a:t>Mimo-Embodied (7B)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7812000" y="33048000"/>
            <a:ext cx="216000" cy="216000"/>
          </a:xfrm>
          <a:prstGeom prst="rect">
            <a:avLst/>
          </a:prstGeom>
          <a:solidFill>
            <a:srgbClr val="007E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8172000" y="33012000"/>
            <a:ext cx="6084000" cy="43838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318"/>
              </a:lnSpc>
              <a:spcBef>
                <a:spcPts val="0"/>
              </a:spcBef>
              <a:spcAft>
                <a:spcPts val="0"/>
              </a:spcAft>
              <a:defRPr sz="1900" b="1">
                <a:solidFill>
                  <a:srgbClr val="007E87"/>
                </a:solidFill>
                <a:latin typeface="DejaVu Sans"/>
              </a:defRPr>
            </a:pPr>
            <a:r>
              <a:t>RoboPIN (4B)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512000" y="33948000"/>
            <a:ext cx="3780000" cy="50036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806"/>
              </a:lnSpc>
              <a:spcBef>
                <a:spcPts val="0"/>
              </a:spcBef>
              <a:spcAft>
                <a:spcPts val="0"/>
              </a:spcAft>
              <a:defRPr sz="2300" b="1">
                <a:solidFill>
                  <a:srgbClr val="102B46"/>
                </a:solidFill>
                <a:latin typeface="DejaVu Sans"/>
              </a:defRPr>
            </a:pPr>
            <a:r>
              <a:t>Spatial</a:t>
            </a:r>
          </a:p>
        </p:txBody>
      </p:sp>
      <p:cxnSp>
        <p:nvCxnSpPr>
          <p:cNvPr id="139" name="Connector 138"/>
          <p:cNvCxnSpPr/>
          <p:nvPr/>
        </p:nvCxnSpPr>
        <p:spPr>
          <a:xfrm>
            <a:off x="1512000" y="37944000"/>
            <a:ext cx="3636000" cy="0"/>
          </a:xfrm>
          <a:prstGeom prst="line">
            <a:avLst/>
          </a:prstGeom>
          <a:ln w="12700">
            <a:solidFill>
              <a:srgbClr val="DDE6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0" name="TextBox 139"/>
          <p:cNvSpPr txBox="1"/>
          <p:nvPr/>
        </p:nvSpPr>
        <p:spPr>
          <a:xfrm>
            <a:off x="864000" y="37836000"/>
            <a:ext cx="504000" cy="39190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952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566B7C"/>
                </a:solidFill>
                <a:latin typeface="DejaVu Sans"/>
              </a:defRPr>
            </a:pPr>
            <a:r>
              <a:t>0</a:t>
            </a:r>
          </a:p>
        </p:txBody>
      </p:sp>
      <p:cxnSp>
        <p:nvCxnSpPr>
          <p:cNvPr id="141" name="Connector 140"/>
          <p:cNvCxnSpPr/>
          <p:nvPr/>
        </p:nvCxnSpPr>
        <p:spPr>
          <a:xfrm>
            <a:off x="1512000" y="36450000"/>
            <a:ext cx="3636000" cy="0"/>
          </a:xfrm>
          <a:prstGeom prst="line">
            <a:avLst/>
          </a:prstGeom>
          <a:ln w="12700">
            <a:solidFill>
              <a:srgbClr val="DDE6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2" name="TextBox 141"/>
          <p:cNvSpPr txBox="1"/>
          <p:nvPr/>
        </p:nvSpPr>
        <p:spPr>
          <a:xfrm>
            <a:off x="864000" y="36342000"/>
            <a:ext cx="504000" cy="39190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952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566B7C"/>
                </a:solidFill>
                <a:latin typeface="DejaVu Sans"/>
              </a:defRPr>
            </a:pPr>
            <a:r>
              <a:t>50</a:t>
            </a:r>
          </a:p>
        </p:txBody>
      </p:sp>
      <p:cxnSp>
        <p:nvCxnSpPr>
          <p:cNvPr id="143" name="Connector 142"/>
          <p:cNvCxnSpPr/>
          <p:nvPr/>
        </p:nvCxnSpPr>
        <p:spPr>
          <a:xfrm>
            <a:off x="1512000" y="34956000"/>
            <a:ext cx="3636000" cy="0"/>
          </a:xfrm>
          <a:prstGeom prst="line">
            <a:avLst/>
          </a:prstGeom>
          <a:ln w="12700">
            <a:solidFill>
              <a:srgbClr val="DDE6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4" name="TextBox 143"/>
          <p:cNvSpPr txBox="1"/>
          <p:nvPr/>
        </p:nvSpPr>
        <p:spPr>
          <a:xfrm>
            <a:off x="864000" y="34848000"/>
            <a:ext cx="504000" cy="39190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952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566B7C"/>
                </a:solidFill>
                <a:latin typeface="DejaVu Sans"/>
              </a:defRPr>
            </a:pPr>
            <a:r>
              <a:t>100</a:t>
            </a:r>
          </a:p>
        </p:txBody>
      </p:sp>
      <p:sp>
        <p:nvSpPr>
          <p:cNvPr id="145" name="Rectangle 144"/>
          <p:cNvSpPr/>
          <p:nvPr/>
        </p:nvSpPr>
        <p:spPr>
          <a:xfrm>
            <a:off x="1656000" y="36378058"/>
            <a:ext cx="648000" cy="1565941"/>
          </a:xfrm>
          <a:prstGeom prst="rect">
            <a:avLst/>
          </a:prstGeom>
          <a:solidFill>
            <a:srgbClr val="CFD9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1512000" y="35982058"/>
            <a:ext cx="936000" cy="45387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44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18334B"/>
                </a:solidFill>
                <a:latin typeface="DejaVu Sans"/>
              </a:defRPr>
            </a:pPr>
            <a:r>
              <a:t>52.4</a:t>
            </a:r>
          </a:p>
        </p:txBody>
      </p:sp>
      <p:sp>
        <p:nvSpPr>
          <p:cNvPr id="147" name="Rectangle 146"/>
          <p:cNvSpPr/>
          <p:nvPr/>
        </p:nvSpPr>
        <p:spPr>
          <a:xfrm>
            <a:off x="2520000" y="36297612"/>
            <a:ext cx="648000" cy="1646388"/>
          </a:xfrm>
          <a:prstGeom prst="rect">
            <a:avLst/>
          </a:prstGeom>
          <a:solidFill>
            <a:srgbClr val="AEBE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2376000" y="35901612"/>
            <a:ext cx="936000" cy="45387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44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18334B"/>
                </a:solidFill>
                <a:latin typeface="DejaVu Sans"/>
              </a:defRPr>
            </a:pPr>
            <a:r>
              <a:t>55.1</a:t>
            </a:r>
          </a:p>
        </p:txBody>
      </p:sp>
      <p:sp>
        <p:nvSpPr>
          <p:cNvPr id="149" name="Rectangle 148"/>
          <p:cNvSpPr/>
          <p:nvPr/>
        </p:nvSpPr>
        <p:spPr>
          <a:xfrm>
            <a:off x="3384000" y="36188894"/>
            <a:ext cx="648000" cy="1755105"/>
          </a:xfrm>
          <a:prstGeom prst="rect">
            <a:avLst/>
          </a:prstGeom>
          <a:solidFill>
            <a:srgbClr val="7E98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3240000" y="35792894"/>
            <a:ext cx="936000" cy="45387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44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18334B"/>
                </a:solidFill>
                <a:latin typeface="DejaVu Sans"/>
              </a:defRPr>
            </a:pPr>
            <a:r>
              <a:t>58.7</a:t>
            </a:r>
          </a:p>
        </p:txBody>
      </p:sp>
      <p:sp>
        <p:nvSpPr>
          <p:cNvPr id="151" name="Rectangle 150"/>
          <p:cNvSpPr/>
          <p:nvPr/>
        </p:nvSpPr>
        <p:spPr>
          <a:xfrm>
            <a:off x="4248000" y="35912389"/>
            <a:ext cx="648000" cy="2031610"/>
          </a:xfrm>
          <a:prstGeom prst="rect">
            <a:avLst/>
          </a:prstGeom>
          <a:solidFill>
            <a:srgbClr val="007E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TextBox 151"/>
          <p:cNvSpPr txBox="1"/>
          <p:nvPr/>
        </p:nvSpPr>
        <p:spPr>
          <a:xfrm>
            <a:off x="4104000" y="35516389"/>
            <a:ext cx="936000" cy="45387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44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007E87"/>
                </a:solidFill>
                <a:latin typeface="DejaVu Sans"/>
              </a:defRPr>
            </a:pPr>
            <a:r>
              <a:t>68.0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976000" y="33948000"/>
            <a:ext cx="3780000" cy="50036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806"/>
              </a:lnSpc>
              <a:spcBef>
                <a:spcPts val="0"/>
              </a:spcBef>
              <a:spcAft>
                <a:spcPts val="0"/>
              </a:spcAft>
              <a:defRPr sz="2300" b="1">
                <a:solidFill>
                  <a:srgbClr val="102B46"/>
                </a:solidFill>
                <a:latin typeface="DejaVu Sans"/>
              </a:defRPr>
            </a:pPr>
            <a:r>
              <a:t>Pointing</a:t>
            </a:r>
          </a:p>
        </p:txBody>
      </p:sp>
      <p:cxnSp>
        <p:nvCxnSpPr>
          <p:cNvPr id="154" name="Connector 153"/>
          <p:cNvCxnSpPr/>
          <p:nvPr/>
        </p:nvCxnSpPr>
        <p:spPr>
          <a:xfrm>
            <a:off x="5976000" y="37944000"/>
            <a:ext cx="3636000" cy="0"/>
          </a:xfrm>
          <a:prstGeom prst="line">
            <a:avLst/>
          </a:prstGeom>
          <a:ln w="12700">
            <a:solidFill>
              <a:srgbClr val="DDE6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5" name="TextBox 154"/>
          <p:cNvSpPr txBox="1"/>
          <p:nvPr/>
        </p:nvSpPr>
        <p:spPr>
          <a:xfrm>
            <a:off x="5328000" y="37836000"/>
            <a:ext cx="504000" cy="39190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952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566B7C"/>
                </a:solidFill>
                <a:latin typeface="DejaVu Sans"/>
              </a:defRPr>
            </a:pPr>
            <a:r>
              <a:t>0</a:t>
            </a:r>
          </a:p>
        </p:txBody>
      </p:sp>
      <p:cxnSp>
        <p:nvCxnSpPr>
          <p:cNvPr id="156" name="Connector 155"/>
          <p:cNvCxnSpPr/>
          <p:nvPr/>
        </p:nvCxnSpPr>
        <p:spPr>
          <a:xfrm>
            <a:off x="5976000" y="36450000"/>
            <a:ext cx="3636000" cy="0"/>
          </a:xfrm>
          <a:prstGeom prst="line">
            <a:avLst/>
          </a:prstGeom>
          <a:ln w="12700">
            <a:solidFill>
              <a:srgbClr val="DDE6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7" name="TextBox 156"/>
          <p:cNvSpPr txBox="1"/>
          <p:nvPr/>
        </p:nvSpPr>
        <p:spPr>
          <a:xfrm>
            <a:off x="5328000" y="36342000"/>
            <a:ext cx="504000" cy="39190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952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566B7C"/>
                </a:solidFill>
                <a:latin typeface="DejaVu Sans"/>
              </a:defRPr>
            </a:pPr>
            <a:r>
              <a:t>50</a:t>
            </a:r>
          </a:p>
        </p:txBody>
      </p:sp>
      <p:cxnSp>
        <p:nvCxnSpPr>
          <p:cNvPr id="158" name="Connector 157"/>
          <p:cNvCxnSpPr/>
          <p:nvPr/>
        </p:nvCxnSpPr>
        <p:spPr>
          <a:xfrm>
            <a:off x="5976000" y="34956000"/>
            <a:ext cx="3636000" cy="0"/>
          </a:xfrm>
          <a:prstGeom prst="line">
            <a:avLst/>
          </a:prstGeom>
          <a:ln w="12700">
            <a:solidFill>
              <a:srgbClr val="DDE6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9" name="TextBox 158"/>
          <p:cNvSpPr txBox="1"/>
          <p:nvPr/>
        </p:nvSpPr>
        <p:spPr>
          <a:xfrm>
            <a:off x="5328000" y="34848000"/>
            <a:ext cx="504000" cy="39190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952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566B7C"/>
                </a:solidFill>
                <a:latin typeface="DejaVu Sans"/>
              </a:defRPr>
            </a:pPr>
            <a:r>
              <a:t>100</a:t>
            </a:r>
          </a:p>
        </p:txBody>
      </p:sp>
      <p:sp>
        <p:nvSpPr>
          <p:cNvPr id="160" name="Rectangle 159"/>
          <p:cNvSpPr/>
          <p:nvPr/>
        </p:nvSpPr>
        <p:spPr>
          <a:xfrm>
            <a:off x="6120000" y="35983872"/>
            <a:ext cx="648000" cy="1960127"/>
          </a:xfrm>
          <a:prstGeom prst="rect">
            <a:avLst/>
          </a:prstGeom>
          <a:solidFill>
            <a:srgbClr val="CFD9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TextBox 160"/>
          <p:cNvSpPr txBox="1"/>
          <p:nvPr/>
        </p:nvSpPr>
        <p:spPr>
          <a:xfrm>
            <a:off x="5976000" y="35587872"/>
            <a:ext cx="936000" cy="45387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44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18334B"/>
                </a:solidFill>
                <a:latin typeface="DejaVu Sans"/>
              </a:defRPr>
            </a:pPr>
            <a:r>
              <a:t>65.6</a:t>
            </a:r>
          </a:p>
        </p:txBody>
      </p:sp>
      <p:sp>
        <p:nvSpPr>
          <p:cNvPr id="162" name="Rectangle 161"/>
          <p:cNvSpPr/>
          <p:nvPr/>
        </p:nvSpPr>
        <p:spPr>
          <a:xfrm>
            <a:off x="6984000" y="36396216"/>
            <a:ext cx="648000" cy="1547784"/>
          </a:xfrm>
          <a:prstGeom prst="rect">
            <a:avLst/>
          </a:prstGeom>
          <a:solidFill>
            <a:srgbClr val="AEBE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TextBox 162"/>
          <p:cNvSpPr txBox="1"/>
          <p:nvPr/>
        </p:nvSpPr>
        <p:spPr>
          <a:xfrm>
            <a:off x="6840000" y="36000216"/>
            <a:ext cx="936000" cy="45387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44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18334B"/>
                </a:solidFill>
                <a:latin typeface="DejaVu Sans"/>
              </a:defRPr>
            </a:pPr>
            <a:r>
              <a:t>51.8</a:t>
            </a:r>
          </a:p>
        </p:txBody>
      </p:sp>
      <p:sp>
        <p:nvSpPr>
          <p:cNvPr id="164" name="Rectangle 163"/>
          <p:cNvSpPr/>
          <p:nvPr/>
        </p:nvSpPr>
        <p:spPr>
          <a:xfrm>
            <a:off x="7848000" y="36087854"/>
            <a:ext cx="648000" cy="1856145"/>
          </a:xfrm>
          <a:prstGeom prst="rect">
            <a:avLst/>
          </a:prstGeom>
          <a:solidFill>
            <a:srgbClr val="7E98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TextBox 164"/>
          <p:cNvSpPr txBox="1"/>
          <p:nvPr/>
        </p:nvSpPr>
        <p:spPr>
          <a:xfrm>
            <a:off x="7704000" y="35691854"/>
            <a:ext cx="936000" cy="45387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44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18334B"/>
                </a:solidFill>
                <a:latin typeface="DejaVu Sans"/>
              </a:defRPr>
            </a:pPr>
            <a:r>
              <a:t>62.1</a:t>
            </a:r>
          </a:p>
        </p:txBody>
      </p:sp>
      <p:sp>
        <p:nvSpPr>
          <p:cNvPr id="166" name="Rectangle 165"/>
          <p:cNvSpPr/>
          <p:nvPr/>
        </p:nvSpPr>
        <p:spPr>
          <a:xfrm>
            <a:off x="8712000" y="35916343"/>
            <a:ext cx="648000" cy="2027656"/>
          </a:xfrm>
          <a:prstGeom prst="rect">
            <a:avLst/>
          </a:prstGeom>
          <a:solidFill>
            <a:srgbClr val="007E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TextBox 166"/>
          <p:cNvSpPr txBox="1"/>
          <p:nvPr/>
        </p:nvSpPr>
        <p:spPr>
          <a:xfrm>
            <a:off x="8568000" y="35520343"/>
            <a:ext cx="936000" cy="45387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44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007E87"/>
                </a:solidFill>
                <a:latin typeface="DejaVu Sans"/>
              </a:defRPr>
            </a:pPr>
            <a:r>
              <a:t>67.9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0440000" y="33948000"/>
            <a:ext cx="3780000" cy="50036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806"/>
              </a:lnSpc>
              <a:spcBef>
                <a:spcPts val="0"/>
              </a:spcBef>
              <a:spcAft>
                <a:spcPts val="0"/>
              </a:spcAft>
              <a:defRPr sz="2300" b="1">
                <a:solidFill>
                  <a:srgbClr val="102B46"/>
                </a:solidFill>
                <a:latin typeface="DejaVu Sans"/>
              </a:defRPr>
            </a:pPr>
            <a:r>
              <a:t>Robot</a:t>
            </a:r>
          </a:p>
        </p:txBody>
      </p:sp>
      <p:cxnSp>
        <p:nvCxnSpPr>
          <p:cNvPr id="169" name="Connector 168"/>
          <p:cNvCxnSpPr/>
          <p:nvPr/>
        </p:nvCxnSpPr>
        <p:spPr>
          <a:xfrm>
            <a:off x="10440000" y="37944000"/>
            <a:ext cx="3636000" cy="0"/>
          </a:xfrm>
          <a:prstGeom prst="line">
            <a:avLst/>
          </a:prstGeom>
          <a:ln w="12700">
            <a:solidFill>
              <a:srgbClr val="DDE6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0" name="TextBox 169"/>
          <p:cNvSpPr txBox="1"/>
          <p:nvPr/>
        </p:nvSpPr>
        <p:spPr>
          <a:xfrm>
            <a:off x="9792000" y="37836000"/>
            <a:ext cx="504000" cy="39190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952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566B7C"/>
                </a:solidFill>
                <a:latin typeface="DejaVu Sans"/>
              </a:defRPr>
            </a:pPr>
            <a:r>
              <a:t>0</a:t>
            </a:r>
          </a:p>
        </p:txBody>
      </p:sp>
      <p:cxnSp>
        <p:nvCxnSpPr>
          <p:cNvPr id="171" name="Connector 170"/>
          <p:cNvCxnSpPr/>
          <p:nvPr/>
        </p:nvCxnSpPr>
        <p:spPr>
          <a:xfrm>
            <a:off x="10440000" y="36450000"/>
            <a:ext cx="3636000" cy="0"/>
          </a:xfrm>
          <a:prstGeom prst="line">
            <a:avLst/>
          </a:prstGeom>
          <a:ln w="12700">
            <a:solidFill>
              <a:srgbClr val="DDE6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2" name="TextBox 171"/>
          <p:cNvSpPr txBox="1"/>
          <p:nvPr/>
        </p:nvSpPr>
        <p:spPr>
          <a:xfrm>
            <a:off x="9792000" y="36342000"/>
            <a:ext cx="504000" cy="39190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952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566B7C"/>
                </a:solidFill>
                <a:latin typeface="DejaVu Sans"/>
              </a:defRPr>
            </a:pPr>
            <a:r>
              <a:t>50</a:t>
            </a:r>
          </a:p>
        </p:txBody>
      </p:sp>
      <p:cxnSp>
        <p:nvCxnSpPr>
          <p:cNvPr id="173" name="Connector 172"/>
          <p:cNvCxnSpPr/>
          <p:nvPr/>
        </p:nvCxnSpPr>
        <p:spPr>
          <a:xfrm>
            <a:off x="10440000" y="34956000"/>
            <a:ext cx="3636000" cy="0"/>
          </a:xfrm>
          <a:prstGeom prst="line">
            <a:avLst/>
          </a:prstGeom>
          <a:ln w="12700">
            <a:solidFill>
              <a:srgbClr val="DDE6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" name="TextBox 173"/>
          <p:cNvSpPr txBox="1"/>
          <p:nvPr/>
        </p:nvSpPr>
        <p:spPr>
          <a:xfrm>
            <a:off x="9792000" y="34848000"/>
            <a:ext cx="504000" cy="39190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952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566B7C"/>
                </a:solidFill>
                <a:latin typeface="DejaVu Sans"/>
              </a:defRPr>
            </a:pPr>
            <a:r>
              <a:t>100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0476000" y="37512000"/>
            <a:ext cx="792000" cy="4228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566B7C"/>
                </a:solidFill>
                <a:latin typeface="DejaVu Sans"/>
              </a:defRPr>
            </a:pPr>
            <a:r>
              <a:t>n/a</a:t>
            </a:r>
          </a:p>
        </p:txBody>
      </p:sp>
      <p:sp>
        <p:nvSpPr>
          <p:cNvPr id="176" name="Rectangle 175"/>
          <p:cNvSpPr/>
          <p:nvPr/>
        </p:nvSpPr>
        <p:spPr>
          <a:xfrm>
            <a:off x="11448000" y="37047600"/>
            <a:ext cx="648000" cy="896400"/>
          </a:xfrm>
          <a:prstGeom prst="rect">
            <a:avLst/>
          </a:prstGeom>
          <a:solidFill>
            <a:srgbClr val="AEBE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TextBox 176"/>
          <p:cNvSpPr txBox="1"/>
          <p:nvPr/>
        </p:nvSpPr>
        <p:spPr>
          <a:xfrm>
            <a:off x="11304000" y="36651600"/>
            <a:ext cx="936000" cy="45387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44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18334B"/>
                </a:solidFill>
                <a:latin typeface="DejaVu Sans"/>
              </a:defRPr>
            </a:pPr>
            <a:r>
              <a:t>30.0</a:t>
            </a:r>
          </a:p>
        </p:txBody>
      </p:sp>
      <p:sp>
        <p:nvSpPr>
          <p:cNvPr id="178" name="Rectangle 177"/>
          <p:cNvSpPr/>
          <p:nvPr/>
        </p:nvSpPr>
        <p:spPr>
          <a:xfrm>
            <a:off x="12312000" y="37446000"/>
            <a:ext cx="648000" cy="498000"/>
          </a:xfrm>
          <a:prstGeom prst="rect">
            <a:avLst/>
          </a:prstGeom>
          <a:solidFill>
            <a:srgbClr val="7E98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12168000" y="37050000"/>
            <a:ext cx="936000" cy="45387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44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18334B"/>
                </a:solidFill>
                <a:latin typeface="DejaVu Sans"/>
              </a:defRPr>
            </a:pPr>
            <a:r>
              <a:t>16.7</a:t>
            </a:r>
          </a:p>
        </p:txBody>
      </p:sp>
      <p:sp>
        <p:nvSpPr>
          <p:cNvPr id="180" name="Rectangle 179"/>
          <p:cNvSpPr/>
          <p:nvPr/>
        </p:nvSpPr>
        <p:spPr>
          <a:xfrm>
            <a:off x="13176000" y="35703000"/>
            <a:ext cx="648000" cy="2241000"/>
          </a:xfrm>
          <a:prstGeom prst="rect">
            <a:avLst/>
          </a:prstGeom>
          <a:solidFill>
            <a:srgbClr val="007E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TextBox 180"/>
          <p:cNvSpPr txBox="1"/>
          <p:nvPr/>
        </p:nvSpPr>
        <p:spPr>
          <a:xfrm>
            <a:off x="13032000" y="35307000"/>
            <a:ext cx="936000" cy="45387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44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007E87"/>
                </a:solidFill>
                <a:latin typeface="DejaVu Sans"/>
              </a:defRPr>
            </a:pPr>
            <a:r>
              <a:t>75.0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936000" y="38448000"/>
            <a:ext cx="13536000" cy="7327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318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566B7C"/>
                </a:solidFill>
                <a:latin typeface="DejaVu Sans"/>
              </a:defRPr>
            </a:pPr>
            <a:r>
              <a:t>Scores (%) · Figure 1 / Tables 1–3. Spatial: 13-column mean; pointing: 5-benchmark mean; robot: success over</a:t>
            </a:r>
          </a:p>
          <a:p>
            <a:pPr algn="l">
              <a:lnSpc>
                <a:spcPts val="2318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566B7C"/>
                </a:solidFill>
                <a:latin typeface="DejaVu Sans"/>
              </a:defRPr>
            </a:pPr>
            <a:r>
              <a:t>60 trials.</a:t>
            </a:r>
          </a:p>
        </p:txBody>
      </p:sp>
      <p:sp>
        <p:nvSpPr>
          <p:cNvPr id="183" name="Rounded Rectangle 182"/>
          <p:cNvSpPr/>
          <p:nvPr/>
        </p:nvSpPr>
        <p:spPr>
          <a:xfrm>
            <a:off x="936000" y="39456000"/>
            <a:ext cx="13536000" cy="1692000"/>
          </a:xfrm>
          <a:prstGeom prst="roundRect">
            <a:avLst>
              <a:gd name="adj" fmla="val 12765"/>
            </a:avLst>
          </a:prstGeom>
          <a:gradFill rotWithShape="1">
            <a:gsLst>
              <a:gs pos="0">
                <a:srgbClr val="E8F7F5"/>
              </a:gs>
              <a:gs pos="100000">
                <a:srgbClr val="EDF9FC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TextBox 183"/>
          <p:cNvSpPr txBox="1"/>
          <p:nvPr/>
        </p:nvSpPr>
        <p:spPr>
          <a:xfrm>
            <a:off x="1368000" y="39780000"/>
            <a:ext cx="12672000" cy="56233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294"/>
              </a:lnSpc>
              <a:spcBef>
                <a:spcPts val="0"/>
              </a:spcBef>
              <a:spcAft>
                <a:spcPts val="0"/>
              </a:spcAft>
              <a:defRPr sz="2700" b="1">
                <a:solidFill>
                  <a:srgbClr val="007E87"/>
                </a:solidFill>
                <a:latin typeface="DejaVu Sans"/>
              </a:defRPr>
            </a:pPr>
            <a:r>
              <a:t>18.8% → 99.9% cross-step ID coverage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1368000" y="40572000"/>
            <a:ext cx="12672000" cy="46937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562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566B7C"/>
                </a:solidFill>
                <a:latin typeface="DejaVu Sans"/>
              </a:defRPr>
            </a:pPr>
            <a:r>
              <a:t>Without RFT → RoboPIN · EmbSpatial, Table 7</a:t>
            </a:r>
          </a:p>
        </p:txBody>
      </p:sp>
      <p:sp>
        <p:nvSpPr>
          <p:cNvPr id="186" name="Rounded Rectangle 185"/>
          <p:cNvSpPr/>
          <p:nvPr/>
        </p:nvSpPr>
        <p:spPr>
          <a:xfrm>
            <a:off x="15192000" y="30888000"/>
            <a:ext cx="14580000" cy="10692000"/>
          </a:xfrm>
          <a:prstGeom prst="roundRect">
            <a:avLst>
              <a:gd name="adj" fmla="val 3367"/>
            </a:avLst>
          </a:prstGeom>
          <a:solidFill>
            <a:srgbClr val="FFFFFF"/>
          </a:solidFill>
          <a:ln w="12700">
            <a:solidFill>
              <a:srgbClr val="BDE5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Rounded Rectangle 186"/>
          <p:cNvSpPr/>
          <p:nvPr/>
        </p:nvSpPr>
        <p:spPr>
          <a:xfrm>
            <a:off x="15192000" y="30888000"/>
            <a:ext cx="14580000" cy="1548000"/>
          </a:xfrm>
          <a:prstGeom prst="roundRect">
            <a:avLst>
              <a:gd name="adj" fmla="val 20000"/>
            </a:avLst>
          </a:prstGeom>
          <a:gradFill rotWithShape="1">
            <a:gsLst>
              <a:gs pos="0">
                <a:srgbClr val="00798B"/>
              </a:gs>
              <a:gs pos="100000">
                <a:srgbClr val="12A58F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Rounded Rectangle 187"/>
          <p:cNvSpPr/>
          <p:nvPr/>
        </p:nvSpPr>
        <p:spPr>
          <a:xfrm>
            <a:off x="15217200" y="32076000"/>
            <a:ext cx="14529600" cy="9478800"/>
          </a:xfrm>
          <a:prstGeom prst="roundRect">
            <a:avLst>
              <a:gd name="adj" fmla="val 3797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Oval 188"/>
          <p:cNvSpPr/>
          <p:nvPr/>
        </p:nvSpPr>
        <p:spPr>
          <a:xfrm>
            <a:off x="15516000" y="30780000"/>
            <a:ext cx="1296000" cy="1296000"/>
          </a:xfrm>
          <a:prstGeom prst="ellipse">
            <a:avLst/>
          </a:prstGeom>
          <a:solidFill>
            <a:srgbClr val="006B7C"/>
          </a:solidFill>
          <a:ln w="38100">
            <a:solidFill>
              <a:srgbClr val="006B7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90" name="Connector 189"/>
          <p:cNvCxnSpPr/>
          <p:nvPr/>
        </p:nvCxnSpPr>
        <p:spPr>
          <a:xfrm flipV="1">
            <a:off x="15768000" y="31068000"/>
            <a:ext cx="0" cy="756000"/>
          </a:xfrm>
          <a:prstGeom prst="line">
            <a:avLst/>
          </a:prstGeom>
          <a:ln w="3810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1" name="Connector 190"/>
          <p:cNvCxnSpPr/>
          <p:nvPr/>
        </p:nvCxnSpPr>
        <p:spPr>
          <a:xfrm>
            <a:off x="15768000" y="31824000"/>
            <a:ext cx="828000" cy="0"/>
          </a:xfrm>
          <a:prstGeom prst="line">
            <a:avLst/>
          </a:prstGeom>
          <a:ln w="3810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2" name="Connector 191"/>
          <p:cNvCxnSpPr/>
          <p:nvPr/>
        </p:nvCxnSpPr>
        <p:spPr>
          <a:xfrm flipV="1">
            <a:off x="15912000" y="31320000"/>
            <a:ext cx="216000" cy="288000"/>
          </a:xfrm>
          <a:prstGeom prst="line">
            <a:avLst/>
          </a:prstGeom>
          <a:ln w="3810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3" name="Connector 192"/>
          <p:cNvCxnSpPr/>
          <p:nvPr/>
        </p:nvCxnSpPr>
        <p:spPr>
          <a:xfrm>
            <a:off x="16128000" y="31320000"/>
            <a:ext cx="216000" cy="144000"/>
          </a:xfrm>
          <a:prstGeom prst="line">
            <a:avLst/>
          </a:prstGeom>
          <a:ln w="3810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4" name="Connector 193"/>
          <p:cNvCxnSpPr/>
          <p:nvPr/>
        </p:nvCxnSpPr>
        <p:spPr>
          <a:xfrm flipV="1">
            <a:off x="16344000" y="31104000"/>
            <a:ext cx="216000" cy="360000"/>
          </a:xfrm>
          <a:prstGeom prst="line">
            <a:avLst/>
          </a:prstGeom>
          <a:ln w="3810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5" name="Oval 194"/>
          <p:cNvSpPr/>
          <p:nvPr/>
        </p:nvSpPr>
        <p:spPr>
          <a:xfrm>
            <a:off x="15854400" y="31550400"/>
            <a:ext cx="115200" cy="11520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Oval 195"/>
          <p:cNvSpPr/>
          <p:nvPr/>
        </p:nvSpPr>
        <p:spPr>
          <a:xfrm>
            <a:off x="16070400" y="31262400"/>
            <a:ext cx="115200" cy="11520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Oval 196"/>
          <p:cNvSpPr/>
          <p:nvPr/>
        </p:nvSpPr>
        <p:spPr>
          <a:xfrm>
            <a:off x="16286400" y="31406400"/>
            <a:ext cx="115200" cy="11520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Oval 197"/>
          <p:cNvSpPr/>
          <p:nvPr/>
        </p:nvSpPr>
        <p:spPr>
          <a:xfrm>
            <a:off x="16502400" y="31046400"/>
            <a:ext cx="115200" cy="11520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TextBox 198"/>
          <p:cNvSpPr txBox="1"/>
          <p:nvPr/>
        </p:nvSpPr>
        <p:spPr>
          <a:xfrm>
            <a:off x="17352000" y="31104000"/>
            <a:ext cx="12132000" cy="7017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392"/>
              </a:lnSpc>
              <a:spcBef>
                <a:spcPts val="0"/>
              </a:spcBef>
              <a:spcAft>
                <a:spcPts val="0"/>
              </a:spcAft>
              <a:defRPr sz="3600" b="1">
                <a:solidFill>
                  <a:srgbClr val="FFFFFF"/>
                </a:solidFill>
                <a:latin typeface="DejaVu Sans"/>
              </a:defRPr>
            </a:pPr>
            <a:r>
              <a:t>Qualitative Results</a:t>
            </a:r>
          </a:p>
        </p:txBody>
      </p:sp>
      <p:pic>
        <p:nvPicPr>
          <p:cNvPr id="200" name="Picture 199" descr="robot-demo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5660000" y="32472000"/>
            <a:ext cx="13644000" cy="4184899"/>
          </a:xfrm>
          <a:prstGeom prst="rect">
            <a:avLst/>
          </a:prstGeom>
        </p:spPr>
      </p:pic>
      <p:pic>
        <p:nvPicPr>
          <p:cNvPr id="201" name="Picture 200" descr="figure-4-qualitativ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5660000" y="36900000"/>
            <a:ext cx="7128000" cy="4337621"/>
          </a:xfrm>
          <a:prstGeom prst="rect">
            <a:avLst/>
          </a:prstGeom>
        </p:spPr>
      </p:pic>
      <p:sp>
        <p:nvSpPr>
          <p:cNvPr id="202" name="TextBox 201"/>
          <p:cNvSpPr txBox="1"/>
          <p:nvPr/>
        </p:nvSpPr>
        <p:spPr>
          <a:xfrm>
            <a:off x="24876000" y="36900000"/>
            <a:ext cx="4428000" cy="5158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928"/>
              </a:lnSpc>
              <a:spcBef>
                <a:spcPts val="0"/>
              </a:spcBef>
              <a:spcAft>
                <a:spcPts val="0"/>
              </a:spcAft>
              <a:defRPr sz="2400" b="1">
                <a:solidFill>
                  <a:srgbClr val="007E87"/>
                </a:solidFill>
                <a:latin typeface="DejaVu Sans"/>
              </a:defRPr>
            </a:pPr>
            <a:r>
              <a:t>Zero-shot xArm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24876000" y="37764000"/>
            <a:ext cx="4428000" cy="45387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44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566B7C"/>
                </a:solidFill>
                <a:latin typeface="DejaVu Sans"/>
              </a:defRPr>
            </a:pPr>
            <a:r>
              <a:t>Spatial</a:t>
            </a:r>
          </a:p>
        </p:txBody>
      </p:sp>
      <p:sp>
        <p:nvSpPr>
          <p:cNvPr id="204" name="TextBox 203"/>
          <p:cNvSpPr txBox="1"/>
          <p:nvPr/>
        </p:nvSpPr>
        <p:spPr>
          <a:xfrm>
            <a:off x="24876000" y="38160000"/>
            <a:ext cx="4428000" cy="56233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294"/>
              </a:lnSpc>
              <a:spcBef>
                <a:spcPts val="0"/>
              </a:spcBef>
              <a:spcAft>
                <a:spcPts val="0"/>
              </a:spcAft>
              <a:defRPr sz="2700" b="1">
                <a:solidFill>
                  <a:srgbClr val="007E87"/>
                </a:solidFill>
                <a:latin typeface="DejaVu Sans"/>
              </a:defRPr>
            </a:pPr>
            <a:r>
              <a:t>20 / 20</a:t>
            </a:r>
          </a:p>
        </p:txBody>
      </p:sp>
      <p:sp>
        <p:nvSpPr>
          <p:cNvPr id="205" name="TextBox 204"/>
          <p:cNvSpPr txBox="1"/>
          <p:nvPr/>
        </p:nvSpPr>
        <p:spPr>
          <a:xfrm>
            <a:off x="24876000" y="38736000"/>
            <a:ext cx="4428000" cy="45387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44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566B7C"/>
                </a:solidFill>
                <a:latin typeface="DejaVu Sans"/>
              </a:defRPr>
            </a:pPr>
            <a:r>
              <a:t>Multi-view</a:t>
            </a:r>
          </a:p>
        </p:txBody>
      </p:sp>
      <p:sp>
        <p:nvSpPr>
          <p:cNvPr id="206" name="TextBox 205"/>
          <p:cNvSpPr txBox="1"/>
          <p:nvPr/>
        </p:nvSpPr>
        <p:spPr>
          <a:xfrm>
            <a:off x="24876000" y="39132000"/>
            <a:ext cx="4428000" cy="56233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294"/>
              </a:lnSpc>
              <a:spcBef>
                <a:spcPts val="0"/>
              </a:spcBef>
              <a:spcAft>
                <a:spcPts val="0"/>
              </a:spcAft>
              <a:defRPr sz="2700" b="1">
                <a:solidFill>
                  <a:srgbClr val="007E87"/>
                </a:solidFill>
                <a:latin typeface="DejaVu Sans"/>
              </a:defRPr>
            </a:pPr>
            <a:r>
              <a:t>14 / 20</a:t>
            </a:r>
          </a:p>
        </p:txBody>
      </p:sp>
      <p:sp>
        <p:nvSpPr>
          <p:cNvPr id="207" name="TextBox 206"/>
          <p:cNvSpPr txBox="1"/>
          <p:nvPr/>
        </p:nvSpPr>
        <p:spPr>
          <a:xfrm>
            <a:off x="24876000" y="39708000"/>
            <a:ext cx="4428000" cy="45387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44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566B7C"/>
                </a:solidFill>
                <a:latin typeface="DejaVu Sans"/>
              </a:defRPr>
            </a:pPr>
            <a:r>
              <a:t>Long-horizon</a:t>
            </a:r>
          </a:p>
        </p:txBody>
      </p:sp>
      <p:sp>
        <p:nvSpPr>
          <p:cNvPr id="208" name="TextBox 207"/>
          <p:cNvSpPr txBox="1"/>
          <p:nvPr/>
        </p:nvSpPr>
        <p:spPr>
          <a:xfrm>
            <a:off x="24876000" y="40104000"/>
            <a:ext cx="4428000" cy="56233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294"/>
              </a:lnSpc>
              <a:spcBef>
                <a:spcPts val="0"/>
              </a:spcBef>
              <a:spcAft>
                <a:spcPts val="0"/>
              </a:spcAft>
              <a:defRPr sz="2700" b="1">
                <a:solidFill>
                  <a:srgbClr val="007E87"/>
                </a:solidFill>
                <a:latin typeface="DejaVu Sans"/>
              </a:defRPr>
            </a:pPr>
            <a:r>
              <a:t>11 / 20</a:t>
            </a:r>
          </a:p>
        </p:txBody>
      </p:sp>
      <p:sp>
        <p:nvSpPr>
          <p:cNvPr id="209" name="TextBox 208"/>
          <p:cNvSpPr txBox="1"/>
          <p:nvPr/>
        </p:nvSpPr>
        <p:spPr>
          <a:xfrm>
            <a:off x="24876000" y="40824000"/>
            <a:ext cx="4428000" cy="6240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9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566B7C"/>
                </a:solidFill>
                <a:latin typeface="DejaVu Sans"/>
              </a:defRPr>
            </a:pPr>
            <a:r>
              <a:t>Successes per task</a:t>
            </a:r>
          </a:p>
          <a:p>
            <a:pPr algn="l">
              <a:lnSpc>
                <a:spcPts val="189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566B7C"/>
                </a:solidFill>
                <a:latin typeface="DejaVu Sans"/>
              </a:defRPr>
            </a:pPr>
            <a:r>
              <a:t>Table 3</a:t>
            </a:r>
          </a:p>
        </p:txBody>
      </p:sp>
      <p:sp>
        <p:nvSpPr>
          <p:cNvPr id="210" name="TextBox 209"/>
          <p:cNvSpPr txBox="1"/>
          <p:nvPr/>
        </p:nvSpPr>
        <p:spPr>
          <a:xfrm>
            <a:off x="15660000" y="41364000"/>
            <a:ext cx="9000000" cy="40739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074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566B7C"/>
                </a:solidFill>
                <a:latin typeface="DejaVu Sans"/>
              </a:defRPr>
            </a:pPr>
            <a:r>
              <a:t>Figure 3: execution · Figure 4: grounded reasoning</a:t>
            </a:r>
          </a:p>
        </p:txBody>
      </p:sp>
      <p:sp>
        <p:nvSpPr>
          <p:cNvPr id="211" name="TextBox 210"/>
          <p:cNvSpPr txBox="1"/>
          <p:nvPr/>
        </p:nvSpPr>
        <p:spPr>
          <a:xfrm>
            <a:off x="1620000" y="42120000"/>
            <a:ext cx="27036000" cy="56233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3294"/>
              </a:lnSpc>
              <a:spcBef>
                <a:spcPts val="0"/>
              </a:spcBef>
              <a:spcAft>
                <a:spcPts val="0"/>
              </a:spcAft>
              <a:defRPr sz="2700" b="1">
                <a:solidFill>
                  <a:srgbClr val="FFFFFF"/>
                </a:solidFill>
                <a:latin typeface="DejaVu Sans"/>
              </a:defRPr>
            </a:pPr>
            <a:r>
              <a:t>Persistent visual anchors make embodied reasoning traceable.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