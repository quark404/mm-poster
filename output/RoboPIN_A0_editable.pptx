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841 × 1189 mm. SDO reference restyle: Comic Neue Bold headings, Open Sans body, coral bars, white background. HTML/CSS and native PowerPoint share the same layout. Method uses one unchanged crop of the full Figure 2 artwork: data construction above, the original CoT reasoning example below. Key Insight restores the earlier paired-view explanation. No QR code, QR placeholder or paper/code label is included. Performance is the untouched plot cropped from paper Figure 1. Robot visualization includes all three rows of Figure 3. Reward ablation: Table 5, controlled EmbSpatial setting (84.7 / 82.0 / 82.7). Cumulative training: Table 6, Spatial 57.0 / 62.0 / 67.7, Point 66.0 / 63.6 / 67.9. The controlled ablation averages are distinct from the headline results; Point does not improve monotonically. No cross-step coverage panel. Text and ablation tables are editable; paper images and logos are replaceable pictures. Trial-count discrepancy in the source caption remains documented in SOURCES.md. No QR is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32000"/>
            <a:ext cx="20448000" cy="21180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7772"/>
              </a:lnSpc>
              <a:spcBef>
                <a:spcPts val="0"/>
              </a:spcBef>
              <a:spcAft>
                <a:spcPts val="0"/>
              </a:spcAft>
              <a:defRPr sz="6700" b="1">
                <a:solidFill>
                  <a:srgbClr val="E54C64"/>
                </a:solidFill>
                <a:latin typeface="Comic Neue"/>
              </a:defRPr>
            </a:pPr>
            <a:r>
              <a:rPr>
                <a:solidFill>
                  <a:srgbClr val="E54C64"/>
                </a:solidFill>
              </a:rPr>
              <a:t>RoboPIN: Grounded Embodied Reasoning</a:t>
            </a:r>
          </a:p>
          <a:p>
            <a:pPr algn="l">
              <a:lnSpc>
                <a:spcPts val="7772"/>
              </a:lnSpc>
              <a:spcBef>
                <a:spcPts val="0"/>
              </a:spcBef>
              <a:spcAft>
                <a:spcPts val="0"/>
              </a:spcAft>
              <a:defRPr sz="6700" b="1">
                <a:solidFill>
                  <a:srgbClr val="E54C64"/>
                </a:solidFill>
                <a:latin typeface="Comic Neue"/>
              </a:defRPr>
            </a:pPr>
            <a:r>
              <a:rPr>
                <a:solidFill>
                  <a:srgbClr val="E54C64"/>
                </a:solidFill>
              </a:rPr>
              <a:t>via Pinned Chain-of-Thought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000" y="2736000"/>
            <a:ext cx="2044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Yaoting Huang* · Yifu Yuan*† · Linqi Han · Chengwen 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3240000"/>
            <a:ext cx="2044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Shuoheng Zhang · Xianze Yao · Hongyao Tang · Yan Zheng · Jianye Hao†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3888000"/>
            <a:ext cx="2044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Tianjin University · ACM Multimedia 2026 · Rio de Janeiro, Brazil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4500000"/>
            <a:ext cx="2044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quark404@tju.edu.cn · yuanyf@tju.edu.cn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4968000"/>
            <a:ext cx="20448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Open Sans"/>
              </a:defRPr>
            </a:pPr>
            <a:r>
              <a:rPr>
                <a:solidFill>
                  <a:srgbClr val="566B7C"/>
                </a:solidFill>
              </a:rPr>
              <a:t>* Equal contribution † Corresponding authors</a:t>
            </a:r>
          </a:p>
        </p:txBody>
      </p:sp>
      <p:pic>
        <p:nvPicPr>
          <p:cNvPr id="9" name="Picture 8" descr="m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4857" y="576000"/>
            <a:ext cx="7654285" cy="1692000"/>
          </a:xfrm>
          <a:prstGeom prst="rect">
            <a:avLst/>
          </a:prstGeom>
        </p:spPr>
      </p:pic>
      <p:pic>
        <p:nvPicPr>
          <p:cNvPr id="10" name="Picture 9" descr="tj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92000" y="2696129"/>
            <a:ext cx="2304000" cy="2167741"/>
          </a:xfrm>
          <a:prstGeom prst="ellipse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5848000" y="3240000"/>
            <a:ext cx="39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Tianjin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000" y="5508000"/>
            <a:ext cx="14904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5616000"/>
            <a:ext cx="14472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Motivation</a:t>
            </a:r>
          </a:p>
        </p:txBody>
      </p:sp>
      <p:pic>
        <p:nvPicPr>
          <p:cNvPr id="14" name="Picture 13" descr="figure-1-cot-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000" y="6840000"/>
            <a:ext cx="12600000" cy="67940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2000" y="13896000"/>
            <a:ext cx="14328000" cy="9832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1. Text-based references can </a:t>
            </a:r>
            <a:r>
              <a:rPr>
                <a:solidFill>
                  <a:srgbClr val="E54C64"/>
                </a:solidFill>
              </a:rPr>
              <a:t>drift</a:t>
            </a:r>
            <a:r>
              <a:rPr>
                <a:solidFill>
                  <a:srgbClr val="222222"/>
                </a:solidFill>
              </a:rPr>
              <a:t> between similar objects. Coordinate-only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grounding lacks </a:t>
            </a:r>
            <a:r>
              <a:rPr>
                <a:solidFill>
                  <a:srgbClr val="E54C64"/>
                </a:solidFill>
              </a:rPr>
              <a:t>explicit identity tracking</a:t>
            </a:r>
            <a:r>
              <a:rPr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14976000"/>
            <a:ext cx="14328000" cy="9832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2. A model may correctly analyze </a:t>
            </a:r>
            <a:r>
              <a:rPr>
                <a:solidFill>
                  <a:srgbClr val="E54C64"/>
                </a:solidFill>
              </a:rPr>
              <a:t>object A</a:t>
            </a:r>
            <a:r>
              <a:rPr>
                <a:solidFill>
                  <a:srgbClr val="222222"/>
                </a:solidFill>
              </a:rPr>
              <a:t>, then silently point to </a:t>
            </a:r>
            <a:r>
              <a:rPr>
                <a:solidFill>
                  <a:srgbClr val="E54C64"/>
                </a:solidFill>
              </a:rPr>
              <a:t>object B</a:t>
            </a:r>
            <a:r>
              <a:rPr>
                <a:solidFill>
                  <a:srgbClr val="222222"/>
                </a:solidFill>
              </a:rPr>
              <a:t>. This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reasoning-to-answer misalignment</a:t>
            </a:r>
            <a:r>
              <a:rPr>
                <a:solidFill>
                  <a:srgbClr val="222222"/>
                </a:solidFill>
              </a:rPr>
              <a:t> breaks reliable visual grounding.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912000" y="5508000"/>
            <a:ext cx="13860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128000" y="5616000"/>
            <a:ext cx="13428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Key Insight: Persistent Identity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2000" y="6876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View 0</a:t>
            </a:r>
          </a:p>
        </p:txBody>
      </p:sp>
      <p:pic>
        <p:nvPicPr>
          <p:cNvPr id="20" name="Picture 19" descr="view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2000" y="7452000"/>
            <a:ext cx="5328000" cy="4130093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19513152" y="9694134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452000" y="7632000"/>
            <a:ext cx="2484000" cy="468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524000" y="7668000"/>
            <a:ext cx="234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Open Sans"/>
              </a:defRPr>
            </a:pPr>
            <a:r>
              <a:rPr>
                <a:solidFill>
                  <a:srgbClr val="FFFFFF"/>
                </a:solidFill>
              </a:rPr>
              <a:t>obj_01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40000" y="6876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View 1</a:t>
            </a:r>
          </a:p>
        </p:txBody>
      </p:sp>
      <p:pic>
        <p:nvPicPr>
          <p:cNvPr id="25" name="Picture 24" descr="view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940000" y="7452000"/>
            <a:ext cx="5328000" cy="4379957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28300032" y="10407449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120000" y="7632000"/>
            <a:ext cx="2484000" cy="468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192000" y="7668000"/>
            <a:ext cx="234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Open Sans"/>
              </a:defRPr>
            </a:pPr>
            <a:r>
              <a:rPr>
                <a:solidFill>
                  <a:srgbClr val="FFFFFF"/>
                </a:solidFill>
              </a:rPr>
              <a:t>obj_01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212000" y="9468000"/>
            <a:ext cx="11160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3184000" y="9360000"/>
            <a:ext cx="144000" cy="1080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3184000" y="9468000"/>
            <a:ext cx="144000" cy="1080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6272000" y="11952000"/>
            <a:ext cx="13140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From isolated grounding to persistent anchors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44000" y="12600000"/>
            <a:ext cx="12960000" cy="968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• Spatial references are usually </a:t>
            </a:r>
            <a:r>
              <a:rPr>
                <a:solidFill>
                  <a:srgbClr val="E54C64"/>
                </a:solidFill>
              </a:rPr>
              <a:t>isolated annotations</a:t>
            </a:r>
            <a:r>
              <a:rPr>
                <a:solidFill>
                  <a:srgbClr val="222222"/>
                </a:solidFill>
              </a:rPr>
              <a:t>, without explicit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identity tracking</a:t>
            </a:r>
            <a:r>
              <a:rPr>
                <a:solidFill>
                  <a:srgbClr val="222222"/>
                </a:solidFill>
              </a:rPr>
              <a:t> during reasoning.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344000" y="13788000"/>
            <a:ext cx="12960000" cy="968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• PinCoT binds each entity to a </a:t>
            </a:r>
            <a:r>
              <a:rPr>
                <a:solidFill>
                  <a:srgbClr val="E54C64"/>
                </a:solidFill>
              </a:rPr>
              <a:t>name, ID, view and point</a:t>
            </a:r>
            <a:r>
              <a:rPr>
                <a:solidFill>
                  <a:srgbClr val="222222"/>
                </a:solidFill>
              </a:rPr>
              <a:t>. Later steps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reuse the </a:t>
            </a:r>
            <a:r>
              <a:rPr>
                <a:solidFill>
                  <a:srgbClr val="E54C64"/>
                </a:solidFill>
              </a:rPr>
              <a:t>same ID</a:t>
            </a:r>
            <a:r>
              <a:rPr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344000" y="14976000"/>
            <a:ext cx="12960000" cy="968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• </a:t>
            </a:r>
            <a:r>
              <a:rPr>
                <a:solidFill>
                  <a:srgbClr val="E54C64"/>
                </a:solidFill>
              </a:rPr>
              <a:t>Our insight:</a:t>
            </a:r>
            <a:r>
              <a:rPr>
                <a:solidFill>
                  <a:srgbClr val="222222"/>
                </a:solidFill>
              </a:rPr>
              <a:t> visual anchors act as </a:t>
            </a:r>
            <a:r>
              <a:rPr>
                <a:solidFill>
                  <a:srgbClr val="E54C64"/>
                </a:solidFill>
              </a:rPr>
              <a:t>persistent reasoning</a:t>
            </a:r>
            <a:r>
              <a:rPr>
                <a:solidFill>
                  <a:srgbClr val="222222"/>
                </a:solidFill>
              </a:rPr>
              <a:t> </a:t>
            </a:r>
            <a:r>
              <a:rPr>
                <a:solidFill>
                  <a:srgbClr val="E54C64"/>
                </a:solidFill>
              </a:rPr>
              <a:t>variables</a:t>
            </a:r>
            <a:r>
              <a:rPr>
                <a:solidFill>
                  <a:srgbClr val="222222"/>
                </a:solidFill>
              </a:rPr>
              <a:t>,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making each step traceable to visual evidence.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000" y="16236000"/>
            <a:ext cx="29268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000" y="16344000"/>
            <a:ext cx="28836000" cy="856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612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Our Method: RoboPIN / PinCoT</a:t>
            </a:r>
          </a:p>
        </p:txBody>
      </p:sp>
      <p:pic>
        <p:nvPicPr>
          <p:cNvPr id="38" name="Picture 37" descr="figure-2-full-metho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38000" y="17496000"/>
            <a:ext cx="25200000" cy="10003053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504000" y="27900000"/>
            <a:ext cx="14400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0000" y="28008000"/>
            <a:ext cx="13968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Experimental Results</a:t>
            </a:r>
          </a:p>
        </p:txBody>
      </p:sp>
      <p:pic>
        <p:nvPicPr>
          <p:cNvPr id="41" name="Picture 40" descr="performance-origin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4000" y="29376000"/>
            <a:ext cx="11520000" cy="735561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36000" y="37008000"/>
            <a:ext cx="13536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Ablation studies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000" y="37584000"/>
            <a:ext cx="644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Reward design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92000" y="37584000"/>
            <a:ext cx="648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Training stages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000" y="38160000"/>
            <a:ext cx="6408000" cy="540000"/>
          </a:xfrm>
          <a:prstGeom prst="roundRect">
            <a:avLst>
              <a:gd name="adj" fmla="val 13333"/>
            </a:avLst>
          </a:prstGeom>
          <a:solidFill>
            <a:srgbClr val="FF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992000" y="38160000"/>
            <a:ext cx="6480000" cy="540000"/>
          </a:xfrm>
          <a:prstGeom prst="roundRect">
            <a:avLst>
              <a:gd name="adj" fmla="val 13333"/>
            </a:avLst>
          </a:prstGeom>
          <a:solidFill>
            <a:srgbClr val="FF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16000" y="38268000"/>
            <a:ext cx="403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Setting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8000" y="38268000"/>
            <a:ext cx="1836000" cy="407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074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EmbSpatial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72000" y="38268000"/>
            <a:ext cx="2520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Stage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64000" y="38268000"/>
            <a:ext cx="1620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Spatial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636000" y="38268000"/>
            <a:ext cx="1656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Point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6000" y="38916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Full reward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36000" y="38916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84.7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6000" y="39600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w/o Pin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36000" y="39600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82.0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6000" y="40284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w/o Consistency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36000" y="40284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82.7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2000" y="38916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SFT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64000" y="38916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57.0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636000" y="38916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66.0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72000" y="39600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+ CoT-SFT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64000" y="39600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62.0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636000" y="39600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63.6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72000" y="40284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+ RFT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64000" y="40284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67.7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36000" y="40284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67.9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704000" y="37692000"/>
            <a:ext cx="0" cy="309600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36000" y="41040000"/>
            <a:ext cx="13536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Spatial reasoning: +10.7 points from SFT to RFT.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192000" y="27900000"/>
            <a:ext cx="14580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5408000" y="28008000"/>
            <a:ext cx="14148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Qualitative Results</a:t>
            </a:r>
          </a:p>
        </p:txBody>
      </p:sp>
      <p:pic>
        <p:nvPicPr>
          <p:cNvPr id="71" name="Picture 70" descr="robot-three-row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64000" y="29376000"/>
            <a:ext cx="12600000" cy="5874509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5660000" y="35496000"/>
            <a:ext cx="13644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Zero-shot xArm · successes / 20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660000" y="36108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20 / 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660000" y="3672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Spatial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268000" y="36108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14 / 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268000" y="3672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Multi-view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876000" y="36108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11 / 20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876000" y="3672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Long-horizon</a:t>
            </a:r>
          </a:p>
        </p:txBody>
      </p:sp>
      <p:pic>
        <p:nvPicPr>
          <p:cNvPr id="79" name="Picture 78" descr="figure-4-two-examp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748000" y="37476000"/>
            <a:ext cx="9468000" cy="3810057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504000" y="42012000"/>
            <a:ext cx="29268000" cy="648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20000" y="42048000"/>
            <a:ext cx="28836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FFFFFF"/>
                </a:solidFill>
                <a:latin typeface="Open Sans"/>
              </a:defRPr>
            </a:pPr>
            <a:r>
              <a:rPr>
                <a:solidFill>
                  <a:srgbClr val="FFFFFF"/>
                </a:solidFill>
              </a:rPr>
              <a:t>Persistent Visual Anchors · Consistent Reasoning · Grounded Answers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