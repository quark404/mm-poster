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A0 portrait 841 × 1189 mm. Styled to match the user-supplied AI RoboPIN mockup: Rio decorative background, gradient rounded panel headers, native icons, callout cards and bottom waves. Scientific figures and text remain grounded in the paper. The external API-based PosterAgent generator was not run. Original Figure 1 comparison and Figure 2 pipeline are preserved. The qualitative panel adds the original Figure 4 reasoning examples. Three grouped bar charts reproduce paper Figure 1 and Tables 1–3: spatial mean over 13 capability columns, pointing mean over 5 benchmarks, robot successes over 60 trials. Missing robot baseline is n/a. The detailed selected-benchmark table is retained in the source notes rather than repeated on this poster. The robot trial-count caption conflict in the source paper still requires author confirmation. Logos are original official images; paper/code QR remains an intentional placeholder. Chart bars, values, axes, text and training nodes are editable; source figures are replaceable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io-wave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0276000" cy="4280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000" y="288000"/>
            <a:ext cx="19800000" cy="25455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910"/>
              </a:lnSpc>
              <a:spcBef>
                <a:spcPts val="0"/>
              </a:spcBef>
              <a:spcAft>
                <a:spcPts val="0"/>
              </a:spcAft>
              <a:defRPr sz="15500" b="1">
                <a:solidFill>
                  <a:srgbClr val="00576B"/>
                </a:solidFill>
                <a:latin typeface="DejaVu Sans"/>
              </a:defRPr>
            </a:pPr>
            <a:r>
              <a:t>RoboPIN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2520000"/>
            <a:ext cx="21240000" cy="125829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387"/>
              </a:lnSpc>
              <a:spcBef>
                <a:spcPts val="0"/>
              </a:spcBef>
              <a:spcAft>
                <a:spcPts val="0"/>
              </a:spcAft>
              <a:defRPr sz="4100" b="1">
                <a:solidFill>
                  <a:srgbClr val="102B46"/>
                </a:solidFill>
                <a:latin typeface="DejaVu Sans"/>
              </a:defRPr>
            </a:pPr>
            <a:r>
              <a:t>Grounded Embodied Reasoning</a:t>
            </a:r>
          </a:p>
          <a:p>
            <a:pPr algn="l">
              <a:lnSpc>
                <a:spcPts val="4387"/>
              </a:lnSpc>
              <a:spcBef>
                <a:spcPts val="0"/>
              </a:spcBef>
              <a:spcAft>
                <a:spcPts val="0"/>
              </a:spcAft>
              <a:defRPr sz="4100" b="1">
                <a:solidFill>
                  <a:srgbClr val="102B46"/>
                </a:solidFill>
                <a:latin typeface="DejaVu Sans"/>
              </a:defRPr>
            </a:pPr>
            <a:r>
              <a:t>via Pinned Chain-of-Thought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3924000"/>
            <a:ext cx="2196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Yaoting Huang* · Yifu Yuan*† · Linqi Han · Chengwen Li · Shuoheng Zhang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000" y="4392000"/>
            <a:ext cx="2196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Xianze Yao · Hongyao Tang · Yan Zheng · Jianye Hao†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5004000"/>
            <a:ext cx="22032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E87"/>
                </a:solidFill>
                <a:latin typeface="DejaVu Sans"/>
              </a:defRPr>
            </a:pPr>
            <a:r>
              <a:t>Tianjin University · ACM Multimedia 2026 · Rio de Janeiro, Brazil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000" y="5544000"/>
            <a:ext cx="22032000" cy="422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66B7C"/>
                </a:solidFill>
                <a:latin typeface="DejaVu Sans"/>
              </a:defRPr>
            </a:pPr>
            <a:r>
              <a:t>quark404@tju.edu.cn · yuanyf@tju.edu.cn | * Equal contribution † Corresponding authors</a:t>
            </a:r>
          </a:p>
        </p:txBody>
      </p:sp>
      <p:pic>
        <p:nvPicPr>
          <p:cNvPr id="10" name="Picture 9" descr="mm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14857" y="684000"/>
            <a:ext cx="7654285" cy="1692000"/>
          </a:xfrm>
          <a:prstGeom prst="rect">
            <a:avLst/>
          </a:prstGeom>
        </p:spPr>
      </p:pic>
      <p:pic>
        <p:nvPicPr>
          <p:cNvPr id="11" name="Picture 10" descr="tju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92000" y="3344129"/>
            <a:ext cx="2304000" cy="2167741"/>
          </a:xfrm>
          <a:prstGeom prst="ellipse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848000" y="3888000"/>
            <a:ext cx="39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102B46"/>
                </a:solidFill>
                <a:latin typeface="DejaVu Sans"/>
              </a:defRPr>
            </a:pPr>
            <a:r>
              <a:t>Tianjin University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000" y="6300000"/>
            <a:ext cx="15624000" cy="12924000"/>
          </a:xfrm>
          <a:prstGeom prst="roundRect">
            <a:avLst>
              <a:gd name="adj" fmla="val 2785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4000" y="6300000"/>
            <a:ext cx="15624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9200" y="7488000"/>
            <a:ext cx="15573600" cy="11710800"/>
          </a:xfrm>
          <a:prstGeom prst="roundRect">
            <a:avLst>
              <a:gd name="adj" fmla="val 307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88000" y="6516000"/>
            <a:ext cx="576000" cy="576000"/>
          </a:xfrm>
          <a:prstGeom prst="ellipse">
            <a:avLst/>
          </a:prstGeom>
          <a:solidFill>
            <a:srgbClr val="F6CF42"/>
          </a:solidFill>
          <a:ln w="38100">
            <a:solidFill>
              <a:srgbClr val="F6C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332000" y="7056000"/>
            <a:ext cx="288000" cy="216000"/>
          </a:xfrm>
          <a:prstGeom prst="roundRect">
            <a:avLst>
              <a:gd name="adj" fmla="val 15000"/>
            </a:avLst>
          </a:prstGeom>
          <a:solidFill>
            <a:srgbClr val="F6C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1368000" y="7344000"/>
            <a:ext cx="216000" cy="0"/>
          </a:xfrm>
          <a:prstGeom prst="line">
            <a:avLst/>
          </a:prstGeom>
          <a:ln w="381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908000" y="6804000"/>
            <a:ext cx="144000" cy="0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781470" y="7109470"/>
            <a:ext cx="101823" cy="101823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476000" y="7236000"/>
            <a:ext cx="0" cy="144000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068706" y="7109470"/>
            <a:ext cx="101823" cy="101823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00000" y="6804000"/>
            <a:ext cx="144000" cy="0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1068706" y="6396706"/>
            <a:ext cx="101823" cy="101823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476000" y="6228000"/>
            <a:ext cx="0" cy="144000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781470" y="6396706"/>
            <a:ext cx="101823" cy="101823"/>
          </a:xfrm>
          <a:prstGeom prst="line">
            <a:avLst/>
          </a:prstGeom>
          <a:ln w="25400">
            <a:solidFill>
              <a:srgbClr val="F6C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664000" y="6516000"/>
            <a:ext cx="13176000" cy="732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636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DejaVu Sans"/>
              </a:defRPr>
            </a:pPr>
            <a:r>
              <a:t>Motivation</a:t>
            </a:r>
          </a:p>
        </p:txBody>
      </p:sp>
      <p:pic>
        <p:nvPicPr>
          <p:cNvPr id="28" name="Picture 27" descr="figure-1-cot-compari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000" y="7776000"/>
            <a:ext cx="14760000" cy="7958789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936000" y="16524000"/>
            <a:ext cx="14760000" cy="1152000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E9F7FA"/>
              </a:gs>
              <a:gs pos="100000">
                <a:srgbClr val="F0F8FD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332000" y="16632000"/>
            <a:ext cx="864000" cy="936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3A6AE"/>
              </a:gs>
              <a:gs pos="100000">
                <a:srgbClr val="00748B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2000" y="16740000"/>
            <a:ext cx="864000" cy="57783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415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DejaVu Sans"/>
              </a:defRPr>
            </a:pPr>
            <a: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84000" y="16632000"/>
            <a:ext cx="1274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Reference drift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84000" y="17172000"/>
            <a:ext cx="12744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Textual references can switch between similar objects during multi-step reasoning.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6000" y="17820000"/>
            <a:ext cx="14760000" cy="1152000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E9F7FA"/>
              </a:gs>
              <a:gs pos="100000">
                <a:srgbClr val="F0F8FD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32000" y="17928000"/>
            <a:ext cx="864000" cy="936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3A6AE"/>
              </a:gs>
              <a:gs pos="100000">
                <a:srgbClr val="00748B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332000" y="18036000"/>
            <a:ext cx="864000" cy="57783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415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FFFFF"/>
                </a:solidFill>
                <a:latin typeface="DejaVu Sans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84000" y="17928000"/>
            <a:ext cx="1274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Reasoning–answer misalignment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84000" y="18468000"/>
            <a:ext cx="12744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A correct intermediate analysis can still end on the wrong object, especially across views.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6416000" y="6300000"/>
            <a:ext cx="13356000" cy="12924000"/>
          </a:xfrm>
          <a:prstGeom prst="roundRect">
            <a:avLst>
              <a:gd name="adj" fmla="val 2785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6416000" y="6300000"/>
            <a:ext cx="13356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6441200" y="7488000"/>
            <a:ext cx="13305600" cy="11710800"/>
          </a:xfrm>
          <a:prstGeom prst="roundRect">
            <a:avLst>
              <a:gd name="adj" fmla="val 3074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6740000" y="6192000"/>
            <a:ext cx="1296000" cy="12960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006B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6956000" y="6408000"/>
            <a:ext cx="864000" cy="8640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7100000" y="6552000"/>
            <a:ext cx="576000" cy="5760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7244000" y="6696000"/>
            <a:ext cx="288000" cy="2880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 flipV="1">
            <a:off x="17388000" y="6336000"/>
            <a:ext cx="468000" cy="504000"/>
          </a:xfrm>
          <a:prstGeom prst="line">
            <a:avLst/>
          </a:prstGeom>
          <a:ln w="508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7676000" y="6336000"/>
            <a:ext cx="1800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7856000" y="6336000"/>
            <a:ext cx="0" cy="18000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8576000" y="6516000"/>
            <a:ext cx="10908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FFFFFF"/>
                </a:solidFill>
                <a:latin typeface="DejaVu Sans"/>
              </a:defRPr>
            </a:pPr>
            <a:r>
              <a:t>Key Insight: Persistent Identity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884000" y="7992000"/>
            <a:ext cx="532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E87"/>
                </a:solidFill>
                <a:latin typeface="DejaVu Sans"/>
              </a:defRPr>
            </a:pPr>
            <a:r>
              <a:t>VIEW 0</a:t>
            </a:r>
          </a:p>
        </p:txBody>
      </p:sp>
      <p:pic>
        <p:nvPicPr>
          <p:cNvPr id="51" name="Picture 50" descr="view-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84000" y="8532000"/>
            <a:ext cx="5328000" cy="4068000"/>
          </a:xfrm>
          <a:prstGeom prst="rect">
            <a:avLst/>
          </a:prstGeom>
        </p:spPr>
      </p:pic>
      <p:sp>
        <p:nvSpPr>
          <p:cNvPr id="52" name="Oval 51"/>
          <p:cNvSpPr/>
          <p:nvPr/>
        </p:nvSpPr>
        <p:spPr>
          <a:xfrm>
            <a:off x="20125152" y="10738367"/>
            <a:ext cx="273600" cy="2736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7064000" y="8712000"/>
            <a:ext cx="2484000" cy="468000"/>
          </a:xfrm>
          <a:prstGeom prst="roundRect">
            <a:avLst>
              <a:gd name="adj" fmla="val 7692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7136000" y="8748000"/>
            <a:ext cx="234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obj_01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940000" y="7992000"/>
            <a:ext cx="532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E87"/>
                </a:solidFill>
                <a:latin typeface="DejaVu Sans"/>
              </a:defRPr>
            </a:pPr>
            <a:r>
              <a:t>VIEW 1</a:t>
            </a:r>
          </a:p>
        </p:txBody>
      </p:sp>
      <p:pic>
        <p:nvPicPr>
          <p:cNvPr id="56" name="Picture 55" descr="view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940000" y="8532000"/>
            <a:ext cx="5328000" cy="4068000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28300032" y="11267208"/>
            <a:ext cx="273600" cy="2736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4120000" y="8712000"/>
            <a:ext cx="2484000" cy="468000"/>
          </a:xfrm>
          <a:prstGeom prst="roundRect">
            <a:avLst>
              <a:gd name="adj" fmla="val 7692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192000" y="8748000"/>
            <a:ext cx="234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obj_01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2572000" y="10512000"/>
            <a:ext cx="936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3364000" y="10404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3364000" y="10512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16848000" y="12960000"/>
            <a:ext cx="12492000" cy="2556000"/>
          </a:xfrm>
          <a:prstGeom prst="roundRect">
            <a:avLst>
              <a:gd name="adj" fmla="val 9859"/>
            </a:avLst>
          </a:prstGeom>
          <a:gradFill rotWithShape="1">
            <a:gsLst>
              <a:gs pos="0">
                <a:srgbClr val="E7F7FA"/>
              </a:gs>
              <a:gs pos="100000">
                <a:srgbClr val="EDF6FD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7244000" y="13320000"/>
            <a:ext cx="11700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007E87"/>
                </a:solidFill>
                <a:latin typeface="DejaVu Sans"/>
              </a:defRPr>
            </a:pPr>
            <a:r>
              <a:t>Same entity. Same ID. Different views.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244000" y="14148000"/>
            <a:ext cx="1170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334B"/>
                </a:solidFill>
                <a:latin typeface="DejaVu Sans"/>
              </a:defRPr>
            </a:pPr>
            <a:r>
              <a:t>Reasoning anchor = name + ID + view + point.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7244000" y="14868000"/>
            <a:ext cx="1170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Introduce the anchor; reuse its identity throughout the reasoning chain.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6848000" y="16092000"/>
            <a:ext cx="9504000" cy="2880000"/>
          </a:xfrm>
          <a:prstGeom prst="roundRect">
            <a:avLst>
              <a:gd name="adj" fmla="val 8750"/>
            </a:avLst>
          </a:prstGeom>
          <a:gradFill rotWithShape="1">
            <a:gsLst>
              <a:gs pos="0">
                <a:srgbClr val="E8F7EF"/>
              </a:gs>
              <a:gs pos="100000">
                <a:srgbClr val="EDF9F5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17748000" y="16740000"/>
            <a:ext cx="144000" cy="0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7684735" y="16892735"/>
            <a:ext cx="101823" cy="101823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17532000" y="16956000"/>
            <a:ext cx="0" cy="144000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H="1">
            <a:off x="17277441" y="16892735"/>
            <a:ext cx="101823" cy="101823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17172000" y="16740000"/>
            <a:ext cx="144000" cy="0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H="1" flipV="1">
            <a:off x="17277441" y="16485441"/>
            <a:ext cx="101823" cy="101823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17532000" y="16380000"/>
            <a:ext cx="0" cy="144000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17684735" y="16485441"/>
            <a:ext cx="101823" cy="101823"/>
          </a:xfrm>
          <a:prstGeom prst="line">
            <a:avLst/>
          </a:prstGeom>
          <a:ln w="635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/>
          <p:cNvSpPr/>
          <p:nvPr/>
        </p:nvSpPr>
        <p:spPr>
          <a:xfrm>
            <a:off x="17280000" y="16488000"/>
            <a:ext cx="504000" cy="504000"/>
          </a:xfrm>
          <a:prstGeom prst="ellipse">
            <a:avLst/>
          </a:prstGeom>
          <a:solidFill>
            <a:srgbClr val="007E87"/>
          </a:solidFill>
          <a:ln w="38100">
            <a:solidFill>
              <a:srgbClr val="007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7442000" y="16650000"/>
            <a:ext cx="180000" cy="180000"/>
          </a:xfrm>
          <a:prstGeom prst="ellipse">
            <a:avLst/>
          </a:prstGeom>
          <a:solidFill>
            <a:srgbClr val="E8F7EF"/>
          </a:solidFill>
          <a:ln w="38100">
            <a:solidFill>
              <a:srgbClr val="E8F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8252000" y="16416000"/>
            <a:ext cx="7668000" cy="6088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6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007E87"/>
                </a:solidFill>
                <a:latin typeface="DejaVu Sans"/>
              </a:defRPr>
            </a:pPr>
            <a:r>
              <a:t>Our insight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80000" y="17532000"/>
            <a:ext cx="8532000" cy="856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Persistent IDs connect visual grounding, intermediate</a:t>
            </a:r>
          </a:p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steps and the final answer.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6856000" y="16236000"/>
            <a:ext cx="2520000" cy="2160000"/>
          </a:xfrm>
          <a:prstGeom prst="roundRect">
            <a:avLst/>
          </a:prstGeom>
          <a:noFill/>
          <a:ln w="19050">
            <a:solidFill>
              <a:srgbClr val="9DB6C7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7036000" y="17064000"/>
            <a:ext cx="2160000" cy="705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66B7C"/>
                </a:solidFill>
                <a:latin typeface="DejaVu Sans"/>
              </a:defRPr>
            </a:pPr>
            <a:r>
              <a:t>QR</a:t>
            </a:r>
          </a:p>
          <a:p>
            <a:pPr algn="ctr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566B7C"/>
                </a:solidFill>
                <a:latin typeface="DejaVu Sans"/>
              </a:defRPr>
            </a:pPr>
            <a:r>
              <a:t>PLACEHOLDER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712000" y="18648000"/>
            <a:ext cx="2808000" cy="422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02B46"/>
                </a:solidFill>
                <a:latin typeface="DejaVu Sans"/>
              </a:defRPr>
            </a:pPr>
            <a:r>
              <a:t>PAPER / CODE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4000" y="19584000"/>
            <a:ext cx="29268000" cy="10944000"/>
          </a:xfrm>
          <a:prstGeom prst="roundRect">
            <a:avLst>
              <a:gd name="adj" fmla="val 3289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04000" y="19584000"/>
            <a:ext cx="29268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529200" y="20772000"/>
            <a:ext cx="29217600" cy="9730800"/>
          </a:xfrm>
          <a:prstGeom prst="roundRect">
            <a:avLst>
              <a:gd name="adj" fmla="val 36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28000" y="19476000"/>
            <a:ext cx="1296000" cy="12960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006B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1764000" y="20124000"/>
            <a:ext cx="180000" cy="0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679646" y="20327646"/>
            <a:ext cx="127279" cy="127279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476000" y="20412000"/>
            <a:ext cx="0" cy="180000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1145074" y="20327646"/>
            <a:ext cx="127279" cy="127279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H="1">
            <a:off x="1008000" y="20124000"/>
            <a:ext cx="180000" cy="0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 flipV="1">
            <a:off x="1145074" y="19793074"/>
            <a:ext cx="127279" cy="127279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476000" y="19656000"/>
            <a:ext cx="0" cy="180000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679646" y="19793074"/>
            <a:ext cx="127279" cy="127279"/>
          </a:xfrm>
          <a:prstGeom prst="line">
            <a:avLst/>
          </a:prstGeom>
          <a:ln w="889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152000" y="19800000"/>
            <a:ext cx="648000" cy="648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353600" y="20001600"/>
            <a:ext cx="244800" cy="2448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006B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664000" y="19800000"/>
            <a:ext cx="26820000" cy="717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514"/>
              </a:lnSpc>
              <a:spcBef>
                <a:spcPts val="0"/>
              </a:spcBef>
              <a:spcAft>
                <a:spcPts val="0"/>
              </a:spcAft>
              <a:defRPr sz="3700" b="1">
                <a:solidFill>
                  <a:srgbClr val="FFFFFF"/>
                </a:solidFill>
                <a:latin typeface="DejaVu Sans"/>
              </a:defRPr>
            </a:pPr>
            <a:r>
              <a:t>Our Method: RoboPIN / PinCoT</a:t>
            </a:r>
          </a:p>
        </p:txBody>
      </p:sp>
      <p:pic>
        <p:nvPicPr>
          <p:cNvPr id="98" name="Picture 97" descr="figure-2-data-pipelin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000" y="21060000"/>
            <a:ext cx="28404000" cy="6336166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1512000" y="28332000"/>
            <a:ext cx="4752000" cy="842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Three-stage</a:t>
            </a:r>
          </a:p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post-training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840000" y="28080000"/>
            <a:ext cx="6696000" cy="1476000"/>
          </a:xfrm>
          <a:prstGeom prst="roundRect">
            <a:avLst>
              <a:gd name="adj" fmla="val 12195"/>
            </a:avLst>
          </a:prstGeom>
          <a:gradFill rotWithShape="1">
            <a:gsLst>
              <a:gs pos="0">
                <a:srgbClr val="D0F2F4"/>
              </a:gs>
              <a:gs pos="100000">
                <a:srgbClr val="E8F9FB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984000" y="28296000"/>
            <a:ext cx="6408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SFT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984000" y="28944000"/>
            <a:ext cx="6408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334B"/>
                </a:solidFill>
                <a:latin typeface="DejaVu Sans"/>
              </a:defRPr>
            </a:pPr>
            <a:r>
              <a:t>Embodied knowledge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3752000" y="28800000"/>
            <a:ext cx="540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4148000" y="28692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14148000" y="28800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14508000" y="28080000"/>
            <a:ext cx="6696000" cy="1476000"/>
          </a:xfrm>
          <a:prstGeom prst="roundRect">
            <a:avLst>
              <a:gd name="adj" fmla="val 12195"/>
            </a:avLst>
          </a:prstGeom>
          <a:gradFill rotWithShape="1">
            <a:gsLst>
              <a:gs pos="0">
                <a:srgbClr val="D0F2F4"/>
              </a:gs>
              <a:gs pos="100000">
                <a:srgbClr val="E8F9FB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4652000" y="28296000"/>
            <a:ext cx="6408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CoT-SFT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4652000" y="28944000"/>
            <a:ext cx="6408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334B"/>
                </a:solidFill>
                <a:latin typeface="DejaVu Sans"/>
              </a:defRPr>
            </a:pPr>
            <a:r>
              <a:t>Structured reasoning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21420000" y="28800000"/>
            <a:ext cx="540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21816000" y="28692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 flipV="1">
            <a:off x="21816000" y="28800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/>
          <p:cNvSpPr/>
          <p:nvPr/>
        </p:nvSpPr>
        <p:spPr>
          <a:xfrm>
            <a:off x="22464000" y="28080000"/>
            <a:ext cx="6696000" cy="1476000"/>
          </a:xfrm>
          <a:prstGeom prst="roundRect">
            <a:avLst>
              <a:gd name="adj" fmla="val 12195"/>
            </a:avLst>
          </a:prstGeom>
          <a:gradFill rotWithShape="1">
            <a:gsLst>
              <a:gs pos="0">
                <a:srgbClr val="D0F2F4"/>
              </a:gs>
              <a:gs pos="100000">
                <a:srgbClr val="E8F9FB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22608000" y="28296000"/>
            <a:ext cx="6408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RFT / GRPO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2608000" y="28944000"/>
            <a:ext cx="6408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8334B"/>
                </a:solidFill>
                <a:latin typeface="DejaVu Sans"/>
              </a:defRPr>
            </a:pPr>
            <a:r>
              <a:t>Process alignment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6000" y="29916000"/>
            <a:ext cx="2840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8334B"/>
                </a:solidFill>
                <a:latin typeface="DejaVu Sans"/>
              </a:defRPr>
            </a:pPr>
            <a:r>
              <a:t>PinCoT binds visual evidence to persistent identities. PIN-170K supplies structured traces; process rewards supervise grounding and identity consistency.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04000" y="30888000"/>
            <a:ext cx="14400000" cy="10692000"/>
          </a:xfrm>
          <a:prstGeom prst="roundRect">
            <a:avLst>
              <a:gd name="adj" fmla="val 3367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504000" y="30888000"/>
            <a:ext cx="14400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529200" y="32076000"/>
            <a:ext cx="14349600" cy="9478800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28000" y="30780000"/>
            <a:ext cx="1296000" cy="12960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006B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1152000" y="31032000"/>
            <a:ext cx="648000" cy="828000"/>
          </a:xfrm>
          <a:prstGeom prst="roundRect">
            <a:avLst>
              <a:gd name="adj" fmla="val 11111"/>
            </a:avLst>
          </a:prstGeom>
          <a:solidFill>
            <a:srgbClr val="006B7C"/>
          </a:solidFill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1296000" y="30960000"/>
            <a:ext cx="360000" cy="18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1332000" y="31284000"/>
            <a:ext cx="360000" cy="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Oval 122"/>
          <p:cNvSpPr/>
          <p:nvPr/>
        </p:nvSpPr>
        <p:spPr>
          <a:xfrm>
            <a:off x="1216800" y="31258800"/>
            <a:ext cx="50400" cy="504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1332000" y="31500000"/>
            <a:ext cx="360000" cy="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Oval 124"/>
          <p:cNvSpPr/>
          <p:nvPr/>
        </p:nvSpPr>
        <p:spPr>
          <a:xfrm>
            <a:off x="1216800" y="31474800"/>
            <a:ext cx="50400" cy="504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6" name="Connector 125"/>
          <p:cNvCxnSpPr/>
          <p:nvPr/>
        </p:nvCxnSpPr>
        <p:spPr>
          <a:xfrm>
            <a:off x="1332000" y="31716000"/>
            <a:ext cx="360000" cy="0"/>
          </a:xfrm>
          <a:prstGeom prst="line">
            <a:avLst/>
          </a:prstGeom>
          <a:ln w="254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Oval 126"/>
          <p:cNvSpPr/>
          <p:nvPr/>
        </p:nvSpPr>
        <p:spPr>
          <a:xfrm>
            <a:off x="1216800" y="31690800"/>
            <a:ext cx="50400" cy="504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664000" y="31104000"/>
            <a:ext cx="11952000" cy="686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7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FFFFFF"/>
                </a:solidFill>
                <a:latin typeface="DejaVu Sans"/>
              </a:defRPr>
            </a:pPr>
            <a:r>
              <a:t>Experimental Results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332000" y="32472000"/>
            <a:ext cx="216000" cy="216000"/>
          </a:xfrm>
          <a:prstGeom prst="rect">
            <a:avLst/>
          </a:prstGeom>
          <a:solidFill>
            <a:srgbClr val="CFD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692000" y="32436000"/>
            <a:ext cx="60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8334B"/>
                </a:solidFill>
                <a:latin typeface="DejaVu Sans"/>
              </a:defRPr>
            </a:pPr>
            <a:r>
              <a:t>Embodied-R1 (3B)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7812000" y="32472000"/>
            <a:ext cx="216000" cy="216000"/>
          </a:xfrm>
          <a:prstGeom prst="rect">
            <a:avLst/>
          </a:prstGeom>
          <a:solidFill>
            <a:srgbClr val="AE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172000" y="32436000"/>
            <a:ext cx="60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8334B"/>
                </a:solidFill>
                <a:latin typeface="DejaVu Sans"/>
              </a:defRPr>
            </a:pPr>
            <a:r>
              <a:t>RoboBrain2.0 (7B)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332000" y="33048000"/>
            <a:ext cx="216000" cy="216000"/>
          </a:xfrm>
          <a:prstGeom prst="rect">
            <a:avLst/>
          </a:prstGeom>
          <a:solidFill>
            <a:srgbClr val="7E9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692000" y="33012000"/>
            <a:ext cx="60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8334B"/>
                </a:solidFill>
                <a:latin typeface="DejaVu Sans"/>
              </a:defRPr>
            </a:pPr>
            <a:r>
              <a:t>Mimo-Embodied (7B)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812000" y="33048000"/>
            <a:ext cx="216000" cy="216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172000" y="33012000"/>
            <a:ext cx="60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007E87"/>
                </a:solidFill>
                <a:latin typeface="DejaVu Sans"/>
              </a:defRPr>
            </a:pPr>
            <a:r>
              <a:t>RoboPIN (4B)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512000" y="33948000"/>
            <a:ext cx="378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02B46"/>
                </a:solidFill>
                <a:latin typeface="DejaVu Sans"/>
              </a:defRPr>
            </a:pPr>
            <a:r>
              <a:t>Spatial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1512000" y="37944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864000" y="37836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1512000" y="36450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864000" y="3634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50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512000" y="34956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/>
          <p:cNvSpPr txBox="1"/>
          <p:nvPr/>
        </p:nvSpPr>
        <p:spPr>
          <a:xfrm>
            <a:off x="864000" y="34848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100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656000" y="36378058"/>
            <a:ext cx="648000" cy="1565941"/>
          </a:xfrm>
          <a:prstGeom prst="rect">
            <a:avLst/>
          </a:prstGeom>
          <a:solidFill>
            <a:srgbClr val="CFD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12000" y="35982058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52.4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2520000" y="36297612"/>
            <a:ext cx="648000" cy="1646388"/>
          </a:xfrm>
          <a:prstGeom prst="rect">
            <a:avLst/>
          </a:prstGeom>
          <a:solidFill>
            <a:srgbClr val="AE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2376000" y="35901612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55.1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384000" y="36188894"/>
            <a:ext cx="648000" cy="1755105"/>
          </a:xfrm>
          <a:prstGeom prst="rect">
            <a:avLst/>
          </a:prstGeom>
          <a:solidFill>
            <a:srgbClr val="7E9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240000" y="35792894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58.7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4248000" y="35912389"/>
            <a:ext cx="648000" cy="203161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4104000" y="35516389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E87"/>
                </a:solidFill>
                <a:latin typeface="DejaVu Sans"/>
              </a:defRPr>
            </a:pPr>
            <a:r>
              <a:t>68.0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976000" y="33948000"/>
            <a:ext cx="378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02B46"/>
                </a:solidFill>
                <a:latin typeface="DejaVu Sans"/>
              </a:defRPr>
            </a:pPr>
            <a:r>
              <a:t>Pointing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5976000" y="37944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5328000" y="37836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5976000" y="36450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/>
          <p:cNvSpPr txBox="1"/>
          <p:nvPr/>
        </p:nvSpPr>
        <p:spPr>
          <a:xfrm>
            <a:off x="5328000" y="3634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50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5976000" y="34956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5328000" y="34848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100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120000" y="35983872"/>
            <a:ext cx="648000" cy="1960127"/>
          </a:xfrm>
          <a:prstGeom prst="rect">
            <a:avLst/>
          </a:prstGeom>
          <a:solidFill>
            <a:srgbClr val="CFD9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976000" y="35587872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65.6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984000" y="36396216"/>
            <a:ext cx="648000" cy="1547784"/>
          </a:xfrm>
          <a:prstGeom prst="rect">
            <a:avLst/>
          </a:prstGeom>
          <a:solidFill>
            <a:srgbClr val="AE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840000" y="36000216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51.8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848000" y="36087854"/>
            <a:ext cx="648000" cy="1856145"/>
          </a:xfrm>
          <a:prstGeom prst="rect">
            <a:avLst/>
          </a:prstGeom>
          <a:solidFill>
            <a:srgbClr val="7E9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704000" y="35691854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62.1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8712000" y="35916343"/>
            <a:ext cx="648000" cy="2027656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8568000" y="35520343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E87"/>
                </a:solidFill>
                <a:latin typeface="DejaVu Sans"/>
              </a:defRPr>
            </a:pPr>
            <a:r>
              <a:t>67.9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440000" y="33948000"/>
            <a:ext cx="378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02B46"/>
                </a:solidFill>
                <a:latin typeface="DejaVu Sans"/>
              </a:defRPr>
            </a:pPr>
            <a:r>
              <a:t>Robot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10440000" y="37944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9792000" y="37836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10440000" y="36450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9792000" y="36342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50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10440000" y="34956000"/>
            <a:ext cx="3636000" cy="0"/>
          </a:xfrm>
          <a:prstGeom prst="line">
            <a:avLst/>
          </a:prstGeom>
          <a:ln w="12700">
            <a:solidFill>
              <a:srgbClr val="DDE6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TextBox 172"/>
          <p:cNvSpPr txBox="1"/>
          <p:nvPr/>
        </p:nvSpPr>
        <p:spPr>
          <a:xfrm>
            <a:off x="9792000" y="34848000"/>
            <a:ext cx="504000" cy="3919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566B7C"/>
                </a:solidFill>
                <a:latin typeface="DejaVu Sans"/>
              </a:defRPr>
            </a:pPr>
            <a:r>
              <a:t>100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0476000" y="37512000"/>
            <a:ext cx="792000" cy="422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66B7C"/>
                </a:solidFill>
                <a:latin typeface="DejaVu Sans"/>
              </a:defRPr>
            </a:pPr>
            <a:r>
              <a:t>n/a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11448000" y="37047600"/>
            <a:ext cx="648000" cy="896400"/>
          </a:xfrm>
          <a:prstGeom prst="rect">
            <a:avLst/>
          </a:prstGeom>
          <a:solidFill>
            <a:srgbClr val="AEBE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1304000" y="36651600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30.0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2312000" y="37446000"/>
            <a:ext cx="648000" cy="498000"/>
          </a:xfrm>
          <a:prstGeom prst="rect">
            <a:avLst/>
          </a:prstGeom>
          <a:solidFill>
            <a:srgbClr val="7E98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2168000" y="37050000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18334B"/>
                </a:solidFill>
                <a:latin typeface="DejaVu Sans"/>
              </a:defRPr>
            </a:pPr>
            <a:r>
              <a:t>16.7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13176000" y="35703000"/>
            <a:ext cx="648000" cy="2241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13032000" y="35307000"/>
            <a:ext cx="93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007E87"/>
                </a:solidFill>
                <a:latin typeface="DejaVu Sans"/>
              </a:defRPr>
            </a:pPr>
            <a:r>
              <a:t>75.0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6000" y="38448000"/>
            <a:ext cx="13536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Scores (%) · Spatial: 13-column mean; pointing: 5-benchmark mean; robot: success over 60 trials.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936000" y="39456000"/>
            <a:ext cx="13536000" cy="1692000"/>
          </a:xfrm>
          <a:prstGeom prst="roundRect">
            <a:avLst>
              <a:gd name="adj" fmla="val 12765"/>
            </a:avLst>
          </a:prstGeom>
          <a:gradFill rotWithShape="1">
            <a:gsLst>
              <a:gs pos="0">
                <a:srgbClr val="E8F7F5"/>
              </a:gs>
              <a:gs pos="100000">
                <a:srgbClr val="EDF9F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368000" y="39780000"/>
            <a:ext cx="12672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18.8% → 99.9% cross-step ID coverage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368000" y="40572000"/>
            <a:ext cx="12672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Without RFT → RoboPIN · EmbSpatial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5192000" y="30888000"/>
            <a:ext cx="14580000" cy="10692000"/>
          </a:xfrm>
          <a:prstGeom prst="roundRect">
            <a:avLst>
              <a:gd name="adj" fmla="val 3367"/>
            </a:avLst>
          </a:prstGeom>
          <a:solidFill>
            <a:srgbClr val="FFFFFF"/>
          </a:solidFill>
          <a:ln w="12700">
            <a:solidFill>
              <a:srgbClr val="BDE5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ounded Rectangle 185"/>
          <p:cNvSpPr/>
          <p:nvPr/>
        </p:nvSpPr>
        <p:spPr>
          <a:xfrm>
            <a:off x="15192000" y="30888000"/>
            <a:ext cx="14580000" cy="15480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00798B"/>
              </a:gs>
              <a:gs pos="100000">
                <a:srgbClr val="12A58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15217200" y="32076000"/>
            <a:ext cx="14529600" cy="9478800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5516000" y="30780000"/>
            <a:ext cx="1296000" cy="1296000"/>
          </a:xfrm>
          <a:prstGeom prst="ellipse">
            <a:avLst/>
          </a:prstGeom>
          <a:solidFill>
            <a:srgbClr val="006B7C"/>
          </a:solidFill>
          <a:ln w="38100">
            <a:solidFill>
              <a:srgbClr val="006B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9" name="Connector 188"/>
          <p:cNvCxnSpPr/>
          <p:nvPr/>
        </p:nvCxnSpPr>
        <p:spPr>
          <a:xfrm flipV="1">
            <a:off x="15768000" y="31068000"/>
            <a:ext cx="0" cy="75600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 189"/>
          <p:cNvCxnSpPr/>
          <p:nvPr/>
        </p:nvCxnSpPr>
        <p:spPr>
          <a:xfrm>
            <a:off x="15768000" y="31824000"/>
            <a:ext cx="8280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 flipV="1">
            <a:off x="15912000" y="31320000"/>
            <a:ext cx="216000" cy="28800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16128000" y="31320000"/>
            <a:ext cx="216000" cy="14400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 flipV="1">
            <a:off x="16344000" y="31104000"/>
            <a:ext cx="216000" cy="36000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Oval 193"/>
          <p:cNvSpPr/>
          <p:nvPr/>
        </p:nvSpPr>
        <p:spPr>
          <a:xfrm>
            <a:off x="15854400" y="31550400"/>
            <a:ext cx="115200" cy="115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6070400" y="31262400"/>
            <a:ext cx="115200" cy="115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6286400" y="31406400"/>
            <a:ext cx="115200" cy="115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6502400" y="31046400"/>
            <a:ext cx="115200" cy="115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17352000" y="31104000"/>
            <a:ext cx="12132000" cy="701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392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DejaVu Sans"/>
              </a:defRPr>
            </a:pPr>
            <a:r>
              <a:t>Qualitative Results</a:t>
            </a:r>
          </a:p>
        </p:txBody>
      </p:sp>
      <p:pic>
        <p:nvPicPr>
          <p:cNvPr id="199" name="Picture 198" descr="robot-dem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660000" y="32472000"/>
            <a:ext cx="13644000" cy="4184899"/>
          </a:xfrm>
          <a:prstGeom prst="rect">
            <a:avLst/>
          </a:prstGeom>
        </p:spPr>
      </p:pic>
      <p:pic>
        <p:nvPicPr>
          <p:cNvPr id="200" name="Picture 199" descr="figure-4-qualitati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660000" y="36900000"/>
            <a:ext cx="7128000" cy="4337621"/>
          </a:xfrm>
          <a:prstGeom prst="rect">
            <a:avLst/>
          </a:prstGeom>
        </p:spPr>
      </p:pic>
      <p:sp>
        <p:nvSpPr>
          <p:cNvPr id="201" name="TextBox 200"/>
          <p:cNvSpPr txBox="1"/>
          <p:nvPr/>
        </p:nvSpPr>
        <p:spPr>
          <a:xfrm>
            <a:off x="24876000" y="36900000"/>
            <a:ext cx="44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Zero-shot xArm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24876000" y="37764000"/>
            <a:ext cx="4428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Spatial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24876000" y="38160000"/>
            <a:ext cx="442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20 / 20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4876000" y="38736000"/>
            <a:ext cx="4428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Multi-view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24876000" y="39132000"/>
            <a:ext cx="442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14 / 20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24876000" y="39708000"/>
            <a:ext cx="4428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Long-horizon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24876000" y="40104000"/>
            <a:ext cx="442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11 / 20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24876000" y="40824000"/>
            <a:ext cx="4428000" cy="3840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9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66B7C"/>
                </a:solidFill>
                <a:latin typeface="DejaVu Sans"/>
              </a:defRPr>
            </a:pPr>
            <a:r>
              <a:t>Successes per task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620000" y="42120000"/>
            <a:ext cx="27036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FFFFFF"/>
                </a:solidFill>
                <a:latin typeface="DejaVu Sans"/>
              </a:defRPr>
            </a:pPr>
            <a:r>
              <a:t>Persistent visual anchors make embodied reasoning traceable.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