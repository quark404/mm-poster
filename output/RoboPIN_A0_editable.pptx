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30276000" cy="42804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A0 portrait 841 × 1189 mm. SDO reference restyle: Comic Neue Bold headings, Open Sans body, coral bars, white background. HTML/CSS and native PowerPoint share the same layout. Performance is the untouched plot cropped from paper Figure 1. Robot visualization includes all three rows of Figure 3. Reward ablation: Table 5, controlled EmbSpatial setting (84.7 / 82.0 / 82.7). Cumulative training: Table 6, Spatial 57.0 / 62.0 / 67.7, Point 66.0 / 63.6 / 67.9. The controlled ablation averages are distinct from the headline results; Point does not improve monotonically. No cross-step coverage panel. Text and ablation tables are editable; paper images and logos are replaceable pictures. Trial-count discrepancy in the source caption remains documented in SOURCES.md. QR is a placeholder.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image" Target="../media/image5.png"/><Relationship Id="rId7" Type="http://schemas.openxmlformats.org/officeDocument/2006/relationships/image" Target="../media/image6.png"/><Relationship Id="rId8" Type="http://schemas.openxmlformats.org/officeDocument/2006/relationships/image" Target="../media/image7.png"/><Relationship Id="rId9" Type="http://schemas.openxmlformats.org/officeDocument/2006/relationships/image" Target="../media/image8.png"/><Relationship Id="rId10" Type="http://schemas.openxmlformats.org/officeDocument/2006/relationships/image" Target="../media/image9.png"/><Relationship Id="rId11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0276000" cy="42804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92000" y="432000"/>
            <a:ext cx="20448000" cy="211808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7772"/>
              </a:lnSpc>
              <a:spcBef>
                <a:spcPts val="0"/>
              </a:spcBef>
              <a:spcAft>
                <a:spcPts val="0"/>
              </a:spcAft>
              <a:defRPr sz="6700" b="1">
                <a:solidFill>
                  <a:srgbClr val="E54C64"/>
                </a:solidFill>
                <a:latin typeface="Comic Neue"/>
              </a:defRPr>
            </a:pPr>
            <a:r>
              <a:rPr>
                <a:solidFill>
                  <a:srgbClr val="E54C64"/>
                </a:solidFill>
              </a:rPr>
              <a:t>RoboPIN: Grounded Embodied Reasoning</a:t>
            </a:r>
          </a:p>
          <a:p>
            <a:pPr algn="l">
              <a:lnSpc>
                <a:spcPts val="7772"/>
              </a:lnSpc>
              <a:spcBef>
                <a:spcPts val="0"/>
              </a:spcBef>
              <a:spcAft>
                <a:spcPts val="0"/>
              </a:spcAft>
              <a:defRPr sz="6700" b="1">
                <a:solidFill>
                  <a:srgbClr val="E54C64"/>
                </a:solidFill>
                <a:latin typeface="Comic Neue"/>
              </a:defRPr>
            </a:pPr>
            <a:r>
              <a:rPr>
                <a:solidFill>
                  <a:srgbClr val="E54C64"/>
                </a:solidFill>
              </a:rPr>
              <a:t>via Pinned Chain-of-Thought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4000" y="2736000"/>
            <a:ext cx="20448000" cy="56233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3294"/>
              </a:lnSpc>
              <a:spcBef>
                <a:spcPts val="0"/>
              </a:spcBef>
              <a:spcAft>
                <a:spcPts val="0"/>
              </a:spcAft>
              <a:defRPr sz="2700" b="1">
                <a:solidFill>
                  <a:srgbClr val="222222"/>
                </a:solidFill>
                <a:latin typeface="Open Sans"/>
              </a:defRPr>
            </a:pPr>
            <a:r>
              <a:rPr>
                <a:solidFill>
                  <a:srgbClr val="222222"/>
                </a:solidFill>
              </a:rPr>
              <a:t>Yaoting Huang* · Yifu Yuan*† · Linqi Han · Chengwen Li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4000" y="3240000"/>
            <a:ext cx="20448000" cy="5313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3050"/>
              </a:lnSpc>
              <a:spcBef>
                <a:spcPts val="0"/>
              </a:spcBef>
              <a:spcAft>
                <a:spcPts val="0"/>
              </a:spcAft>
              <a:defRPr sz="2500" b="1">
                <a:solidFill>
                  <a:srgbClr val="222222"/>
                </a:solidFill>
                <a:latin typeface="Open Sans"/>
              </a:defRPr>
            </a:pPr>
            <a:r>
              <a:rPr>
                <a:solidFill>
                  <a:srgbClr val="222222"/>
                </a:solidFill>
              </a:rPr>
              <a:t>Shuoheng Zhang · Xianze Yao · Hongyao Tang · Yan Zheng · Jianye Hao†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4000" y="3888000"/>
            <a:ext cx="20448000" cy="5313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3050"/>
              </a:lnSpc>
              <a:spcBef>
                <a:spcPts val="0"/>
              </a:spcBef>
              <a:spcAft>
                <a:spcPts val="0"/>
              </a:spcAft>
              <a:defRPr sz="2500" b="0">
                <a:solidFill>
                  <a:srgbClr val="222222"/>
                </a:solidFill>
                <a:latin typeface="Open Sans"/>
              </a:defRPr>
            </a:pPr>
            <a:r>
              <a:rPr>
                <a:solidFill>
                  <a:srgbClr val="222222"/>
                </a:solidFill>
              </a:rPr>
              <a:t>Tianjin University · ACM Multimedia 2026 · Rio de Janeiro, Brazil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4000" y="4500000"/>
            <a:ext cx="20448000" cy="51585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928"/>
              </a:lnSpc>
              <a:spcBef>
                <a:spcPts val="0"/>
              </a:spcBef>
              <a:spcAft>
                <a:spcPts val="0"/>
              </a:spcAft>
              <a:defRPr sz="2400" b="0">
                <a:solidFill>
                  <a:srgbClr val="222222"/>
                </a:solidFill>
                <a:latin typeface="Open Sans"/>
              </a:defRPr>
            </a:pPr>
            <a:r>
              <a:rPr>
                <a:solidFill>
                  <a:srgbClr val="222222"/>
                </a:solidFill>
              </a:rPr>
              <a:t>quark404@tju.edu.cn · yuanyf@tju.edu.cn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4000" y="4968000"/>
            <a:ext cx="20448000" cy="42289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196"/>
              </a:lnSpc>
              <a:spcBef>
                <a:spcPts val="0"/>
              </a:spcBef>
              <a:spcAft>
                <a:spcPts val="0"/>
              </a:spcAft>
              <a:defRPr sz="1800" b="0">
                <a:solidFill>
                  <a:srgbClr val="566B7C"/>
                </a:solidFill>
                <a:latin typeface="Open Sans"/>
              </a:defRPr>
            </a:pPr>
            <a:r>
              <a:rPr>
                <a:solidFill>
                  <a:srgbClr val="566B7C"/>
                </a:solidFill>
              </a:rPr>
              <a:t>* Equal contribution † Corresponding authors</a:t>
            </a:r>
          </a:p>
        </p:txBody>
      </p:sp>
      <p:pic>
        <p:nvPicPr>
          <p:cNvPr id="9" name="Picture 8" descr="mm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714857" y="576000"/>
            <a:ext cx="7654285" cy="1692000"/>
          </a:xfrm>
          <a:prstGeom prst="rect">
            <a:avLst/>
          </a:prstGeom>
        </p:spPr>
      </p:pic>
      <p:pic>
        <p:nvPicPr>
          <p:cNvPr id="10" name="Picture 9" descr="tju-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292000" y="2696129"/>
            <a:ext cx="2304000" cy="2167741"/>
          </a:xfrm>
          <a:prstGeom prst="ellipse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25848000" y="3240000"/>
            <a:ext cx="3996000" cy="54684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3172"/>
              </a:lnSpc>
              <a:spcBef>
                <a:spcPts val="0"/>
              </a:spcBef>
              <a:spcAft>
                <a:spcPts val="0"/>
              </a:spcAft>
              <a:defRPr sz="2600" b="1">
                <a:solidFill>
                  <a:srgbClr val="222222"/>
                </a:solidFill>
                <a:latin typeface="Open Sans"/>
              </a:defRPr>
            </a:pPr>
            <a:r>
              <a:rPr>
                <a:solidFill>
                  <a:srgbClr val="222222"/>
                </a:solidFill>
              </a:rPr>
              <a:t>Tianjin University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04000" y="5508000"/>
            <a:ext cx="14904000" cy="1044000"/>
          </a:xfrm>
          <a:prstGeom prst="rect">
            <a:avLst/>
          </a:prstGeom>
          <a:solidFill>
            <a:srgbClr val="E54C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20000" y="5616000"/>
            <a:ext cx="14472000" cy="79474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5124"/>
              </a:lnSpc>
              <a:spcBef>
                <a:spcPts val="0"/>
              </a:spcBef>
              <a:spcAft>
                <a:spcPts val="0"/>
              </a:spcAft>
              <a:defRPr sz="4200" b="1">
                <a:solidFill>
                  <a:srgbClr val="FFFFFF"/>
                </a:solidFill>
                <a:latin typeface="Comic Neue"/>
              </a:defRPr>
            </a:pPr>
            <a:r>
              <a:rPr>
                <a:solidFill>
                  <a:srgbClr val="FFFFFF"/>
                </a:solidFill>
              </a:rPr>
              <a:t>Motivation</a:t>
            </a:r>
          </a:p>
        </p:txBody>
      </p:sp>
      <p:pic>
        <p:nvPicPr>
          <p:cNvPr id="14" name="Picture 13" descr="figure-1-cot-compariso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2000" y="6840000"/>
            <a:ext cx="14328000" cy="7725848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792000" y="14832000"/>
            <a:ext cx="14328000" cy="98321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3304"/>
              </a:lnSpc>
              <a:spcBef>
                <a:spcPts val="0"/>
              </a:spcBef>
              <a:spcAft>
                <a:spcPts val="0"/>
              </a:spcAft>
              <a:defRPr sz="2800" b="1">
                <a:solidFill>
                  <a:srgbClr val="222222"/>
                </a:solidFill>
                <a:latin typeface="Open Sans"/>
              </a:defRPr>
            </a:pPr>
            <a:r>
              <a:rPr>
                <a:solidFill>
                  <a:srgbClr val="222222"/>
                </a:solidFill>
              </a:rPr>
              <a:t>1. Text-based references can </a:t>
            </a:r>
            <a:r>
              <a:rPr>
                <a:solidFill>
                  <a:srgbClr val="E54C64"/>
                </a:solidFill>
              </a:rPr>
              <a:t>drift</a:t>
            </a:r>
            <a:r>
              <a:rPr>
                <a:solidFill>
                  <a:srgbClr val="222222"/>
                </a:solidFill>
              </a:rPr>
              <a:t> between similar objects. Coordinate-only</a:t>
            </a:r>
          </a:p>
          <a:p>
            <a:pPr algn="l">
              <a:lnSpc>
                <a:spcPts val="3304"/>
              </a:lnSpc>
              <a:spcBef>
                <a:spcPts val="0"/>
              </a:spcBef>
              <a:spcAft>
                <a:spcPts val="0"/>
              </a:spcAft>
              <a:defRPr sz="2800" b="1">
                <a:solidFill>
                  <a:srgbClr val="222222"/>
                </a:solidFill>
                <a:latin typeface="Open Sans"/>
              </a:defRPr>
            </a:pPr>
            <a:r>
              <a:rPr>
                <a:solidFill>
                  <a:srgbClr val="222222"/>
                </a:solidFill>
              </a:rPr>
              <a:t>grounding lacks </a:t>
            </a:r>
            <a:r>
              <a:rPr>
                <a:solidFill>
                  <a:srgbClr val="E54C64"/>
                </a:solidFill>
              </a:rPr>
              <a:t>explicit identity tracking</a:t>
            </a:r>
            <a:r>
              <a:rPr>
                <a:solidFill>
                  <a:srgbClr val="222222"/>
                </a:solidFill>
              </a:rPr>
              <a:t>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92000" y="16272000"/>
            <a:ext cx="14328000" cy="98321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3304"/>
              </a:lnSpc>
              <a:spcBef>
                <a:spcPts val="0"/>
              </a:spcBef>
              <a:spcAft>
                <a:spcPts val="0"/>
              </a:spcAft>
              <a:defRPr sz="2800" b="1">
                <a:solidFill>
                  <a:srgbClr val="222222"/>
                </a:solidFill>
                <a:latin typeface="Open Sans"/>
              </a:defRPr>
            </a:pPr>
            <a:r>
              <a:rPr>
                <a:solidFill>
                  <a:srgbClr val="222222"/>
                </a:solidFill>
              </a:rPr>
              <a:t>2. A model may correctly analyze </a:t>
            </a:r>
            <a:r>
              <a:rPr>
                <a:solidFill>
                  <a:srgbClr val="E54C64"/>
                </a:solidFill>
              </a:rPr>
              <a:t>object A</a:t>
            </a:r>
            <a:r>
              <a:rPr>
                <a:solidFill>
                  <a:srgbClr val="222222"/>
                </a:solidFill>
              </a:rPr>
              <a:t>, then silently point to </a:t>
            </a:r>
            <a:r>
              <a:rPr>
                <a:solidFill>
                  <a:srgbClr val="E54C64"/>
                </a:solidFill>
              </a:rPr>
              <a:t>object B</a:t>
            </a:r>
            <a:r>
              <a:rPr>
                <a:solidFill>
                  <a:srgbClr val="222222"/>
                </a:solidFill>
              </a:rPr>
              <a:t>. This</a:t>
            </a:r>
          </a:p>
          <a:p>
            <a:pPr algn="l">
              <a:lnSpc>
                <a:spcPts val="3304"/>
              </a:lnSpc>
              <a:spcBef>
                <a:spcPts val="0"/>
              </a:spcBef>
              <a:spcAft>
                <a:spcPts val="0"/>
              </a:spcAft>
              <a:defRPr sz="2800" b="1">
                <a:solidFill>
                  <a:srgbClr val="222222"/>
                </a:solidFill>
                <a:latin typeface="Open Sans"/>
              </a:defRPr>
            </a:pPr>
            <a:r>
              <a:rPr>
                <a:solidFill>
                  <a:srgbClr val="E54C64"/>
                </a:solidFill>
              </a:rPr>
              <a:t>reasoning-to-answer misalignment</a:t>
            </a:r>
            <a:r>
              <a:rPr>
                <a:solidFill>
                  <a:srgbClr val="222222"/>
                </a:solidFill>
              </a:rPr>
              <a:t> breaks reliable visual grounding.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5912000" y="5508000"/>
            <a:ext cx="13860000" cy="1044000"/>
          </a:xfrm>
          <a:prstGeom prst="rect">
            <a:avLst/>
          </a:prstGeom>
          <a:solidFill>
            <a:srgbClr val="E54C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6128000" y="5616000"/>
            <a:ext cx="13428000" cy="79474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5124"/>
              </a:lnSpc>
              <a:spcBef>
                <a:spcPts val="0"/>
              </a:spcBef>
              <a:spcAft>
                <a:spcPts val="0"/>
              </a:spcAft>
              <a:defRPr sz="4200" b="1">
                <a:solidFill>
                  <a:srgbClr val="FFFFFF"/>
                </a:solidFill>
                <a:latin typeface="Comic Neue"/>
              </a:defRPr>
            </a:pPr>
            <a:r>
              <a:rPr>
                <a:solidFill>
                  <a:srgbClr val="FFFFFF"/>
                </a:solidFill>
              </a:rPr>
              <a:t>Key Insight: Persistent Identity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6272000" y="6876000"/>
            <a:ext cx="5328000" cy="51585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2928"/>
              </a:lnSpc>
              <a:spcBef>
                <a:spcPts val="0"/>
              </a:spcBef>
              <a:spcAft>
                <a:spcPts val="0"/>
              </a:spcAft>
              <a:defRPr sz="2400" b="1">
                <a:solidFill>
                  <a:srgbClr val="222222"/>
                </a:solidFill>
                <a:latin typeface="Open Sans"/>
              </a:defRPr>
            </a:pPr>
            <a:r>
              <a:rPr>
                <a:solidFill>
                  <a:srgbClr val="222222"/>
                </a:solidFill>
              </a:rPr>
              <a:t>View 0</a:t>
            </a:r>
          </a:p>
        </p:txBody>
      </p:sp>
      <p:pic>
        <p:nvPicPr>
          <p:cNvPr id="20" name="Picture 19" descr="view-0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6272000" y="7452000"/>
            <a:ext cx="5328000" cy="4068000"/>
          </a:xfrm>
          <a:prstGeom prst="rect">
            <a:avLst/>
          </a:prstGeom>
        </p:spPr>
      </p:pic>
      <p:sp>
        <p:nvSpPr>
          <p:cNvPr id="21" name="Oval 20"/>
          <p:cNvSpPr/>
          <p:nvPr/>
        </p:nvSpPr>
        <p:spPr>
          <a:xfrm>
            <a:off x="19513152" y="9658367"/>
            <a:ext cx="273600" cy="273600"/>
          </a:xfrm>
          <a:prstGeom prst="ellipse">
            <a:avLst/>
          </a:prstGeom>
          <a:solidFill>
            <a:srgbClr val="007E87"/>
          </a:solidFill>
          <a:ln w="381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16452000" y="7632000"/>
            <a:ext cx="2484000" cy="468000"/>
          </a:xfrm>
          <a:prstGeom prst="rect">
            <a:avLst/>
          </a:prstGeom>
          <a:solidFill>
            <a:srgbClr val="007E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6524000" y="7668000"/>
            <a:ext cx="2340000" cy="50036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2806"/>
              </a:lnSpc>
              <a:spcBef>
                <a:spcPts val="0"/>
              </a:spcBef>
              <a:spcAft>
                <a:spcPts val="0"/>
              </a:spcAft>
              <a:defRPr sz="2300" b="1">
                <a:solidFill>
                  <a:srgbClr val="FFFFFF"/>
                </a:solidFill>
                <a:latin typeface="Open Sans"/>
              </a:defRPr>
            </a:pPr>
            <a:r>
              <a:rPr>
                <a:solidFill>
                  <a:srgbClr val="FFFFFF"/>
                </a:solidFill>
              </a:rPr>
              <a:t>obj_01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3940000" y="6876000"/>
            <a:ext cx="5328000" cy="51585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2928"/>
              </a:lnSpc>
              <a:spcBef>
                <a:spcPts val="0"/>
              </a:spcBef>
              <a:spcAft>
                <a:spcPts val="0"/>
              </a:spcAft>
              <a:defRPr sz="2400" b="1">
                <a:solidFill>
                  <a:srgbClr val="222222"/>
                </a:solidFill>
                <a:latin typeface="Open Sans"/>
              </a:defRPr>
            </a:pPr>
            <a:r>
              <a:rPr>
                <a:solidFill>
                  <a:srgbClr val="222222"/>
                </a:solidFill>
              </a:rPr>
              <a:t>View 1</a:t>
            </a:r>
          </a:p>
        </p:txBody>
      </p:sp>
      <p:pic>
        <p:nvPicPr>
          <p:cNvPr id="25" name="Picture 24" descr="view-1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3940000" y="7452000"/>
            <a:ext cx="5328000" cy="4068000"/>
          </a:xfrm>
          <a:prstGeom prst="rect">
            <a:avLst/>
          </a:prstGeom>
        </p:spPr>
      </p:pic>
      <p:sp>
        <p:nvSpPr>
          <p:cNvPr id="26" name="Oval 25"/>
          <p:cNvSpPr/>
          <p:nvPr/>
        </p:nvSpPr>
        <p:spPr>
          <a:xfrm>
            <a:off x="28300032" y="10187208"/>
            <a:ext cx="273600" cy="273600"/>
          </a:xfrm>
          <a:prstGeom prst="ellipse">
            <a:avLst/>
          </a:prstGeom>
          <a:solidFill>
            <a:srgbClr val="007E87"/>
          </a:solidFill>
          <a:ln w="381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24120000" y="7632000"/>
            <a:ext cx="2484000" cy="468000"/>
          </a:xfrm>
          <a:prstGeom prst="rect">
            <a:avLst/>
          </a:prstGeom>
          <a:solidFill>
            <a:srgbClr val="007E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24192000" y="7668000"/>
            <a:ext cx="2340000" cy="50036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2806"/>
              </a:lnSpc>
              <a:spcBef>
                <a:spcPts val="0"/>
              </a:spcBef>
              <a:spcAft>
                <a:spcPts val="0"/>
              </a:spcAft>
              <a:defRPr sz="2300" b="1">
                <a:solidFill>
                  <a:srgbClr val="FFFFFF"/>
                </a:solidFill>
                <a:latin typeface="Open Sans"/>
              </a:defRPr>
            </a:pPr>
            <a:r>
              <a:rPr>
                <a:solidFill>
                  <a:srgbClr val="FFFFFF"/>
                </a:solidFill>
              </a:rPr>
              <a:t>obj_01</a:t>
            </a:r>
          </a:p>
        </p:txBody>
      </p:sp>
      <p:cxnSp>
        <p:nvCxnSpPr>
          <p:cNvPr id="29" name="Connector 28"/>
          <p:cNvCxnSpPr/>
          <p:nvPr/>
        </p:nvCxnSpPr>
        <p:spPr>
          <a:xfrm>
            <a:off x="22212000" y="9468000"/>
            <a:ext cx="1116000" cy="0"/>
          </a:xfrm>
          <a:prstGeom prst="line">
            <a:avLst/>
          </a:prstGeom>
          <a:ln w="38100">
            <a:solidFill>
              <a:srgbClr val="22222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23184000" y="9360000"/>
            <a:ext cx="144000" cy="108000"/>
          </a:xfrm>
          <a:prstGeom prst="line">
            <a:avLst/>
          </a:prstGeom>
          <a:ln w="38100">
            <a:solidFill>
              <a:srgbClr val="22222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 flipV="1">
            <a:off x="23184000" y="9468000"/>
            <a:ext cx="144000" cy="108000"/>
          </a:xfrm>
          <a:prstGeom prst="line">
            <a:avLst/>
          </a:prstGeom>
          <a:ln w="38100">
            <a:solidFill>
              <a:srgbClr val="22222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TextBox 31"/>
          <p:cNvSpPr txBox="1"/>
          <p:nvPr/>
        </p:nvSpPr>
        <p:spPr>
          <a:xfrm>
            <a:off x="16272000" y="11808000"/>
            <a:ext cx="13140000" cy="59332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3538"/>
              </a:lnSpc>
              <a:spcBef>
                <a:spcPts val="0"/>
              </a:spcBef>
              <a:spcAft>
                <a:spcPts val="0"/>
              </a:spcAft>
              <a:defRPr sz="2900" b="1">
                <a:solidFill>
                  <a:srgbClr val="222222"/>
                </a:solidFill>
                <a:latin typeface="Open Sans"/>
              </a:defRPr>
            </a:pPr>
            <a:r>
              <a:rPr>
                <a:solidFill>
                  <a:srgbClr val="222222"/>
                </a:solidFill>
              </a:rPr>
              <a:t>From isolated grounding to persistent anchors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6344000" y="12600000"/>
            <a:ext cx="12960000" cy="9689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3247"/>
              </a:lnSpc>
              <a:spcBef>
                <a:spcPts val="0"/>
              </a:spcBef>
              <a:spcAft>
                <a:spcPts val="0"/>
              </a:spcAft>
              <a:defRPr sz="2800" b="1">
                <a:solidFill>
                  <a:srgbClr val="222222"/>
                </a:solidFill>
                <a:latin typeface="Open Sans"/>
              </a:defRPr>
            </a:pPr>
            <a:r>
              <a:rPr>
                <a:solidFill>
                  <a:srgbClr val="222222"/>
                </a:solidFill>
              </a:rPr>
              <a:t>• Spatial references are usually </a:t>
            </a:r>
            <a:r>
              <a:rPr>
                <a:solidFill>
                  <a:srgbClr val="E54C64"/>
                </a:solidFill>
              </a:rPr>
              <a:t>isolated annotations</a:t>
            </a:r>
            <a:r>
              <a:rPr>
                <a:solidFill>
                  <a:srgbClr val="222222"/>
                </a:solidFill>
              </a:rPr>
              <a:t>, without explicit</a:t>
            </a:r>
          </a:p>
          <a:p>
            <a:pPr algn="l">
              <a:lnSpc>
                <a:spcPts val="3247"/>
              </a:lnSpc>
              <a:spcBef>
                <a:spcPts val="0"/>
              </a:spcBef>
              <a:spcAft>
                <a:spcPts val="0"/>
              </a:spcAft>
              <a:defRPr sz="2800" b="1">
                <a:solidFill>
                  <a:srgbClr val="222222"/>
                </a:solidFill>
                <a:latin typeface="Open Sans"/>
              </a:defRPr>
            </a:pPr>
            <a:r>
              <a:rPr>
                <a:solidFill>
                  <a:srgbClr val="E54C64"/>
                </a:solidFill>
              </a:rPr>
              <a:t>identity tracking</a:t>
            </a:r>
            <a:r>
              <a:rPr>
                <a:solidFill>
                  <a:srgbClr val="222222"/>
                </a:solidFill>
              </a:rPr>
              <a:t> during reasoning.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6344000" y="14004000"/>
            <a:ext cx="12960000" cy="9689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3247"/>
              </a:lnSpc>
              <a:spcBef>
                <a:spcPts val="0"/>
              </a:spcBef>
              <a:spcAft>
                <a:spcPts val="0"/>
              </a:spcAft>
              <a:defRPr sz="2800" b="1">
                <a:solidFill>
                  <a:srgbClr val="222222"/>
                </a:solidFill>
                <a:latin typeface="Open Sans"/>
              </a:defRPr>
            </a:pPr>
            <a:r>
              <a:rPr>
                <a:solidFill>
                  <a:srgbClr val="222222"/>
                </a:solidFill>
              </a:rPr>
              <a:t>• PinCoT binds each entity to a </a:t>
            </a:r>
            <a:r>
              <a:rPr>
                <a:solidFill>
                  <a:srgbClr val="E54C64"/>
                </a:solidFill>
              </a:rPr>
              <a:t>name, ID, view and point</a:t>
            </a:r>
            <a:r>
              <a:rPr>
                <a:solidFill>
                  <a:srgbClr val="222222"/>
                </a:solidFill>
              </a:rPr>
              <a:t>. Later steps</a:t>
            </a:r>
          </a:p>
          <a:p>
            <a:pPr algn="l">
              <a:lnSpc>
                <a:spcPts val="3247"/>
              </a:lnSpc>
              <a:spcBef>
                <a:spcPts val="0"/>
              </a:spcBef>
              <a:spcAft>
                <a:spcPts val="0"/>
              </a:spcAft>
              <a:defRPr sz="2800" b="1">
                <a:solidFill>
                  <a:srgbClr val="222222"/>
                </a:solidFill>
                <a:latin typeface="Open Sans"/>
              </a:defRPr>
            </a:pPr>
            <a:r>
              <a:rPr>
                <a:solidFill>
                  <a:srgbClr val="222222"/>
                </a:solidFill>
              </a:rPr>
              <a:t>reuse the </a:t>
            </a:r>
            <a:r>
              <a:rPr>
                <a:solidFill>
                  <a:srgbClr val="E54C64"/>
                </a:solidFill>
              </a:rPr>
              <a:t>same ID</a:t>
            </a:r>
            <a:r>
              <a:rPr>
                <a:solidFill>
                  <a:srgbClr val="222222"/>
                </a:solidFill>
              </a:rPr>
              <a:t>.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6344000" y="15408000"/>
            <a:ext cx="10080000" cy="138148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3247"/>
              </a:lnSpc>
              <a:spcBef>
                <a:spcPts val="0"/>
              </a:spcBef>
              <a:spcAft>
                <a:spcPts val="0"/>
              </a:spcAft>
              <a:defRPr sz="2800" b="1">
                <a:solidFill>
                  <a:srgbClr val="222222"/>
                </a:solidFill>
                <a:latin typeface="Open Sans"/>
              </a:defRPr>
            </a:pPr>
            <a:r>
              <a:rPr>
                <a:solidFill>
                  <a:srgbClr val="222222"/>
                </a:solidFill>
              </a:rPr>
              <a:t>• </a:t>
            </a:r>
            <a:r>
              <a:rPr>
                <a:solidFill>
                  <a:srgbClr val="E54C64"/>
                </a:solidFill>
              </a:rPr>
              <a:t>Our insight:</a:t>
            </a:r>
            <a:r>
              <a:rPr>
                <a:solidFill>
                  <a:srgbClr val="222222"/>
                </a:solidFill>
              </a:rPr>
              <a:t> visual anchors act as </a:t>
            </a:r>
            <a:r>
              <a:rPr>
                <a:solidFill>
                  <a:srgbClr val="E54C64"/>
                </a:solidFill>
              </a:rPr>
              <a:t>persistent reasoning</a:t>
            </a:r>
          </a:p>
          <a:p>
            <a:pPr algn="l">
              <a:lnSpc>
                <a:spcPts val="3247"/>
              </a:lnSpc>
              <a:spcBef>
                <a:spcPts val="0"/>
              </a:spcBef>
              <a:spcAft>
                <a:spcPts val="0"/>
              </a:spcAft>
              <a:defRPr sz="2800" b="1">
                <a:solidFill>
                  <a:srgbClr val="222222"/>
                </a:solidFill>
                <a:latin typeface="Open Sans"/>
              </a:defRPr>
            </a:pPr>
            <a:r>
              <a:rPr>
                <a:solidFill>
                  <a:srgbClr val="E54C64"/>
                </a:solidFill>
              </a:rPr>
              <a:t>variables</a:t>
            </a:r>
            <a:r>
              <a:rPr>
                <a:solidFill>
                  <a:srgbClr val="222222"/>
                </a:solidFill>
              </a:rPr>
              <a:t>, making each step traceable to visual</a:t>
            </a:r>
          </a:p>
          <a:p>
            <a:pPr algn="l">
              <a:lnSpc>
                <a:spcPts val="3247"/>
              </a:lnSpc>
              <a:spcBef>
                <a:spcPts val="0"/>
              </a:spcBef>
              <a:spcAft>
                <a:spcPts val="0"/>
              </a:spcAft>
              <a:defRPr sz="2800" b="1">
                <a:solidFill>
                  <a:srgbClr val="222222"/>
                </a:solidFill>
                <a:latin typeface="Open Sans"/>
              </a:defRPr>
            </a:pPr>
            <a:r>
              <a:rPr>
                <a:solidFill>
                  <a:srgbClr val="222222"/>
                </a:solidFill>
              </a:rPr>
              <a:t>evidence.</a:t>
            </a:r>
          </a:p>
        </p:txBody>
      </p:sp>
      <p:sp>
        <p:nvSpPr>
          <p:cNvPr id="36" name="Rectangle 35"/>
          <p:cNvSpPr/>
          <p:nvPr/>
        </p:nvSpPr>
        <p:spPr>
          <a:xfrm>
            <a:off x="27288000" y="15444000"/>
            <a:ext cx="1872000" cy="1512000"/>
          </a:xfrm>
          <a:prstGeom prst="rect">
            <a:avLst/>
          </a:prstGeom>
          <a:solidFill>
            <a:srgbClr val="FFFFFF"/>
          </a:solidFill>
          <a:ln w="15240">
            <a:solidFill>
              <a:srgbClr val="BAC2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27432000" y="15876000"/>
            <a:ext cx="1584000" cy="63980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1952"/>
              </a:lnSpc>
              <a:spcBef>
                <a:spcPts val="0"/>
              </a:spcBef>
              <a:spcAft>
                <a:spcPts val="0"/>
              </a:spcAft>
              <a:defRPr sz="1600" b="1">
                <a:solidFill>
                  <a:srgbClr val="566B7C"/>
                </a:solidFill>
                <a:latin typeface="Open Sans"/>
              </a:defRPr>
            </a:pPr>
            <a:r>
              <a:rPr>
                <a:solidFill>
                  <a:srgbClr val="566B7C"/>
                </a:solidFill>
              </a:rPr>
              <a:t>QR</a:t>
            </a:r>
          </a:p>
          <a:p>
            <a:pPr algn="ctr">
              <a:lnSpc>
                <a:spcPts val="1952"/>
              </a:lnSpc>
              <a:spcBef>
                <a:spcPts val="0"/>
              </a:spcBef>
              <a:spcAft>
                <a:spcPts val="0"/>
              </a:spcAft>
              <a:defRPr sz="1600" b="1">
                <a:solidFill>
                  <a:srgbClr val="566B7C"/>
                </a:solidFill>
                <a:latin typeface="Open Sans"/>
              </a:defRPr>
            </a:pPr>
            <a:r>
              <a:rPr>
                <a:solidFill>
                  <a:srgbClr val="566B7C"/>
                </a:solidFill>
              </a:rPr>
              <a:t>PLACEHOLDER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27000000" y="17100000"/>
            <a:ext cx="2448000" cy="40739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2074"/>
              </a:lnSpc>
              <a:spcBef>
                <a:spcPts val="0"/>
              </a:spcBef>
              <a:spcAft>
                <a:spcPts val="0"/>
              </a:spcAft>
              <a:defRPr sz="1700" b="1">
                <a:solidFill>
                  <a:srgbClr val="222222"/>
                </a:solidFill>
                <a:latin typeface="Open Sans"/>
              </a:defRPr>
            </a:pPr>
            <a:r>
              <a:rPr>
                <a:solidFill>
                  <a:srgbClr val="222222"/>
                </a:solidFill>
              </a:rPr>
              <a:t>PAPER / CODE</a:t>
            </a:r>
          </a:p>
        </p:txBody>
      </p:sp>
      <p:sp>
        <p:nvSpPr>
          <p:cNvPr id="39" name="Rectangle 38"/>
          <p:cNvSpPr/>
          <p:nvPr/>
        </p:nvSpPr>
        <p:spPr>
          <a:xfrm>
            <a:off x="504000" y="17676000"/>
            <a:ext cx="29268000" cy="1044000"/>
          </a:xfrm>
          <a:prstGeom prst="rect">
            <a:avLst/>
          </a:prstGeom>
          <a:solidFill>
            <a:srgbClr val="E54C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720000" y="17784000"/>
            <a:ext cx="28836000" cy="856723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5612"/>
              </a:lnSpc>
              <a:spcBef>
                <a:spcPts val="0"/>
              </a:spcBef>
              <a:spcAft>
                <a:spcPts val="0"/>
              </a:spcAft>
              <a:defRPr sz="4600" b="1">
                <a:solidFill>
                  <a:srgbClr val="FFFFFF"/>
                </a:solidFill>
                <a:latin typeface="Comic Neue"/>
              </a:defRPr>
            </a:pPr>
            <a:r>
              <a:rPr>
                <a:solidFill>
                  <a:srgbClr val="FFFFFF"/>
                </a:solidFill>
              </a:rPr>
              <a:t>Our Method: RoboPIN / PinCoT</a:t>
            </a:r>
          </a:p>
        </p:txBody>
      </p:sp>
      <p:pic>
        <p:nvPicPr>
          <p:cNvPr id="41" name="Picture 40" descr="figure-2-data-pipelin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836000" y="18972000"/>
            <a:ext cx="26604000" cy="5934634"/>
          </a:xfrm>
          <a:prstGeom prst="rect">
            <a:avLst/>
          </a:prstGeom>
        </p:spPr>
      </p:pic>
      <p:sp>
        <p:nvSpPr>
          <p:cNvPr id="42" name="TextBox 41"/>
          <p:cNvSpPr txBox="1"/>
          <p:nvPr/>
        </p:nvSpPr>
        <p:spPr>
          <a:xfrm>
            <a:off x="864000" y="25164000"/>
            <a:ext cx="28548000" cy="102791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3479"/>
              </a:lnSpc>
              <a:spcBef>
                <a:spcPts val="0"/>
              </a:spcBef>
              <a:spcAft>
                <a:spcPts val="0"/>
              </a:spcAft>
              <a:defRPr sz="3000" b="1">
                <a:solidFill>
                  <a:srgbClr val="222222"/>
                </a:solidFill>
                <a:latin typeface="Open Sans"/>
              </a:defRPr>
            </a:pPr>
            <a:r>
              <a:rPr>
                <a:solidFill>
                  <a:srgbClr val="222222"/>
                </a:solidFill>
              </a:rPr>
              <a:t>We propose </a:t>
            </a:r>
            <a:r>
              <a:rPr>
                <a:solidFill>
                  <a:srgbClr val="E54C64"/>
                </a:solidFill>
              </a:rPr>
              <a:t>PinCoT</a:t>
            </a:r>
            <a:r>
              <a:rPr>
                <a:solidFill>
                  <a:srgbClr val="222222"/>
                </a:solidFill>
              </a:rPr>
              <a:t>, which pins every reasoning step to </a:t>
            </a:r>
            <a:r>
              <a:rPr>
                <a:solidFill>
                  <a:srgbClr val="E54C64"/>
                </a:solidFill>
              </a:rPr>
              <a:t>visual evidence</a:t>
            </a:r>
            <a:r>
              <a:rPr>
                <a:solidFill>
                  <a:srgbClr val="222222"/>
                </a:solidFill>
              </a:rPr>
              <a:t> through </a:t>
            </a:r>
            <a:r>
              <a:rPr>
                <a:solidFill>
                  <a:srgbClr val="E54C64"/>
                </a:solidFill>
              </a:rPr>
              <a:t>persistent identity-aware anchors</a:t>
            </a:r>
            <a:r>
              <a:rPr>
                <a:solidFill>
                  <a:srgbClr val="222222"/>
                </a:solidFill>
              </a:rPr>
              <a:t>.</a:t>
            </a:r>
          </a:p>
          <a:p>
            <a:pPr algn="ctr">
              <a:lnSpc>
                <a:spcPts val="3479"/>
              </a:lnSpc>
              <a:spcBef>
                <a:spcPts val="0"/>
              </a:spcBef>
              <a:spcAft>
                <a:spcPts val="0"/>
              </a:spcAft>
              <a:defRPr sz="3000" b="1">
                <a:solidFill>
                  <a:srgbClr val="222222"/>
                </a:solidFill>
                <a:latin typeface="Open Sans"/>
              </a:defRPr>
            </a:pPr>
            <a:r>
              <a:rPr>
                <a:solidFill>
                  <a:srgbClr val="E54C64"/>
                </a:solidFill>
              </a:rPr>
              <a:t>RoboPIN</a:t>
            </a:r>
            <a:r>
              <a:rPr>
                <a:solidFill>
                  <a:srgbClr val="222222"/>
                </a:solidFill>
              </a:rPr>
              <a:t> learns this representation through SFT, CoT-SFT and </a:t>
            </a:r>
            <a:r>
              <a:rPr>
                <a:solidFill>
                  <a:srgbClr val="E54C64"/>
                </a:solidFill>
              </a:rPr>
              <a:t>process-supervised RFT / GRPO</a:t>
            </a:r>
            <a:r>
              <a:rPr>
                <a:solidFill>
                  <a:srgbClr val="222222"/>
                </a:solidFill>
              </a:rPr>
              <a:t>.</a:t>
            </a:r>
          </a:p>
        </p:txBody>
      </p:sp>
      <p:sp>
        <p:nvSpPr>
          <p:cNvPr id="43" name="Rectangle 42"/>
          <p:cNvSpPr/>
          <p:nvPr/>
        </p:nvSpPr>
        <p:spPr>
          <a:xfrm>
            <a:off x="504000" y="26460000"/>
            <a:ext cx="14400000" cy="1044000"/>
          </a:xfrm>
          <a:prstGeom prst="rect">
            <a:avLst/>
          </a:prstGeom>
          <a:solidFill>
            <a:srgbClr val="E54C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720000" y="26568000"/>
            <a:ext cx="13968000" cy="79474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5124"/>
              </a:lnSpc>
              <a:spcBef>
                <a:spcPts val="0"/>
              </a:spcBef>
              <a:spcAft>
                <a:spcPts val="0"/>
              </a:spcAft>
              <a:defRPr sz="4200" b="1">
                <a:solidFill>
                  <a:srgbClr val="FFFFFF"/>
                </a:solidFill>
                <a:latin typeface="Comic Neue"/>
              </a:defRPr>
            </a:pPr>
            <a:r>
              <a:rPr>
                <a:solidFill>
                  <a:srgbClr val="FFFFFF"/>
                </a:solidFill>
              </a:rPr>
              <a:t>Experimental Results</a:t>
            </a:r>
          </a:p>
        </p:txBody>
      </p:sp>
      <p:pic>
        <p:nvPicPr>
          <p:cNvPr id="45" name="Picture 44" descr="performance-original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224000" y="28044000"/>
            <a:ext cx="12960000" cy="8275061"/>
          </a:xfrm>
          <a:prstGeom prst="rect">
            <a:avLst/>
          </a:prstGeom>
        </p:spPr>
      </p:pic>
      <p:sp>
        <p:nvSpPr>
          <p:cNvPr id="46" name="TextBox 45"/>
          <p:cNvSpPr txBox="1"/>
          <p:nvPr/>
        </p:nvSpPr>
        <p:spPr>
          <a:xfrm>
            <a:off x="936000" y="36756000"/>
            <a:ext cx="13536000" cy="59332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3538"/>
              </a:lnSpc>
              <a:spcBef>
                <a:spcPts val="0"/>
              </a:spcBef>
              <a:spcAft>
                <a:spcPts val="0"/>
              </a:spcAft>
              <a:defRPr sz="2900" b="1">
                <a:solidFill>
                  <a:srgbClr val="E54C64"/>
                </a:solidFill>
                <a:latin typeface="Open Sans"/>
              </a:defRPr>
            </a:pPr>
            <a:r>
              <a:rPr>
                <a:solidFill>
                  <a:srgbClr val="E54C64"/>
                </a:solidFill>
              </a:rPr>
              <a:t>Ablation studies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936000" y="37584000"/>
            <a:ext cx="6444000" cy="5313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3050"/>
              </a:lnSpc>
              <a:spcBef>
                <a:spcPts val="0"/>
              </a:spcBef>
              <a:spcAft>
                <a:spcPts val="0"/>
              </a:spcAft>
              <a:defRPr sz="2500" b="1">
                <a:solidFill>
                  <a:srgbClr val="222222"/>
                </a:solidFill>
                <a:latin typeface="Open Sans"/>
              </a:defRPr>
            </a:pPr>
            <a:r>
              <a:rPr>
                <a:solidFill>
                  <a:srgbClr val="222222"/>
                </a:solidFill>
              </a:rPr>
              <a:t>Reward design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7992000" y="37584000"/>
            <a:ext cx="6480000" cy="5313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3050"/>
              </a:lnSpc>
              <a:spcBef>
                <a:spcPts val="0"/>
              </a:spcBef>
              <a:spcAft>
                <a:spcPts val="0"/>
              </a:spcAft>
              <a:defRPr sz="2500" b="1">
                <a:solidFill>
                  <a:srgbClr val="222222"/>
                </a:solidFill>
                <a:latin typeface="Open Sans"/>
              </a:defRPr>
            </a:pPr>
            <a:r>
              <a:rPr>
                <a:solidFill>
                  <a:srgbClr val="222222"/>
                </a:solidFill>
              </a:rPr>
              <a:t>Training stages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936000" y="38160000"/>
            <a:ext cx="6408000" cy="540000"/>
          </a:xfrm>
          <a:prstGeom prst="roundRect">
            <a:avLst>
              <a:gd name="adj" fmla="val 13333"/>
            </a:avLst>
          </a:prstGeom>
          <a:solidFill>
            <a:srgbClr val="FFF0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ounded Rectangle 49"/>
          <p:cNvSpPr/>
          <p:nvPr/>
        </p:nvSpPr>
        <p:spPr>
          <a:xfrm>
            <a:off x="7992000" y="38160000"/>
            <a:ext cx="6480000" cy="540000"/>
          </a:xfrm>
          <a:prstGeom prst="roundRect">
            <a:avLst>
              <a:gd name="adj" fmla="val 13333"/>
            </a:avLst>
          </a:prstGeom>
          <a:solidFill>
            <a:srgbClr val="FFF0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1116000" y="38268000"/>
            <a:ext cx="4032000" cy="45387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440"/>
              </a:lnSpc>
              <a:spcBef>
                <a:spcPts val="0"/>
              </a:spcBef>
              <a:spcAft>
                <a:spcPts val="0"/>
              </a:spcAft>
              <a:defRPr sz="2000" b="1">
                <a:solidFill>
                  <a:srgbClr val="222222"/>
                </a:solidFill>
                <a:latin typeface="Open Sans"/>
              </a:defRPr>
            </a:pPr>
            <a:r>
              <a:rPr>
                <a:solidFill>
                  <a:srgbClr val="222222"/>
                </a:solidFill>
              </a:rPr>
              <a:t>Setting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5328000" y="38268000"/>
            <a:ext cx="1836000" cy="40739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2074"/>
              </a:lnSpc>
              <a:spcBef>
                <a:spcPts val="0"/>
              </a:spcBef>
              <a:spcAft>
                <a:spcPts val="0"/>
              </a:spcAft>
              <a:defRPr sz="1700" b="1">
                <a:solidFill>
                  <a:srgbClr val="222222"/>
                </a:solidFill>
                <a:latin typeface="Open Sans"/>
              </a:defRPr>
            </a:pPr>
            <a:r>
              <a:rPr>
                <a:solidFill>
                  <a:srgbClr val="222222"/>
                </a:solidFill>
              </a:rPr>
              <a:t>EmbSpatial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8172000" y="38268000"/>
            <a:ext cx="2520000" cy="45387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440"/>
              </a:lnSpc>
              <a:spcBef>
                <a:spcPts val="0"/>
              </a:spcBef>
              <a:spcAft>
                <a:spcPts val="0"/>
              </a:spcAft>
              <a:defRPr sz="2000" b="1">
                <a:solidFill>
                  <a:srgbClr val="222222"/>
                </a:solidFill>
                <a:latin typeface="Open Sans"/>
              </a:defRPr>
            </a:pPr>
            <a:r>
              <a:rPr>
                <a:solidFill>
                  <a:srgbClr val="222222"/>
                </a:solidFill>
              </a:rPr>
              <a:t>Stage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0764000" y="38268000"/>
            <a:ext cx="1620000" cy="43838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2318"/>
              </a:lnSpc>
              <a:spcBef>
                <a:spcPts val="0"/>
              </a:spcBef>
              <a:spcAft>
                <a:spcPts val="0"/>
              </a:spcAft>
              <a:defRPr sz="1900" b="1">
                <a:solidFill>
                  <a:srgbClr val="222222"/>
                </a:solidFill>
                <a:latin typeface="Open Sans"/>
              </a:defRPr>
            </a:pPr>
            <a:r>
              <a:rPr>
                <a:solidFill>
                  <a:srgbClr val="222222"/>
                </a:solidFill>
              </a:rPr>
              <a:t>Spatial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12636000" y="38268000"/>
            <a:ext cx="1656000" cy="43838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2318"/>
              </a:lnSpc>
              <a:spcBef>
                <a:spcPts val="0"/>
              </a:spcBef>
              <a:spcAft>
                <a:spcPts val="0"/>
              </a:spcAft>
              <a:defRPr sz="1900" b="1">
                <a:solidFill>
                  <a:srgbClr val="222222"/>
                </a:solidFill>
                <a:latin typeface="Open Sans"/>
              </a:defRPr>
            </a:pPr>
            <a:r>
              <a:rPr>
                <a:solidFill>
                  <a:srgbClr val="222222"/>
                </a:solidFill>
              </a:rPr>
              <a:t>Point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116000" y="38916000"/>
            <a:ext cx="4212000" cy="48486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684"/>
              </a:lnSpc>
              <a:spcBef>
                <a:spcPts val="0"/>
              </a:spcBef>
              <a:spcAft>
                <a:spcPts val="0"/>
              </a:spcAft>
              <a:defRPr sz="2200" b="1">
                <a:solidFill>
                  <a:srgbClr val="E54C64"/>
                </a:solidFill>
                <a:latin typeface="Open Sans"/>
              </a:defRPr>
            </a:pPr>
            <a:r>
              <a:rPr>
                <a:solidFill>
                  <a:srgbClr val="E54C64"/>
                </a:solidFill>
              </a:rPr>
              <a:t>Full reward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5436000" y="38916000"/>
            <a:ext cx="1728000" cy="51585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2928"/>
              </a:lnSpc>
              <a:spcBef>
                <a:spcPts val="0"/>
              </a:spcBef>
              <a:spcAft>
                <a:spcPts val="0"/>
              </a:spcAft>
              <a:defRPr sz="2400" b="1">
                <a:solidFill>
                  <a:srgbClr val="E54C64"/>
                </a:solidFill>
                <a:latin typeface="Open Sans"/>
              </a:defRPr>
            </a:pPr>
            <a:r>
              <a:rPr>
                <a:solidFill>
                  <a:srgbClr val="E54C64"/>
                </a:solidFill>
              </a:rPr>
              <a:t>84.7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1116000" y="39600000"/>
            <a:ext cx="4212000" cy="48486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684"/>
              </a:lnSpc>
              <a:spcBef>
                <a:spcPts val="0"/>
              </a:spcBef>
              <a:spcAft>
                <a:spcPts val="0"/>
              </a:spcAft>
              <a:defRPr sz="2200" b="0">
                <a:solidFill>
                  <a:srgbClr val="222222"/>
                </a:solidFill>
                <a:latin typeface="Open Sans"/>
              </a:defRPr>
            </a:pPr>
            <a:r>
              <a:rPr>
                <a:solidFill>
                  <a:srgbClr val="222222"/>
                </a:solidFill>
              </a:rPr>
              <a:t>w/o Pin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5436000" y="39600000"/>
            <a:ext cx="1728000" cy="51585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2928"/>
              </a:lnSpc>
              <a:spcBef>
                <a:spcPts val="0"/>
              </a:spcBef>
              <a:spcAft>
                <a:spcPts val="0"/>
              </a:spcAft>
              <a:defRPr sz="2400" b="0">
                <a:solidFill>
                  <a:srgbClr val="222222"/>
                </a:solidFill>
                <a:latin typeface="Open Sans"/>
              </a:defRPr>
            </a:pPr>
            <a:r>
              <a:rPr>
                <a:solidFill>
                  <a:srgbClr val="222222"/>
                </a:solidFill>
              </a:rPr>
              <a:t>82.0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1116000" y="40284000"/>
            <a:ext cx="4212000" cy="48486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684"/>
              </a:lnSpc>
              <a:spcBef>
                <a:spcPts val="0"/>
              </a:spcBef>
              <a:spcAft>
                <a:spcPts val="0"/>
              </a:spcAft>
              <a:defRPr sz="2200" b="0">
                <a:solidFill>
                  <a:srgbClr val="222222"/>
                </a:solidFill>
                <a:latin typeface="Open Sans"/>
              </a:defRPr>
            </a:pPr>
            <a:r>
              <a:rPr>
                <a:solidFill>
                  <a:srgbClr val="222222"/>
                </a:solidFill>
              </a:rPr>
              <a:t>w/o Consistency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5436000" y="40284000"/>
            <a:ext cx="1728000" cy="51585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2928"/>
              </a:lnSpc>
              <a:spcBef>
                <a:spcPts val="0"/>
              </a:spcBef>
              <a:spcAft>
                <a:spcPts val="0"/>
              </a:spcAft>
              <a:defRPr sz="2400" b="0">
                <a:solidFill>
                  <a:srgbClr val="222222"/>
                </a:solidFill>
                <a:latin typeface="Open Sans"/>
              </a:defRPr>
            </a:pPr>
            <a:r>
              <a:rPr>
                <a:solidFill>
                  <a:srgbClr val="222222"/>
                </a:solidFill>
              </a:rPr>
              <a:t>82.7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8172000" y="38916000"/>
            <a:ext cx="2520000" cy="469373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562"/>
              </a:lnSpc>
              <a:spcBef>
                <a:spcPts val="0"/>
              </a:spcBef>
              <a:spcAft>
                <a:spcPts val="0"/>
              </a:spcAft>
              <a:defRPr sz="2100" b="0">
                <a:solidFill>
                  <a:srgbClr val="222222"/>
                </a:solidFill>
                <a:latin typeface="Open Sans"/>
              </a:defRPr>
            </a:pPr>
            <a:r>
              <a:rPr>
                <a:solidFill>
                  <a:srgbClr val="222222"/>
                </a:solidFill>
              </a:rPr>
              <a:t>SFT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0764000" y="38916000"/>
            <a:ext cx="1620000" cy="51585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2928"/>
              </a:lnSpc>
              <a:spcBef>
                <a:spcPts val="0"/>
              </a:spcBef>
              <a:spcAft>
                <a:spcPts val="0"/>
              </a:spcAft>
              <a:defRPr sz="2400" b="0">
                <a:solidFill>
                  <a:srgbClr val="222222"/>
                </a:solidFill>
                <a:latin typeface="Open Sans"/>
              </a:defRPr>
            </a:pPr>
            <a:r>
              <a:rPr>
                <a:solidFill>
                  <a:srgbClr val="222222"/>
                </a:solidFill>
              </a:rPr>
              <a:t>57.0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12636000" y="38916000"/>
            <a:ext cx="1656000" cy="51585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2928"/>
              </a:lnSpc>
              <a:spcBef>
                <a:spcPts val="0"/>
              </a:spcBef>
              <a:spcAft>
                <a:spcPts val="0"/>
              </a:spcAft>
              <a:defRPr sz="2400" b="0">
                <a:solidFill>
                  <a:srgbClr val="222222"/>
                </a:solidFill>
                <a:latin typeface="Open Sans"/>
              </a:defRPr>
            </a:pPr>
            <a:r>
              <a:rPr>
                <a:solidFill>
                  <a:srgbClr val="222222"/>
                </a:solidFill>
              </a:rPr>
              <a:t>66.0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8172000" y="39600000"/>
            <a:ext cx="2520000" cy="469373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562"/>
              </a:lnSpc>
              <a:spcBef>
                <a:spcPts val="0"/>
              </a:spcBef>
              <a:spcAft>
                <a:spcPts val="0"/>
              </a:spcAft>
              <a:defRPr sz="2100" b="0">
                <a:solidFill>
                  <a:srgbClr val="222222"/>
                </a:solidFill>
                <a:latin typeface="Open Sans"/>
              </a:defRPr>
            </a:pPr>
            <a:r>
              <a:rPr>
                <a:solidFill>
                  <a:srgbClr val="222222"/>
                </a:solidFill>
              </a:rPr>
              <a:t>+ CoT-SFT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10764000" y="39600000"/>
            <a:ext cx="1620000" cy="51585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2928"/>
              </a:lnSpc>
              <a:spcBef>
                <a:spcPts val="0"/>
              </a:spcBef>
              <a:spcAft>
                <a:spcPts val="0"/>
              </a:spcAft>
              <a:defRPr sz="2400" b="0">
                <a:solidFill>
                  <a:srgbClr val="222222"/>
                </a:solidFill>
                <a:latin typeface="Open Sans"/>
              </a:defRPr>
            </a:pPr>
            <a:r>
              <a:rPr>
                <a:solidFill>
                  <a:srgbClr val="222222"/>
                </a:solidFill>
              </a:rPr>
              <a:t>62.0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12636000" y="39600000"/>
            <a:ext cx="1656000" cy="51585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2928"/>
              </a:lnSpc>
              <a:spcBef>
                <a:spcPts val="0"/>
              </a:spcBef>
              <a:spcAft>
                <a:spcPts val="0"/>
              </a:spcAft>
              <a:defRPr sz="2400" b="0">
                <a:solidFill>
                  <a:srgbClr val="222222"/>
                </a:solidFill>
                <a:latin typeface="Open Sans"/>
              </a:defRPr>
            </a:pPr>
            <a:r>
              <a:rPr>
                <a:solidFill>
                  <a:srgbClr val="222222"/>
                </a:solidFill>
              </a:rPr>
              <a:t>63.6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8172000" y="40284000"/>
            <a:ext cx="2520000" cy="469373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562"/>
              </a:lnSpc>
              <a:spcBef>
                <a:spcPts val="0"/>
              </a:spcBef>
              <a:spcAft>
                <a:spcPts val="0"/>
              </a:spcAft>
              <a:defRPr sz="2100" b="1">
                <a:solidFill>
                  <a:srgbClr val="E54C64"/>
                </a:solidFill>
                <a:latin typeface="Open Sans"/>
              </a:defRPr>
            </a:pPr>
            <a:r>
              <a:rPr>
                <a:solidFill>
                  <a:srgbClr val="E54C64"/>
                </a:solidFill>
              </a:rPr>
              <a:t>+ RFT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10764000" y="40284000"/>
            <a:ext cx="1620000" cy="51585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2928"/>
              </a:lnSpc>
              <a:spcBef>
                <a:spcPts val="0"/>
              </a:spcBef>
              <a:spcAft>
                <a:spcPts val="0"/>
              </a:spcAft>
              <a:defRPr sz="2400" b="1">
                <a:solidFill>
                  <a:srgbClr val="E54C64"/>
                </a:solidFill>
                <a:latin typeface="Open Sans"/>
              </a:defRPr>
            </a:pPr>
            <a:r>
              <a:rPr>
                <a:solidFill>
                  <a:srgbClr val="E54C64"/>
                </a:solidFill>
              </a:rPr>
              <a:t>67.7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12636000" y="40284000"/>
            <a:ext cx="1656000" cy="51585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2928"/>
              </a:lnSpc>
              <a:spcBef>
                <a:spcPts val="0"/>
              </a:spcBef>
              <a:spcAft>
                <a:spcPts val="0"/>
              </a:spcAft>
              <a:defRPr sz="2400" b="1">
                <a:solidFill>
                  <a:srgbClr val="E54C64"/>
                </a:solidFill>
                <a:latin typeface="Open Sans"/>
              </a:defRPr>
            </a:pPr>
            <a:r>
              <a:rPr>
                <a:solidFill>
                  <a:srgbClr val="E54C64"/>
                </a:solidFill>
              </a:rPr>
              <a:t>67.9</a:t>
            </a:r>
          </a:p>
        </p:txBody>
      </p:sp>
      <p:cxnSp>
        <p:nvCxnSpPr>
          <p:cNvPr id="71" name="Connector 70"/>
          <p:cNvCxnSpPr/>
          <p:nvPr/>
        </p:nvCxnSpPr>
        <p:spPr>
          <a:xfrm>
            <a:off x="7704000" y="37692000"/>
            <a:ext cx="0" cy="3096000"/>
          </a:xfrm>
          <a:prstGeom prst="line">
            <a:avLst/>
          </a:prstGeom>
          <a:ln w="12700">
            <a:solidFill>
              <a:srgbClr val="D5E0E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2" name="TextBox 71"/>
          <p:cNvSpPr txBox="1"/>
          <p:nvPr/>
        </p:nvSpPr>
        <p:spPr>
          <a:xfrm>
            <a:off x="936000" y="41040000"/>
            <a:ext cx="13536000" cy="469373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562"/>
              </a:lnSpc>
              <a:spcBef>
                <a:spcPts val="0"/>
              </a:spcBef>
              <a:spcAft>
                <a:spcPts val="0"/>
              </a:spcAft>
              <a:defRPr sz="2100" b="1">
                <a:solidFill>
                  <a:srgbClr val="E54C64"/>
                </a:solidFill>
                <a:latin typeface="Open Sans"/>
              </a:defRPr>
            </a:pPr>
            <a:r>
              <a:rPr>
                <a:solidFill>
                  <a:srgbClr val="E54C64"/>
                </a:solidFill>
              </a:rPr>
              <a:t>Spatial reasoning: +10.7 points from SFT to RFT.</a:t>
            </a:r>
          </a:p>
        </p:txBody>
      </p:sp>
      <p:sp>
        <p:nvSpPr>
          <p:cNvPr id="73" name="Rectangle 72"/>
          <p:cNvSpPr/>
          <p:nvPr/>
        </p:nvSpPr>
        <p:spPr>
          <a:xfrm>
            <a:off x="15192000" y="26460000"/>
            <a:ext cx="14580000" cy="1044000"/>
          </a:xfrm>
          <a:prstGeom prst="rect">
            <a:avLst/>
          </a:prstGeom>
          <a:solidFill>
            <a:srgbClr val="E54C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15408000" y="26568000"/>
            <a:ext cx="14148000" cy="79474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5124"/>
              </a:lnSpc>
              <a:spcBef>
                <a:spcPts val="0"/>
              </a:spcBef>
              <a:spcAft>
                <a:spcPts val="0"/>
              </a:spcAft>
              <a:defRPr sz="4200" b="1">
                <a:solidFill>
                  <a:srgbClr val="FFFFFF"/>
                </a:solidFill>
                <a:latin typeface="Comic Neue"/>
              </a:defRPr>
            </a:pPr>
            <a:r>
              <a:rPr>
                <a:solidFill>
                  <a:srgbClr val="FFFFFF"/>
                </a:solidFill>
              </a:rPr>
              <a:t>Qualitative Results</a:t>
            </a:r>
          </a:p>
        </p:txBody>
      </p:sp>
      <p:pic>
        <p:nvPicPr>
          <p:cNvPr id="75" name="Picture 74" descr="robot-three-rows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5660000" y="28044000"/>
            <a:ext cx="13644000" cy="6361254"/>
          </a:xfrm>
          <a:prstGeom prst="rect">
            <a:avLst/>
          </a:prstGeom>
        </p:spPr>
      </p:pic>
      <p:sp>
        <p:nvSpPr>
          <p:cNvPr id="76" name="TextBox 75"/>
          <p:cNvSpPr txBox="1"/>
          <p:nvPr/>
        </p:nvSpPr>
        <p:spPr>
          <a:xfrm>
            <a:off x="15660000" y="34776000"/>
            <a:ext cx="13644000" cy="51585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928"/>
              </a:lnSpc>
              <a:spcBef>
                <a:spcPts val="0"/>
              </a:spcBef>
              <a:spcAft>
                <a:spcPts val="0"/>
              </a:spcAft>
              <a:defRPr sz="2400" b="1">
                <a:solidFill>
                  <a:srgbClr val="E54C64"/>
                </a:solidFill>
                <a:latin typeface="Open Sans"/>
              </a:defRPr>
            </a:pPr>
            <a:r>
              <a:rPr>
                <a:solidFill>
                  <a:srgbClr val="E54C64"/>
                </a:solidFill>
              </a:rPr>
              <a:t>Zero-shot xArm · successes / 20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15660000" y="35424000"/>
            <a:ext cx="4284000" cy="59332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3538"/>
              </a:lnSpc>
              <a:spcBef>
                <a:spcPts val="0"/>
              </a:spcBef>
              <a:spcAft>
                <a:spcPts val="0"/>
              </a:spcAft>
              <a:defRPr sz="2900" b="1">
                <a:solidFill>
                  <a:srgbClr val="E54C64"/>
                </a:solidFill>
                <a:latin typeface="Open Sans"/>
              </a:defRPr>
            </a:pPr>
            <a:r>
              <a:rPr>
                <a:solidFill>
                  <a:srgbClr val="E54C64"/>
                </a:solidFill>
              </a:rPr>
              <a:t>20 / 20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15660000" y="36000000"/>
            <a:ext cx="4284000" cy="469373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2562"/>
              </a:lnSpc>
              <a:spcBef>
                <a:spcPts val="0"/>
              </a:spcBef>
              <a:spcAft>
                <a:spcPts val="0"/>
              </a:spcAft>
              <a:defRPr sz="2100" b="0">
                <a:solidFill>
                  <a:srgbClr val="222222"/>
                </a:solidFill>
                <a:latin typeface="Open Sans"/>
              </a:defRPr>
            </a:pPr>
            <a:r>
              <a:rPr>
                <a:solidFill>
                  <a:srgbClr val="222222"/>
                </a:solidFill>
              </a:rPr>
              <a:t>Spatial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20268000" y="35424000"/>
            <a:ext cx="4284000" cy="59332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3538"/>
              </a:lnSpc>
              <a:spcBef>
                <a:spcPts val="0"/>
              </a:spcBef>
              <a:spcAft>
                <a:spcPts val="0"/>
              </a:spcAft>
              <a:defRPr sz="2900" b="1">
                <a:solidFill>
                  <a:srgbClr val="E54C64"/>
                </a:solidFill>
                <a:latin typeface="Open Sans"/>
              </a:defRPr>
            </a:pPr>
            <a:r>
              <a:rPr>
                <a:solidFill>
                  <a:srgbClr val="E54C64"/>
                </a:solidFill>
              </a:rPr>
              <a:t>14 / 20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20268000" y="36000000"/>
            <a:ext cx="4284000" cy="469373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2562"/>
              </a:lnSpc>
              <a:spcBef>
                <a:spcPts val="0"/>
              </a:spcBef>
              <a:spcAft>
                <a:spcPts val="0"/>
              </a:spcAft>
              <a:defRPr sz="2100" b="0">
                <a:solidFill>
                  <a:srgbClr val="222222"/>
                </a:solidFill>
                <a:latin typeface="Open Sans"/>
              </a:defRPr>
            </a:pPr>
            <a:r>
              <a:rPr>
                <a:solidFill>
                  <a:srgbClr val="222222"/>
                </a:solidFill>
              </a:rPr>
              <a:t>Multi-view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24876000" y="35424000"/>
            <a:ext cx="4284000" cy="59332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3538"/>
              </a:lnSpc>
              <a:spcBef>
                <a:spcPts val="0"/>
              </a:spcBef>
              <a:spcAft>
                <a:spcPts val="0"/>
              </a:spcAft>
              <a:defRPr sz="2900" b="1">
                <a:solidFill>
                  <a:srgbClr val="E54C64"/>
                </a:solidFill>
                <a:latin typeface="Open Sans"/>
              </a:defRPr>
            </a:pPr>
            <a:r>
              <a:rPr>
                <a:solidFill>
                  <a:srgbClr val="E54C64"/>
                </a:solidFill>
              </a:rPr>
              <a:t>11 / 20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24876000" y="36000000"/>
            <a:ext cx="4284000" cy="469373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2562"/>
              </a:lnSpc>
              <a:spcBef>
                <a:spcPts val="0"/>
              </a:spcBef>
              <a:spcAft>
                <a:spcPts val="0"/>
              </a:spcAft>
              <a:defRPr sz="2100" b="0">
                <a:solidFill>
                  <a:srgbClr val="222222"/>
                </a:solidFill>
                <a:latin typeface="Open Sans"/>
              </a:defRPr>
            </a:pPr>
            <a:r>
              <a:rPr>
                <a:solidFill>
                  <a:srgbClr val="222222"/>
                </a:solidFill>
              </a:rPr>
              <a:t>Long-horizon</a:t>
            </a:r>
          </a:p>
        </p:txBody>
      </p:sp>
      <p:pic>
        <p:nvPicPr>
          <p:cNvPr id="83" name="Picture 82" descr="figure-4-two-examples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6668000" y="36540000"/>
            <a:ext cx="11628000" cy="4679271"/>
          </a:xfrm>
          <a:prstGeom prst="rect">
            <a:avLst/>
          </a:prstGeom>
        </p:spPr>
      </p:pic>
      <p:sp>
        <p:nvSpPr>
          <p:cNvPr id="84" name="Rectangle 83"/>
          <p:cNvSpPr/>
          <p:nvPr/>
        </p:nvSpPr>
        <p:spPr>
          <a:xfrm>
            <a:off x="504000" y="42012000"/>
            <a:ext cx="29268000" cy="648000"/>
          </a:xfrm>
          <a:prstGeom prst="rect">
            <a:avLst/>
          </a:prstGeom>
          <a:solidFill>
            <a:srgbClr val="E54C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720000" y="42048000"/>
            <a:ext cx="28836000" cy="59332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3538"/>
              </a:lnSpc>
              <a:spcBef>
                <a:spcPts val="0"/>
              </a:spcBef>
              <a:spcAft>
                <a:spcPts val="0"/>
              </a:spcAft>
              <a:defRPr sz="2900" b="1">
                <a:solidFill>
                  <a:srgbClr val="FFFFFF"/>
                </a:solidFill>
                <a:latin typeface="Open Sans"/>
              </a:defRPr>
            </a:pPr>
            <a:r>
              <a:rPr>
                <a:solidFill>
                  <a:srgbClr val="FFFFFF"/>
                </a:solidFill>
              </a:rPr>
              <a:t>Persistent Visual Anchors · Consistent Reasoning · Grounded Answers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