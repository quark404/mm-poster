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A0 portrait 841 × 1189 mm. Iterated using the upstream Paper2Poster lightweight skill and visual review. The external API-based PosterAgent generator was not run. The original Figure 1 comparison is the main visual; Figure 2 upper pipeline is preserved. Three grouped bar charts reproduce paper Figure 1 and Tables 1–3: spatial mean over 13 capability columns, pointing mean over 5 benchmarks, robot successes over 60 trials. Missing robot baseline is n/a. The detailed selected-benchmark table is retained in the source notes rather than repeated on this poster. The robot trial-count caption conflict in the source paper still requires author confirmation. Logos are original official images; paper/code QR remains an intentional placeholder. Chart bars, values, axes, text and training nodes are editable; source figures are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28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540000"/>
            <a:ext cx="15156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E87"/>
                </a:solidFill>
                <a:latin typeface="DejaVu Sans"/>
              </a:defRPr>
            </a:pPr>
            <a:r>
              <a:t>ACM MULTIMEDIA 2026 / EMBODIED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000" y="1152000"/>
            <a:ext cx="15228000" cy="16933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00"/>
              </a:lnSpc>
              <a:spcBef>
                <a:spcPts val="0"/>
              </a:spcBef>
              <a:spcAft>
                <a:spcPts val="0"/>
              </a:spcAft>
              <a:defRPr sz="10000" b="1">
                <a:solidFill>
                  <a:srgbClr val="102B46"/>
                </a:solidFill>
                <a:latin typeface="DejaVu Sans"/>
              </a:defRPr>
            </a:pPr>
            <a:r>
              <a:t>RoboPIN</a:t>
            </a:r>
          </a:p>
        </p:txBody>
      </p:sp>
      <p:pic>
        <p:nvPicPr>
          <p:cNvPr id="5" name="Picture 4" descr="m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6000" y="973136"/>
            <a:ext cx="8784000" cy="1941726"/>
          </a:xfrm>
          <a:prstGeom prst="rect">
            <a:avLst/>
          </a:prstGeom>
        </p:spPr>
      </p:pic>
      <p:pic>
        <p:nvPicPr>
          <p:cNvPr id="6" name="Picture 5" descr="tj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8000" y="527709"/>
            <a:ext cx="2628000" cy="24725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0000" y="2880000"/>
            <a:ext cx="28116000" cy="1464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98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02B46"/>
                </a:solidFill>
                <a:latin typeface="DejaVu Sans"/>
              </a:defRPr>
            </a:pPr>
            <a:r>
              <a:t>Grounded Embodied Reasoning</a:t>
            </a:r>
          </a:p>
          <a:p>
            <a:pPr algn="l">
              <a:lnSpc>
                <a:spcPts val="5198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02B46"/>
                </a:solidFill>
                <a:latin typeface="DejaVu Sans"/>
              </a:defRPr>
            </a:pPr>
            <a:r>
              <a:t>via Pinned Chain-of-Thought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4536000"/>
            <a:ext cx="28116000" cy="515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566B7C"/>
                </a:solidFill>
                <a:latin typeface="DejaVu Sans"/>
              </a:defRPr>
            </a:pPr>
            <a:r>
              <a:t>Yaoting Huang* · Yifu Yuan*† · Linqi Han · Chengwen Li · Shuoheng Zhang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5004000"/>
            <a:ext cx="28116000" cy="515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566B7C"/>
                </a:solidFill>
                <a:latin typeface="DejaVu Sans"/>
              </a:defRPr>
            </a:pPr>
            <a:r>
              <a:t>Xianze Yao · Hongyao Tang · Yan Zheng · Jianye Hao†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5616000"/>
            <a:ext cx="28116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Tianjin University · Rio de Janeiro, Brazil · 10–14 November 2026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80000" y="6444000"/>
            <a:ext cx="28116000" cy="0"/>
          </a:xfrm>
          <a:prstGeom prst="line">
            <a:avLst/>
          </a:prstGeom>
          <a:ln w="3175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0000" y="7164000"/>
            <a:ext cx="828000" cy="515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E8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6000" y="7092000"/>
            <a:ext cx="27000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02B46"/>
                </a:solidFill>
                <a:latin typeface="DejaVu Sans"/>
              </a:defRPr>
            </a:pPr>
            <a:r>
              <a:t>Reason with a persistent visual anchor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0000" y="7848000"/>
            <a:ext cx="28116000" cy="0"/>
          </a:xfrm>
          <a:prstGeom prst="line">
            <a:avLst/>
          </a:prstGeom>
          <a:ln w="15240">
            <a:solidFill>
              <a:srgbClr val="D5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figure-1-cot-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00" y="8352000"/>
            <a:ext cx="17424000" cy="939525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9656000" y="8352000"/>
            <a:ext cx="9540000" cy="9396000"/>
          </a:xfrm>
          <a:prstGeom prst="roundRect">
            <a:avLst>
              <a:gd name="adj" fmla="val 766"/>
            </a:avLst>
          </a:prstGeom>
          <a:solidFill>
            <a:srgbClr val="1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304000" y="9000000"/>
            <a:ext cx="8244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90DED5"/>
                </a:solidFill>
                <a:latin typeface="DejaVu Sans"/>
              </a:defRPr>
            </a:pPr>
            <a:r>
              <a:t>THE CORE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04000" y="9864000"/>
            <a:ext cx="8244000" cy="12153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18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DejaVu Sans"/>
              </a:defRPr>
            </a:pPr>
            <a:r>
              <a:t>One entity.</a:t>
            </a:r>
          </a:p>
          <a:p>
            <a:pPr algn="l">
              <a:lnSpc>
                <a:spcPts val="4218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DejaVu Sans"/>
              </a:defRPr>
            </a:pPr>
            <a:r>
              <a:t>One persistent ID.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04000" y="11412000"/>
            <a:ext cx="8244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90DED5"/>
                </a:solidFill>
                <a:latin typeface="DejaVu Sans Mono"/>
              </a:defRPr>
            </a:pPr>
            <a:r>
              <a:t>a = (name, id, view, point)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304000" y="12348000"/>
            <a:ext cx="8244000" cy="1584000"/>
          </a:xfrm>
          <a:prstGeom prst="roundRect">
            <a:avLst>
              <a:gd name="adj" fmla="val 4545"/>
            </a:avLst>
          </a:prstGeom>
          <a:solidFill>
            <a:srgbClr val="1B3B54"/>
          </a:solidFill>
          <a:ln w="12700">
            <a:solidFill>
              <a:srgbClr val="4B6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700000" y="12636000"/>
            <a:ext cx="7452000" cy="5778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DejaVu Sans"/>
              </a:defRPr>
            </a:pPr>
            <a:r>
              <a:t>Introduce anchor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00000" y="13320000"/>
            <a:ext cx="7452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DEEBF2"/>
                </a:solidFill>
                <a:latin typeface="DejaVu Sans"/>
              </a:defRPr>
            </a:pPr>
            <a:r>
              <a:t>name · ID · view · point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304000" y="14796000"/>
            <a:ext cx="8244000" cy="1584000"/>
          </a:xfrm>
          <a:prstGeom prst="roundRect">
            <a:avLst>
              <a:gd name="adj" fmla="val 4545"/>
            </a:avLst>
          </a:prstGeom>
          <a:solidFill>
            <a:srgbClr val="1B3B54"/>
          </a:solidFill>
          <a:ln w="12700">
            <a:solidFill>
              <a:srgbClr val="4B6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700000" y="15084000"/>
            <a:ext cx="7452000" cy="5778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DejaVu Sans"/>
              </a:defRPr>
            </a:pPr>
            <a:r>
              <a:t>Reuse 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00000" y="15768000"/>
            <a:ext cx="7452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DEEBF2"/>
                </a:solidFill>
                <a:latin typeface="DejaVu Sans"/>
              </a:defRPr>
            </a:pPr>
            <a:r>
              <a:t>across steps and views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426000" y="14076000"/>
            <a:ext cx="0" cy="540000"/>
          </a:xfrm>
          <a:prstGeom prst="line">
            <a:avLst/>
          </a:prstGeom>
          <a:ln w="31750">
            <a:solidFill>
              <a:srgbClr val="90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300000" y="14472000"/>
            <a:ext cx="126000" cy="144000"/>
          </a:xfrm>
          <a:prstGeom prst="line">
            <a:avLst/>
          </a:prstGeom>
          <a:ln w="31750">
            <a:solidFill>
              <a:srgbClr val="90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4426000" y="14472000"/>
            <a:ext cx="126000" cy="144000"/>
          </a:xfrm>
          <a:prstGeom prst="line">
            <a:avLst/>
          </a:prstGeom>
          <a:ln w="31750">
            <a:solidFill>
              <a:srgbClr val="90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304000" y="17064000"/>
            <a:ext cx="8244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90DED5"/>
                </a:solidFill>
                <a:latin typeface="DejaVu Sans"/>
              </a:defRPr>
            </a:pPr>
            <a:r>
              <a:t>Visual evidence stays traceable.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000" y="18648000"/>
            <a:ext cx="828000" cy="515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E8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6000" y="18576000"/>
            <a:ext cx="27000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02B46"/>
                </a:solidFill>
                <a:latin typeface="DejaVu Sans"/>
              </a:defRPr>
            </a:pPr>
            <a:r>
              <a:t>How RoboPIN learns to stay grounded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0000" y="19332000"/>
            <a:ext cx="28116000" cy="0"/>
          </a:xfrm>
          <a:prstGeom prst="line">
            <a:avLst/>
          </a:prstGeom>
          <a:ln w="15240">
            <a:solidFill>
              <a:srgbClr val="D5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figure-2-data-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000" y="19872000"/>
            <a:ext cx="27396000" cy="61113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80000" y="26712000"/>
            <a:ext cx="5220000" cy="84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Three-stage</a:t>
            </a:r>
          </a:p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post-training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20000" y="26460000"/>
            <a:ext cx="7020000" cy="1440000"/>
          </a:xfrm>
          <a:prstGeom prst="roundRect">
            <a:avLst>
              <a:gd name="adj" fmla="val 5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0000" y="26676000"/>
            <a:ext cx="6660000" cy="5623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E87"/>
                </a:solidFill>
                <a:latin typeface="DejaVu Sans"/>
              </a:defRPr>
            </a:pPr>
            <a:r>
              <a:t>SFT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0000" y="27324000"/>
            <a:ext cx="666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566B7C"/>
                </a:solidFill>
                <a:latin typeface="DejaVu Sans"/>
              </a:defRPr>
            </a:pPr>
            <a:r>
              <a:t>Embodied knowledge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148000" y="27180000"/>
            <a:ext cx="252000" cy="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256000" y="27072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256000" y="27180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4472000" y="26460000"/>
            <a:ext cx="7020000" cy="1440000"/>
          </a:xfrm>
          <a:prstGeom prst="roundRect">
            <a:avLst>
              <a:gd name="adj" fmla="val 5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652000" y="26676000"/>
            <a:ext cx="6660000" cy="5623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E87"/>
                </a:solidFill>
                <a:latin typeface="DejaVu Sans"/>
              </a:defRPr>
            </a:pPr>
            <a:r>
              <a:t>CoT-SFT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52000" y="27324000"/>
            <a:ext cx="666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566B7C"/>
                </a:solidFill>
                <a:latin typeface="DejaVu Sans"/>
              </a:defRPr>
            </a:pPr>
            <a:r>
              <a:t>Structured reasoning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1600000" y="27180000"/>
            <a:ext cx="252000" cy="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1708000" y="27072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1708000" y="27180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21924000" y="26460000"/>
            <a:ext cx="7020000" cy="1440000"/>
          </a:xfrm>
          <a:prstGeom prst="roundRect">
            <a:avLst>
              <a:gd name="adj" fmla="val 5000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104000" y="26676000"/>
            <a:ext cx="6660000" cy="5623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E87"/>
                </a:solidFill>
                <a:latin typeface="DejaVu Sans"/>
              </a:defRPr>
            </a:pPr>
            <a:r>
              <a:t>RFT / GRPO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104000" y="27324000"/>
            <a:ext cx="666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566B7C"/>
                </a:solidFill>
                <a:latin typeface="DejaVu Sans"/>
              </a:defRPr>
            </a:pPr>
            <a:r>
              <a:t>Process alignment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0000" y="28764000"/>
            <a:ext cx="828000" cy="515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E8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6000" y="28692000"/>
            <a:ext cx="27000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02B46"/>
                </a:solidFill>
                <a:latin typeface="DejaVu Sans"/>
              </a:defRPr>
            </a:pPr>
            <a:r>
              <a:t>Grounding improves embodied reasoning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80000" y="29448000"/>
            <a:ext cx="28116000" cy="0"/>
          </a:xfrm>
          <a:prstGeom prst="line">
            <a:avLst/>
          </a:prstGeom>
          <a:ln w="15240">
            <a:solidFill>
              <a:srgbClr val="D5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080000" y="29844000"/>
            <a:ext cx="252000" cy="252000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76000" y="29808000"/>
            <a:ext cx="604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Embodied-R1 (3B)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44000" y="29844000"/>
            <a:ext cx="252000" cy="252000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40000" y="29808000"/>
            <a:ext cx="604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RoboBrain2.0 (7B)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660000" y="29844000"/>
            <a:ext cx="252000" cy="252000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056000" y="29808000"/>
            <a:ext cx="604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Mimo-Embodied (7B)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076000" y="29844000"/>
            <a:ext cx="252000" cy="25200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472000" y="29808000"/>
            <a:ext cx="604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E87"/>
                </a:solidFill>
                <a:latin typeface="DejaVu Sans"/>
              </a:defRPr>
            </a:pPr>
            <a:r>
              <a:t>RoboPIN (4B)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80000" y="30564000"/>
            <a:ext cx="8064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02B46"/>
                </a:solidFill>
                <a:latin typeface="DejaVu Sans"/>
              </a:defRPr>
            </a:pPr>
            <a:r>
              <a:t>Spatial reasoning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80000" y="31212000"/>
            <a:ext cx="806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13 capability columns · 9 benchmarks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980000" y="35316000"/>
            <a:ext cx="7992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080000" y="35172000"/>
            <a:ext cx="6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980000" y="33624000"/>
            <a:ext cx="7992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080000" y="33480000"/>
            <a:ext cx="6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50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980000" y="31932000"/>
            <a:ext cx="7992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80000" y="31788000"/>
            <a:ext cx="6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76000" y="33542523"/>
            <a:ext cx="1188000" cy="1773476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60000" y="33074523"/>
            <a:ext cx="1620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18334B"/>
                </a:solidFill>
                <a:latin typeface="DejaVu Sans"/>
              </a:defRPr>
            </a:pPr>
            <a:r>
              <a:t>52.4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76000" y="33451416"/>
            <a:ext cx="1188000" cy="1864584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60000" y="32983416"/>
            <a:ext cx="1620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18334B"/>
                </a:solidFill>
                <a:latin typeface="DejaVu Sans"/>
              </a:defRPr>
            </a:pPr>
            <a:r>
              <a:t>55.1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76000" y="33328290"/>
            <a:ext cx="1188000" cy="1987709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60000" y="32860290"/>
            <a:ext cx="1620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18334B"/>
                </a:solidFill>
                <a:latin typeface="DejaVu Sans"/>
              </a:defRPr>
            </a:pPr>
            <a:r>
              <a:t>58.7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76000" y="33015140"/>
            <a:ext cx="1188000" cy="2300859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60000" y="32547140"/>
            <a:ext cx="1620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7E87"/>
                </a:solidFill>
                <a:latin typeface="DejaVu Sans"/>
              </a:defRPr>
            </a:pPr>
            <a:r>
              <a:t>68.0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592000" y="30564000"/>
            <a:ext cx="8064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02B46"/>
                </a:solidFill>
                <a:latin typeface="DejaVu Sans"/>
              </a:defRPr>
            </a:pPr>
            <a:r>
              <a:t>Pointing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592000" y="31212000"/>
            <a:ext cx="806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5 benchmark mean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1592000" y="35316000"/>
            <a:ext cx="7992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0692000" y="35172000"/>
            <a:ext cx="6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1592000" y="33624000"/>
            <a:ext cx="7992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692000" y="33480000"/>
            <a:ext cx="6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50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1592000" y="31932000"/>
            <a:ext cx="7992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0692000" y="31788000"/>
            <a:ext cx="6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988000" y="33096096"/>
            <a:ext cx="1188000" cy="2219904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772000" y="32628096"/>
            <a:ext cx="1620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18334B"/>
                </a:solidFill>
                <a:latin typeface="DejaVu Sans"/>
              </a:defRPr>
            </a:pPr>
            <a:r>
              <a:t>65.6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88000" y="33563088"/>
            <a:ext cx="1188000" cy="1752912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3572000" y="33095088"/>
            <a:ext cx="1620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18334B"/>
                </a:solidFill>
                <a:latin typeface="DejaVu Sans"/>
              </a:defRPr>
            </a:pPr>
            <a:r>
              <a:t>51.8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588000" y="33213859"/>
            <a:ext cx="1188000" cy="2102140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372000" y="32745859"/>
            <a:ext cx="1620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18334B"/>
                </a:solidFill>
                <a:latin typeface="DejaVu Sans"/>
              </a:defRPr>
            </a:pPr>
            <a:r>
              <a:t>62.1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7388000" y="33019617"/>
            <a:ext cx="1188000" cy="2296382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7172000" y="32551617"/>
            <a:ext cx="1620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7E87"/>
                </a:solidFill>
                <a:latin typeface="DejaVu Sans"/>
              </a:defRPr>
            </a:pPr>
            <a:r>
              <a:t>67.9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204000" y="30564000"/>
            <a:ext cx="8064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02B46"/>
                </a:solidFill>
                <a:latin typeface="DejaVu Sans"/>
              </a:defRPr>
            </a:pPr>
            <a:r>
              <a:t>Real-world robots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204000" y="31212000"/>
            <a:ext cx="806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60 executions · 3 tasks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21204000" y="35316000"/>
            <a:ext cx="7992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0304000" y="35172000"/>
            <a:ext cx="6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21204000" y="33624000"/>
            <a:ext cx="7992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20304000" y="33480000"/>
            <a:ext cx="6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50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21204000" y="31932000"/>
            <a:ext cx="7992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0304000" y="31788000"/>
            <a:ext cx="6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456000" y="34848000"/>
            <a:ext cx="1368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66B7C"/>
                </a:solidFill>
                <a:latin typeface="DejaVu Sans"/>
              </a:defRPr>
            </a:pPr>
            <a:r>
              <a:t>n/a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3400000" y="34300800"/>
            <a:ext cx="1188000" cy="1015200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184000" y="33832800"/>
            <a:ext cx="1620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18334B"/>
                </a:solidFill>
                <a:latin typeface="DejaVu Sans"/>
              </a:defRPr>
            </a:pPr>
            <a:r>
              <a:t>30.0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5200000" y="34752000"/>
            <a:ext cx="1188000" cy="564000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4984000" y="34284000"/>
            <a:ext cx="1620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18334B"/>
                </a:solidFill>
                <a:latin typeface="DejaVu Sans"/>
              </a:defRPr>
            </a:pPr>
            <a:r>
              <a:t>16.7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000000" y="32778000"/>
            <a:ext cx="1188000" cy="253800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6784000" y="32310000"/>
            <a:ext cx="1620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7E87"/>
                </a:solidFill>
                <a:latin typeface="DejaVu Sans"/>
              </a:defRPr>
            </a:pPr>
            <a:r>
              <a:t>75.0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80000" y="35748000"/>
            <a:ext cx="28116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66B7C"/>
                </a:solidFill>
                <a:latin typeface="DejaVu Sans"/>
              </a:defRPr>
            </a:pPr>
            <a:r>
              <a:t>Scores (%) · Tables 1–3 / Figure 1. Spatial and pointing: arithmetic means. Robot: overall execution success.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0000" y="36792000"/>
            <a:ext cx="828000" cy="515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E8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96000" y="36720000"/>
            <a:ext cx="27000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02B46"/>
                </a:solidFill>
                <a:latin typeface="DejaVu Sans"/>
              </a:defRPr>
            </a:pPr>
            <a:r>
              <a:t>Reliable execution and consistent entity tracking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080000" y="37476000"/>
            <a:ext cx="28116000" cy="0"/>
          </a:xfrm>
          <a:prstGeom prst="line">
            <a:avLst/>
          </a:prstGeom>
          <a:ln w="15240">
            <a:solidFill>
              <a:srgbClr val="D5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" name="Picture 111" descr="robot-de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000" y="37908000"/>
            <a:ext cx="10800000" cy="3312585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1080000" y="41436000"/>
            <a:ext cx="10800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66B7C"/>
                </a:solidFill>
                <a:latin typeface="DejaVu Sans"/>
              </a:defRPr>
            </a:pPr>
            <a:r>
              <a:t>Zero-shot xArm execution · Figure 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780000" y="37764000"/>
            <a:ext cx="11340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566B7C"/>
                </a:solidFill>
                <a:latin typeface="DejaVu Sans"/>
              </a:defRPr>
            </a:pPr>
            <a:r>
              <a:t>Successful executions / 20 per task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780000" y="38520000"/>
            <a:ext cx="3600000" cy="6398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0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E87"/>
                </a:solidFill>
                <a:latin typeface="DejaVu Sans"/>
              </a:defRPr>
            </a:pPr>
            <a:r>
              <a:t>20 / 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780000" y="39240000"/>
            <a:ext cx="3600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Spatial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668000" y="38520000"/>
            <a:ext cx="3600000" cy="6398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0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E87"/>
                </a:solidFill>
                <a:latin typeface="DejaVu Sans"/>
              </a:defRPr>
            </a:pPr>
            <a:r>
              <a:t>14 / 20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668000" y="39240000"/>
            <a:ext cx="3600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Multi-view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0556000" y="38520000"/>
            <a:ext cx="3600000" cy="6398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0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E87"/>
                </a:solidFill>
                <a:latin typeface="DejaVu Sans"/>
              </a:defRPr>
            </a:pPr>
            <a:r>
              <a:t>11 / 20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556000" y="39240000"/>
            <a:ext cx="3600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Long-horizon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2780000" y="40032000"/>
            <a:ext cx="11340000" cy="1512000"/>
          </a:xfrm>
          <a:prstGeom prst="roundRect">
            <a:avLst>
              <a:gd name="adj" fmla="val 4761"/>
            </a:avLst>
          </a:prstGeom>
          <a:solidFill>
            <a:srgbClr val="ED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3140000" y="40212000"/>
            <a:ext cx="10620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E87"/>
                </a:solidFill>
                <a:latin typeface="DejaVu Sans"/>
              </a:defRPr>
            </a:pPr>
            <a:r>
              <a:t>18.8% → 99.9%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140000" y="40968000"/>
            <a:ext cx="10620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66B7C"/>
                </a:solidFill>
                <a:latin typeface="DejaVu Sans"/>
              </a:defRPr>
            </a:pPr>
            <a:r>
              <a:t>Cross-step ID coverage · w/o RFT → RoboPIN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5812000" y="37764000"/>
            <a:ext cx="338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66B7C"/>
                </a:solidFill>
                <a:latin typeface="DejaVu Sans"/>
              </a:defRPr>
            </a:pPr>
            <a:r>
              <a:t>PAPER / CODE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6064000" y="38412000"/>
            <a:ext cx="2880000" cy="28800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6316000" y="39240000"/>
            <a:ext cx="2376000" cy="829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66B7C"/>
                </a:solidFill>
                <a:latin typeface="DejaVu Sans"/>
              </a:defRPr>
            </a:pPr>
            <a:r>
              <a:t>QR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66B7C"/>
                </a:solidFill>
                <a:latin typeface="DejaVu Sans"/>
              </a:defRPr>
            </a:pPr>
            <a:r>
              <a:t>PLACEHOLDER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080000" y="42048000"/>
            <a:ext cx="28116000" cy="0"/>
          </a:xfrm>
          <a:prstGeom prst="line">
            <a:avLst/>
          </a:prstGeom>
          <a:ln w="15240">
            <a:solidFill>
              <a:srgbClr val="D5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080000" y="42300000"/>
            <a:ext cx="14760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66B7C"/>
                </a:solidFill>
                <a:latin typeface="DejaVu Sans"/>
              </a:defRPr>
            </a:pPr>
            <a:r>
              <a:t>quark404@tju.edu.cn · yuanyf@tju.edu.cn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524000" y="42300000"/>
            <a:ext cx="12672000" cy="422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66B7C"/>
                </a:solidFill>
                <a:latin typeface="DejaVu Sans"/>
              </a:defRPr>
            </a:pPr>
            <a:r>
              <a:t>* Equal contribution † Corresponding authors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