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A0 portrait (841 × 1189 mm), verified against the ACM Multimedia 2026 presenter guidelines. Text, the results table and the training nodes are editable; original paper figures and logos are separate replaceable images. Sections 01 and 02 use the original Figure 1 left comparison and Figure 2 upper data pipeline from the supplied paper. Tables 1–2: selected comparisons only. Table 7: cross-step identity coverage. Robot trial counts follow Table 3 and Section 4.3; the Table 3 caption says 5 trials and requires author confirmation. Conference and Tianjin University logos use unmodified official assets matching the supplied designs on a white header. Only the paper/code QR remains an intentional placeholder. The 12% abstract claim is omitted because the aggregate weighting is not specified. See README.md and SOURCES.md for provenance, editing and build instructions.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76000" cy="633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28000"/>
            <a:ext cx="30276000" cy="108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6000" y="540000"/>
            <a:ext cx="1620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VISUAL GROUNDING × IDENTITY-CONSISTENT REASONING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1116000"/>
            <a:ext cx="15840000" cy="18483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19"/>
              </a:lnSpc>
              <a:spcBef>
                <a:spcPts val="0"/>
              </a:spcBef>
              <a:spcAft>
                <a:spcPts val="0"/>
              </a:spcAft>
              <a:defRPr sz="11000" b="1">
                <a:solidFill>
                  <a:srgbClr val="102B46"/>
                </a:solidFill>
                <a:latin typeface="DejaVu Sans"/>
              </a:defRPr>
            </a:pPr>
            <a:r>
              <a:t>RoboPIN</a:t>
            </a:r>
          </a:p>
        </p:txBody>
      </p:sp>
      <p:pic>
        <p:nvPicPr>
          <p:cNvPr id="7" name="Picture 6" descr="m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8000" y="809052"/>
            <a:ext cx="8640000" cy="1909894"/>
          </a:xfrm>
          <a:prstGeom prst="rect">
            <a:avLst/>
          </a:prstGeom>
        </p:spPr>
      </p:pic>
      <p:pic>
        <p:nvPicPr>
          <p:cNvPr id="8" name="Picture 7" descr="tju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60000" y="409161"/>
            <a:ext cx="2880000" cy="27096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6000" y="2844000"/>
            <a:ext cx="28404000" cy="15628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585"/>
              </a:lnSpc>
              <a:spcBef>
                <a:spcPts val="0"/>
              </a:spcBef>
              <a:spcAft>
                <a:spcPts val="0"/>
              </a:spcAft>
              <a:defRPr sz="4900" b="1">
                <a:solidFill>
                  <a:srgbClr val="102B46"/>
                </a:solidFill>
                <a:latin typeface="DejaVu Sans"/>
              </a:defRPr>
            </a:pPr>
            <a:r>
              <a:t>Grounded Embodied Reasoning</a:t>
            </a:r>
          </a:p>
          <a:p>
            <a:pPr algn="l">
              <a:lnSpc>
                <a:spcPts val="5585"/>
              </a:lnSpc>
              <a:spcBef>
                <a:spcPts val="0"/>
              </a:spcBef>
              <a:spcAft>
                <a:spcPts val="0"/>
              </a:spcAft>
              <a:defRPr sz="4900" b="1">
                <a:solidFill>
                  <a:srgbClr val="102B46"/>
                </a:solidFill>
                <a:latin typeface="DejaVu Sans"/>
              </a:defRPr>
            </a:pPr>
            <a:r>
              <a:t>via Pinned Chain-of-Thought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6000" y="4500000"/>
            <a:ext cx="28404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566B7C"/>
                </a:solidFill>
                <a:latin typeface="DejaVu Sans"/>
              </a:defRPr>
            </a:pPr>
            <a:r>
              <a:t>Yaoting Huang* · Yifu Yuan*† · Linqi Han · Chengwen Li · Shuoheng Zhang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000" y="4968000"/>
            <a:ext cx="28404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566B7C"/>
                </a:solidFill>
                <a:latin typeface="DejaVu Sans"/>
              </a:defRPr>
            </a:pPr>
            <a:r>
              <a:t>Xianze Yao · Hongyao Tang · Yan Zheng · Jianye Hao†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6000" y="5544000"/>
            <a:ext cx="2840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Tianjin University | ACM Multimedia 2026 · Rio de Janeiro, Brazil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6000" y="6768000"/>
            <a:ext cx="6696000" cy="18720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6000" y="6948000"/>
            <a:ext cx="5976000" cy="949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44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007E87"/>
                </a:solidFill>
                <a:latin typeface="DejaVu Sans"/>
              </a:defRPr>
            </a:pPr>
            <a:r>
              <a:t>4B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7956000"/>
            <a:ext cx="597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model parameters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72000" y="6768000"/>
            <a:ext cx="6696000" cy="18720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2000" y="6948000"/>
            <a:ext cx="5976000" cy="949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44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007E87"/>
                </a:solidFill>
                <a:latin typeface="DejaVu Sans"/>
              </a:defRPr>
            </a:pPr>
            <a:r>
              <a:t>170K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2000" y="7956000"/>
            <a:ext cx="597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PinCoT reasoning samples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08000" y="6768000"/>
            <a:ext cx="6696000" cy="18720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768000" y="6948000"/>
            <a:ext cx="5976000" cy="949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44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007E87"/>
                </a:solidFill>
                <a:latin typeface="DejaVu Sans"/>
              </a:defRPr>
            </a:pPr>
            <a: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68000" y="7956000"/>
            <a:ext cx="597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evaluation benchmarks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644000" y="6768000"/>
            <a:ext cx="6696000" cy="18720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004000" y="6948000"/>
            <a:ext cx="5976000" cy="9496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44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007E87"/>
                </a:solidFill>
                <a:latin typeface="DejaVu Sans"/>
              </a:defRPr>
            </a:pPr>
            <a:r>
              <a:t>+35.4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04000" y="7956000"/>
            <a:ext cx="597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CrossPoint vs. Mimo-7B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6000" y="9144000"/>
            <a:ext cx="28404000" cy="972000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512000" y="9612000"/>
            <a:ext cx="540000" cy="540000"/>
          </a:xfrm>
          <a:prstGeom prst="roundRect">
            <a:avLst>
              <a:gd name="adj" fmla="val 13333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12000" y="9691200"/>
            <a:ext cx="5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68000" y="9648000"/>
            <a:ext cx="26604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8334B"/>
                </a:solidFill>
                <a:latin typeface="DejaVu Sans"/>
              </a:defRPr>
            </a:pPr>
            <a:r>
              <a:t>One entity. One persistent identity.</a:t>
            </a:r>
          </a:p>
        </p:txBody>
      </p:sp>
      <p:pic>
        <p:nvPicPr>
          <p:cNvPr id="29" name="Picture 28" descr="figure-1-cot-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2000" y="10548000"/>
            <a:ext cx="14904000" cy="803643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88000" y="10728000"/>
            <a:ext cx="11016000" cy="11666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007E87"/>
                </a:solidFill>
                <a:latin typeface="DejaVu Sans"/>
              </a:defRPr>
            </a:pPr>
            <a:r>
              <a:t>Ground reasoning in</a:t>
            </a:r>
          </a:p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007E87"/>
                </a:solidFill>
                <a:latin typeface="DejaVu Sans"/>
              </a:defRPr>
            </a:pPr>
            <a:r>
              <a:t>persistent visual anchors.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88000" y="12276000"/>
            <a:ext cx="11016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Text CoT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88000" y="12852000"/>
            <a:ext cx="11016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566B7C"/>
                </a:solidFill>
                <a:latin typeface="DejaVu Sans"/>
              </a:defRPr>
            </a:pPr>
            <a:r>
              <a:t>Implicit entity references can drift.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88000" y="13752000"/>
            <a:ext cx="11016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Coordinate CoT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88000" y="14328000"/>
            <a:ext cx="11016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566B7C"/>
                </a:solidFill>
                <a:latin typeface="DejaVu Sans"/>
              </a:defRPr>
            </a:pPr>
            <a:r>
              <a:t>Spatial coordinates alone do not preserve identity.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88000" y="15444000"/>
            <a:ext cx="11016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PinCoT / ours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388000" y="16020000"/>
            <a:ext cx="11016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566B7C"/>
                </a:solidFill>
                <a:latin typeface="DejaVu Sans"/>
              </a:defRPr>
            </a:pPr>
            <a:r>
              <a:t>Bind every step to an explicit, trackable entity.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388000" y="17316000"/>
            <a:ext cx="11016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Name + ID + view + point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88000" y="17964000"/>
            <a:ext cx="11016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66B7C"/>
                </a:solidFill>
                <a:latin typeface="DejaVu Sans"/>
              </a:defRPr>
            </a:pPr>
            <a:r>
              <a:t>Original comparison: paper Figure 1 (left).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6000" y="19368000"/>
            <a:ext cx="28404000" cy="8604000"/>
          </a:xfrm>
          <a:prstGeom prst="roundRect">
            <a:avLst>
              <a:gd name="adj" fmla="val 167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12000" y="19836000"/>
            <a:ext cx="540000" cy="540000"/>
          </a:xfrm>
          <a:prstGeom prst="roundRect">
            <a:avLst>
              <a:gd name="adj" fmla="val 13333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12000" y="19915200"/>
            <a:ext cx="5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68000" y="19872000"/>
            <a:ext cx="26604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8334B"/>
                </a:solidFill>
                <a:latin typeface="DejaVu Sans"/>
              </a:defRPr>
            </a:pPr>
            <a:r>
              <a:t>From data to RoboPIN</a:t>
            </a:r>
          </a:p>
        </p:txBody>
      </p:sp>
      <p:pic>
        <p:nvPicPr>
          <p:cNvPr id="43" name="Picture 42" descr="figure-2-data-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0000" y="20628000"/>
            <a:ext cx="25200000" cy="56214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512000" y="26568000"/>
            <a:ext cx="6048000" cy="842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Three-stage</a:t>
            </a:r>
          </a:p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post-training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00000" y="26460000"/>
            <a:ext cx="6444000" cy="1080000"/>
          </a:xfrm>
          <a:prstGeom prst="roundRect">
            <a:avLst>
              <a:gd name="adj" fmla="val 6666"/>
            </a:avLst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44000" y="26568000"/>
            <a:ext cx="6156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SFT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44000" y="27072000"/>
            <a:ext cx="615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Embodied knowledge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4652000" y="27000000"/>
            <a:ext cx="360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4868000" y="26892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4868000" y="27000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15120000" y="26460000"/>
            <a:ext cx="6444000" cy="1080000"/>
          </a:xfrm>
          <a:prstGeom prst="roundRect">
            <a:avLst>
              <a:gd name="adj" fmla="val 6666"/>
            </a:avLst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5264000" y="26568000"/>
            <a:ext cx="6156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CoT-SFT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64000" y="27072000"/>
            <a:ext cx="615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Structured reasoning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1672000" y="27000000"/>
            <a:ext cx="360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1888000" y="26892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1888000" y="27000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22140000" y="26460000"/>
            <a:ext cx="6444000" cy="1080000"/>
          </a:xfrm>
          <a:prstGeom prst="roundRect">
            <a:avLst>
              <a:gd name="adj" fmla="val 6666"/>
            </a:avLst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2284000" y="26568000"/>
            <a:ext cx="6156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RFT / GRPO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284000" y="27072000"/>
            <a:ext cx="615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DejaVu Sans"/>
              </a:defRPr>
            </a:pPr>
            <a:r>
              <a:t>Process alignment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36000" y="28476000"/>
            <a:ext cx="13824000" cy="9000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512000" y="28944000"/>
            <a:ext cx="540000" cy="540000"/>
          </a:xfrm>
          <a:prstGeom prst="roundRect">
            <a:avLst>
              <a:gd name="adj" fmla="val 13333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12000" y="29023200"/>
            <a:ext cx="5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68000" y="28980000"/>
            <a:ext cx="11916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8334B"/>
                </a:solidFill>
                <a:latin typeface="DejaVu Sans"/>
              </a:defRPr>
            </a:pPr>
            <a:r>
              <a:t>Results &amp; process analysis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12000" y="29880000"/>
            <a:ext cx="12672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RoboPIN 4B vs. Mimo-Embodied 7B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512000" y="30528000"/>
            <a:ext cx="12672000" cy="756000"/>
          </a:xfrm>
          <a:prstGeom prst="roundRect">
            <a:avLst>
              <a:gd name="adj" fmla="val 4761"/>
            </a:avLst>
          </a:prstGeom>
          <a:solidFill>
            <a:srgbClr val="10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728000" y="30708000"/>
            <a:ext cx="522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Benchmark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56000" y="30708000"/>
            <a:ext cx="1944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7B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52000" y="30708000"/>
            <a:ext cx="2196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4B / ours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952000" y="30708000"/>
            <a:ext cx="2052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Δ pp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12000" y="31356000"/>
            <a:ext cx="12672000" cy="64800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728000" y="31464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EmbSpatial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56000" y="31464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76.2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52000" y="31464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83.1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952000" y="31464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+6.9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28000" y="32112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RoboSpatial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56000" y="32112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61.8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52000" y="32112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66.6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952000" y="32112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+4.8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512000" y="32652000"/>
            <a:ext cx="12672000" cy="648000"/>
          </a:xfrm>
          <a:prstGeom prst="rect">
            <a:avLst/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728000" y="32760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8334B"/>
                </a:solidFill>
                <a:latin typeface="DejaVu Sans"/>
              </a:defRPr>
            </a:pPr>
            <a:r>
              <a:t>CrossPoint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56000" y="32760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36.8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52000" y="32760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72.2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952000" y="32760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+35.4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28000" y="33408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BLINK · multi-view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56000" y="33408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26.3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252000" y="33408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72.9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952000" y="33408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+46.6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512000" y="33948000"/>
            <a:ext cx="12672000" cy="64800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728000" y="34056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RoboRefit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56000" y="34056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82.3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252000" y="34056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89.0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952000" y="34056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+6.7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728000" y="34704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RoboAfford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56000" y="34704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69.8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252000" y="34704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72.8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952000" y="34704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+3.0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12000" y="35460000"/>
            <a:ext cx="12672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66B7C"/>
                </a:solidFill>
                <a:latin typeface="DejaVu Sans"/>
              </a:defRPr>
            </a:pPr>
            <a:r>
              <a:t>Selected results, Tables 1–2; Δ in percentage points.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512000" y="36036000"/>
            <a:ext cx="12672000" cy="1008000"/>
          </a:xfrm>
          <a:prstGeom prst="roundRect">
            <a:avLst>
              <a:gd name="adj" fmla="val 7142"/>
            </a:avLst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800000" y="36144000"/>
            <a:ext cx="12096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Cross-step ID coverage: 18.8% → 99.9%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800000" y="36648000"/>
            <a:ext cx="12096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66B7C"/>
                </a:solidFill>
                <a:latin typeface="DejaVu Sans"/>
              </a:defRPr>
            </a:pPr>
            <a:r>
              <a:t>Without RFT → RoboPIN · EmbSpatial, Table 7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5516000" y="28476000"/>
            <a:ext cx="13824000" cy="9000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16092000" y="29016000"/>
            <a:ext cx="540000" cy="540000"/>
          </a:xfrm>
          <a:prstGeom prst="roundRect">
            <a:avLst>
              <a:gd name="adj" fmla="val 13333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6092000" y="29095200"/>
            <a:ext cx="5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04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6848000" y="29052000"/>
            <a:ext cx="11916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8334B"/>
                </a:solidFill>
                <a:latin typeface="DejaVu Sans"/>
              </a:defRPr>
            </a:pPr>
            <a:r>
              <a:t>Zero-shot robot transfer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092000" y="29880000"/>
            <a:ext cx="12672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xArm · static + wrist RGB cameras</a:t>
            </a:r>
          </a:p>
        </p:txBody>
      </p:sp>
      <p:pic>
        <p:nvPicPr>
          <p:cNvPr id="106" name="Picture 105" descr="robot-dem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92000" y="30600000"/>
            <a:ext cx="12672000" cy="388800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16092000" y="34776000"/>
            <a:ext cx="12672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566B7C"/>
                </a:solidFill>
                <a:latin typeface="DejaVu Sans"/>
              </a:defRPr>
            </a:pPr>
            <a:r>
              <a:t>Successful executions / 20 per task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6092000" y="35424000"/>
            <a:ext cx="3888000" cy="686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27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007E87"/>
                </a:solidFill>
                <a:latin typeface="DejaVu Sans"/>
              </a:defRPr>
            </a:pPr>
            <a:r>
              <a:t>20 / 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6092000" y="36180000"/>
            <a:ext cx="3888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Spatial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0484000" y="35424000"/>
            <a:ext cx="3888000" cy="686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27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007E87"/>
                </a:solidFill>
                <a:latin typeface="DejaVu Sans"/>
              </a:defRPr>
            </a:pPr>
            <a:r>
              <a:t>14 / 20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484000" y="36180000"/>
            <a:ext cx="3888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Multi-view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4876000" y="35424000"/>
            <a:ext cx="3888000" cy="686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27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007E87"/>
                </a:solidFill>
                <a:latin typeface="DejaVu Sans"/>
              </a:defRPr>
            </a:pPr>
            <a:r>
              <a:t>11 / 20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4876000" y="36180000"/>
            <a:ext cx="3888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Long-horizon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6092000" y="36900000"/>
            <a:ext cx="12672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66B7C"/>
                </a:solidFill>
                <a:latin typeface="DejaVu Sans"/>
              </a:defRPr>
            </a:pPr>
            <a:r>
              <a:t>Paper Figure 3 and Table 3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936000" y="37980000"/>
            <a:ext cx="28404000" cy="3888000"/>
          </a:xfrm>
          <a:prstGeom prst="roundRect">
            <a:avLst>
              <a:gd name="adj" fmla="val 3703"/>
            </a:avLst>
          </a:prstGeom>
          <a:solidFill>
            <a:srgbClr val="10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512000" y="38448000"/>
            <a:ext cx="22284000" cy="701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392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DejaVu Sans"/>
              </a:defRPr>
            </a:pPr>
            <a:r>
              <a:t>Ground every step. Preserve every identity.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512000" y="39240000"/>
            <a:ext cx="22284000" cy="9806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DAE7EF"/>
                </a:solidFill>
                <a:latin typeface="DejaVu Sans"/>
              </a:defRPr>
            </a:pPr>
            <a:r>
              <a:t>PinCoT makes visual evidence trackable across reasoning steps</a:t>
            </a:r>
          </a:p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DAE7EF"/>
                </a:solidFill>
                <a:latin typeface="DejaVu Sans"/>
              </a:defRPr>
            </a:pPr>
            <a:r>
              <a:t>and viewpoints, supporting reliable embodied decisions.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512000" y="40464000"/>
            <a:ext cx="22284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87DCD1"/>
                </a:solidFill>
                <a:latin typeface="DejaVu Sans"/>
              </a:defRPr>
            </a:pPr>
            <a:r>
              <a:t>Contact: quark404@tju.edu.cn | yuanyf@tju.edu.cn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512000" y="41076000"/>
            <a:ext cx="22284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DAE7EF"/>
                </a:solidFill>
                <a:latin typeface="DejaVu Sans"/>
              </a:defRPr>
            </a:pPr>
            <a:r>
              <a:t>* Equal contribution † Corresponding authors: Yifu Yuan, Jianye Hao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5812000" y="38556000"/>
            <a:ext cx="2808000" cy="2808000"/>
          </a:xfrm>
          <a:prstGeom prst="roundRect">
            <a:avLst>
              <a:gd name="adj" fmla="val 2564"/>
            </a:avLst>
          </a:prstGeom>
          <a:solidFill>
            <a:srgbClr val="1C3B56"/>
          </a:solidFill>
          <a:ln w="12700">
            <a:solidFill>
              <a:srgbClr val="55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6028000" y="39240000"/>
            <a:ext cx="2376000" cy="12641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D8E5ED"/>
                </a:solidFill>
                <a:latin typeface="DejaVu Sans"/>
              </a:defRPr>
            </a:pPr>
            <a:r>
              <a:t>PAPER / CODE</a:t>
            </a:r>
          </a:p>
          <a:p>
            <a:pPr algn="ctr"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D8E5ED"/>
                </a:solidFill>
                <a:latin typeface="DejaVu Sans"/>
              </a:defRPr>
            </a:pPr>
            <a:r>
              <a:t>QR</a:t>
            </a:r>
          </a:p>
          <a:p>
            <a:pPr algn="ctr"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D8E5ED"/>
                </a:solidFill>
                <a:latin typeface="DejaVu Sans"/>
              </a:defRPr>
            </a:pPr>
            <a:r>
              <a:t>PLACEHOLDER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