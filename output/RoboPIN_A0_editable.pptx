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A0 portrait 841 × 1189 mm. HTML/CSS and native PowerPoint share the same layout. Performance is the untouched plot cropped from paper Figure 1. Robot visualization includes all three rows of Figure 3. Reward ablation: Table 5, controlled EmbSpatial setting (84.7 / 82.0 / 82.7). Cumulative training: Table 6, Spatial 57.0 / 62.0 / 67.7, Point 66.0 / 63.6 / 67.9. The controlled ablation averages are distinct from the headline results; Point does not improve monotonically. No cross-step coverage panel. Text and ablation tables are editable; paper images and logos are replaceable pictures. Trial-count discrepancy in the source caption remains documented in SOURCES.md. QR is a placeholder.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io-wave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0276000" cy="4280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000" y="360000"/>
            <a:ext cx="19800000" cy="187932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63"/>
              </a:lnSpc>
              <a:spcBef>
                <a:spcPts val="0"/>
              </a:spcBef>
              <a:spcAft>
                <a:spcPts val="0"/>
              </a:spcAft>
              <a:defRPr sz="11200" b="1">
                <a:solidFill>
                  <a:srgbClr val="00576B"/>
                </a:solidFill>
                <a:latin typeface="DejaVu Sans"/>
              </a:defRPr>
            </a:pPr>
            <a:r>
              <a:t>RoboPIN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000" y="2052000"/>
            <a:ext cx="21240000" cy="1122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102B46"/>
                </a:solidFill>
                <a:latin typeface="DejaVu Sans"/>
              </a:defRPr>
            </a:pPr>
            <a:r>
              <a:t>Grounded Embodied Reasoning</a:t>
            </a:r>
          </a:p>
          <a:p>
            <a:pPr algn="l">
              <a:lnSpc>
                <a:spcPts val="3852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102B46"/>
                </a:solidFill>
                <a:latin typeface="DejaVu Sans"/>
              </a:defRPr>
            </a:pPr>
            <a:r>
              <a:t>via Pinned Chain-of-Thought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" y="3276000"/>
            <a:ext cx="21960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334B"/>
                </a:solidFill>
                <a:latin typeface="DejaVu Sans"/>
              </a:defRPr>
            </a:pPr>
            <a:r>
              <a:t>Yaoting Huang* · Yifu Yuan*† · Linqi Han · Chengwen Li · Shuoheng Zhang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000" y="3744000"/>
            <a:ext cx="21960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334B"/>
                </a:solidFill>
                <a:latin typeface="DejaVu Sans"/>
              </a:defRPr>
            </a:pPr>
            <a:r>
              <a:t>Xianze Yao · Hongyao Tang · Yan Zheng · Jianye Hao†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000" y="4320000"/>
            <a:ext cx="22032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07E87"/>
                </a:solidFill>
                <a:latin typeface="DejaVu Sans"/>
              </a:defRPr>
            </a:pPr>
            <a:r>
              <a:t>Tianjin University · ACM Multimedia 2026 · Rio de Janeiro, Brazil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000" y="4860000"/>
            <a:ext cx="22032000" cy="422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66B7C"/>
                </a:solidFill>
                <a:latin typeface="DejaVu Sans"/>
              </a:defRPr>
            </a:pPr>
            <a:r>
              <a:t>quark404@tju.edu.cn · yuanyf@tju.edu.cn | * Equal contribution † Corresponding authors</a:t>
            </a:r>
          </a:p>
        </p:txBody>
      </p:sp>
      <p:pic>
        <p:nvPicPr>
          <p:cNvPr id="10" name="Picture 9" descr="mm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14857" y="576000"/>
            <a:ext cx="7654285" cy="1692000"/>
          </a:xfrm>
          <a:prstGeom prst="rect">
            <a:avLst/>
          </a:prstGeom>
        </p:spPr>
      </p:pic>
      <p:pic>
        <p:nvPicPr>
          <p:cNvPr id="11" name="Picture 10" descr="tju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92000" y="2696129"/>
            <a:ext cx="2304000" cy="2167741"/>
          </a:xfrm>
          <a:prstGeom prst="ellipse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5848000" y="3240000"/>
            <a:ext cx="39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02B46"/>
                </a:solidFill>
                <a:latin typeface="DejaVu Sans"/>
              </a:defRPr>
            </a:pPr>
            <a:r>
              <a:t>Tianjin University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000" y="5508000"/>
            <a:ext cx="15624000" cy="11808000"/>
          </a:xfrm>
          <a:prstGeom prst="roundRect">
            <a:avLst>
              <a:gd name="adj" fmla="val 3048"/>
            </a:avLst>
          </a:prstGeom>
          <a:solidFill>
            <a:srgbClr val="FFFFFF"/>
          </a:solidFill>
          <a:ln w="12700">
            <a:solidFill>
              <a:srgbClr val="BDE5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4000" y="5508000"/>
            <a:ext cx="15624000" cy="15480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00798B"/>
              </a:gs>
              <a:gs pos="100000">
                <a:srgbClr val="12A58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9200" y="6696000"/>
            <a:ext cx="15573600" cy="10594800"/>
          </a:xfrm>
          <a:prstGeom prst="roundRect">
            <a:avLst>
              <a:gd name="adj" fmla="val 339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2000" y="5760000"/>
            <a:ext cx="14544000" cy="6707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DejaVu Sans"/>
              </a:defRPr>
            </a:pPr>
            <a:r>
              <a:t>Motivation</a:t>
            </a:r>
          </a:p>
        </p:txBody>
      </p:sp>
      <p:pic>
        <p:nvPicPr>
          <p:cNvPr id="17" name="Picture 16" descr="figure-1-cot-comparis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4000" y="7020000"/>
            <a:ext cx="13824000" cy="7454085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36000" y="14868000"/>
            <a:ext cx="14760000" cy="972000"/>
          </a:xfrm>
          <a:prstGeom prst="roundRect">
            <a:avLst>
              <a:gd name="adj" fmla="val 14814"/>
            </a:avLst>
          </a:prstGeom>
          <a:gradFill rotWithShape="1">
            <a:gsLst>
              <a:gs pos="0">
                <a:srgbClr val="EFF8FA"/>
              </a:gs>
              <a:gs pos="100000">
                <a:srgbClr val="F4F9FB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24000" y="15030000"/>
            <a:ext cx="648000" cy="648000"/>
          </a:xfrm>
          <a:prstGeom prst="ellipse">
            <a:avLst/>
          </a:prstGeom>
          <a:solidFill>
            <a:srgbClr val="007E87"/>
          </a:solidFill>
          <a:ln w="38100">
            <a:solidFill>
              <a:srgbClr val="007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24000" y="15048000"/>
            <a:ext cx="64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FFFFFF"/>
                </a:solidFill>
                <a:latin typeface="DejaVu Sans"/>
              </a:defRPr>
            </a:pPr>
            <a: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32000" y="14940000"/>
            <a:ext cx="12996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Reference drift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2000" y="15480000"/>
            <a:ext cx="12996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8334B"/>
                </a:solidFill>
                <a:latin typeface="DejaVu Sans"/>
              </a:defRPr>
            </a:pPr>
            <a:r>
              <a:t>Entity references can switch between similar objects across reasoning steps.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6000" y="16020000"/>
            <a:ext cx="14760000" cy="972000"/>
          </a:xfrm>
          <a:prstGeom prst="roundRect">
            <a:avLst>
              <a:gd name="adj" fmla="val 14814"/>
            </a:avLst>
          </a:prstGeom>
          <a:gradFill rotWithShape="1">
            <a:gsLst>
              <a:gs pos="0">
                <a:srgbClr val="EFF8FA"/>
              </a:gs>
              <a:gs pos="100000">
                <a:srgbClr val="F4F9FB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224000" y="16182000"/>
            <a:ext cx="648000" cy="648000"/>
          </a:xfrm>
          <a:prstGeom prst="ellipse">
            <a:avLst/>
          </a:prstGeom>
          <a:solidFill>
            <a:srgbClr val="007E87"/>
          </a:solidFill>
          <a:ln w="38100">
            <a:solidFill>
              <a:srgbClr val="007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24000" y="16200000"/>
            <a:ext cx="64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FFFFFF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32000" y="16092000"/>
            <a:ext cx="12996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Reasoning–answer misalignment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32000" y="16632000"/>
            <a:ext cx="12996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8334B"/>
                </a:solidFill>
                <a:latin typeface="DejaVu Sans"/>
              </a:defRPr>
            </a:pPr>
            <a:r>
              <a:t>The final answer can point to a different entity from the one analyzed.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416000" y="5508000"/>
            <a:ext cx="13356000" cy="11808000"/>
          </a:xfrm>
          <a:prstGeom prst="roundRect">
            <a:avLst>
              <a:gd name="adj" fmla="val 3048"/>
            </a:avLst>
          </a:prstGeom>
          <a:solidFill>
            <a:srgbClr val="FFFFFF"/>
          </a:solidFill>
          <a:ln w="12700">
            <a:solidFill>
              <a:srgbClr val="BDE5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6416000" y="5508000"/>
            <a:ext cx="13356000" cy="15480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00798B"/>
              </a:gs>
              <a:gs pos="100000">
                <a:srgbClr val="12A58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6441200" y="6696000"/>
            <a:ext cx="13305600" cy="10594800"/>
          </a:xfrm>
          <a:prstGeom prst="roundRect">
            <a:avLst>
              <a:gd name="adj" fmla="val 339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064000" y="5760000"/>
            <a:ext cx="12276000" cy="6398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4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DejaVu Sans"/>
              </a:defRPr>
            </a:pPr>
            <a:r>
              <a:t>Key Insight: Persistent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884000" y="7128000"/>
            <a:ext cx="5328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E87"/>
                </a:solidFill>
                <a:latin typeface="DejaVu Sans"/>
              </a:defRPr>
            </a:pPr>
            <a:r>
              <a:t>VIEW 0</a:t>
            </a:r>
          </a:p>
        </p:txBody>
      </p:sp>
      <p:pic>
        <p:nvPicPr>
          <p:cNvPr id="33" name="Picture 32" descr="view-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884000" y="7704000"/>
            <a:ext cx="5328000" cy="4068000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20125152" y="9910367"/>
            <a:ext cx="273600" cy="273600"/>
          </a:xfrm>
          <a:prstGeom prst="ellipse">
            <a:avLst/>
          </a:prstGeom>
          <a:solidFill>
            <a:srgbClr val="007E87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7064000" y="7884000"/>
            <a:ext cx="2484000" cy="468000"/>
          </a:xfrm>
          <a:prstGeom prst="roundRect">
            <a:avLst>
              <a:gd name="adj" fmla="val 7692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36000" y="7920000"/>
            <a:ext cx="2340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obj_01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940000" y="7128000"/>
            <a:ext cx="5328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E87"/>
                </a:solidFill>
                <a:latin typeface="DejaVu Sans"/>
              </a:defRPr>
            </a:pPr>
            <a:r>
              <a:t>VIEW 1</a:t>
            </a:r>
          </a:p>
        </p:txBody>
      </p:sp>
      <p:pic>
        <p:nvPicPr>
          <p:cNvPr id="38" name="Picture 37" descr="view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940000" y="7704000"/>
            <a:ext cx="5328000" cy="406800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28300032" y="10439208"/>
            <a:ext cx="273600" cy="273600"/>
          </a:xfrm>
          <a:prstGeom prst="ellipse">
            <a:avLst/>
          </a:prstGeom>
          <a:solidFill>
            <a:srgbClr val="007E87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4120000" y="7884000"/>
            <a:ext cx="2484000" cy="468000"/>
          </a:xfrm>
          <a:prstGeom prst="roundRect">
            <a:avLst>
              <a:gd name="adj" fmla="val 7692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192000" y="7920000"/>
            <a:ext cx="2340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obj_01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2572000" y="9684000"/>
            <a:ext cx="936000" cy="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3364000" y="9576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3364000" y="9684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16848000" y="12132000"/>
            <a:ext cx="12492000" cy="2196000"/>
          </a:xfrm>
          <a:prstGeom prst="roundRect">
            <a:avLst>
              <a:gd name="adj" fmla="val 8196"/>
            </a:avLst>
          </a:prstGeom>
          <a:gradFill rotWithShape="1">
            <a:gsLst>
              <a:gs pos="0">
                <a:srgbClr val="EDF8FA"/>
              </a:gs>
              <a:gs pos="100000">
                <a:srgbClr val="F3F8FB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7244000" y="12420000"/>
            <a:ext cx="11700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Same entity. Same ID. Different views.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244000" y="13176000"/>
            <a:ext cx="11700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8334B"/>
                </a:solidFill>
                <a:latin typeface="DejaVu Sans"/>
              </a:defRPr>
            </a:pPr>
            <a:r>
              <a:t>Anchor = name + ID + view + point.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244000" y="13860000"/>
            <a:ext cx="11700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8334B"/>
                </a:solidFill>
                <a:latin typeface="DejaVu Sans"/>
              </a:defRPr>
            </a:pPr>
            <a:r>
              <a:t>Keep identity stable across steps and viewpoints.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6848000" y="14616000"/>
            <a:ext cx="9504000" cy="2340000"/>
          </a:xfrm>
          <a:prstGeom prst="roundRect">
            <a:avLst>
              <a:gd name="adj" fmla="val 7692"/>
            </a:avLst>
          </a:prstGeom>
          <a:gradFill rotWithShape="1">
            <a:gsLst>
              <a:gs pos="0">
                <a:srgbClr val="EDF8F3"/>
              </a:gs>
              <a:gs pos="100000">
                <a:srgbClr val="F4FAF7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7280000" y="14904000"/>
            <a:ext cx="8640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Our insight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280000" y="15696000"/>
            <a:ext cx="8640000" cy="856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334B"/>
                </a:solidFill>
                <a:latin typeface="DejaVu Sans"/>
              </a:defRPr>
            </a:pPr>
            <a:r>
              <a:t>Persistent IDs connect visual evidence, intermediate steps</a:t>
            </a:r>
          </a:p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334B"/>
                </a:solidFill>
                <a:latin typeface="DejaVu Sans"/>
              </a:defRPr>
            </a:pPr>
            <a:r>
              <a:t>and the final answer.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856000" y="14652000"/>
            <a:ext cx="2520000" cy="2160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2700">
            <a:solidFill>
              <a:srgbClr val="D5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36000" y="15480000"/>
            <a:ext cx="2160000" cy="705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566B7C"/>
                </a:solidFill>
                <a:latin typeface="DejaVu Sans"/>
              </a:defRPr>
            </a:pPr>
            <a:r>
              <a:t>QR</a:t>
            </a:r>
          </a:p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566B7C"/>
                </a:solidFill>
                <a:latin typeface="DejaVu Sans"/>
              </a:defRPr>
            </a:pPr>
            <a:r>
              <a:t>PLACEHOLDER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712000" y="16920000"/>
            <a:ext cx="2808000" cy="4073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074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02B46"/>
                </a:solidFill>
                <a:latin typeface="DejaVu Sans"/>
              </a:defRPr>
            </a:pPr>
            <a:r>
              <a:t>PAPER / CODE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4000" y="17676000"/>
            <a:ext cx="29268000" cy="8424000"/>
          </a:xfrm>
          <a:prstGeom prst="roundRect">
            <a:avLst>
              <a:gd name="adj" fmla="val 4273"/>
            </a:avLst>
          </a:prstGeom>
          <a:solidFill>
            <a:srgbClr val="FFFFFF"/>
          </a:solidFill>
          <a:ln w="12700">
            <a:solidFill>
              <a:srgbClr val="BDE5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4000" y="17676000"/>
            <a:ext cx="29268000" cy="15480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00798B"/>
              </a:gs>
              <a:gs pos="100000">
                <a:srgbClr val="12A58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29200" y="18864000"/>
            <a:ext cx="29217600" cy="7210800"/>
          </a:xfrm>
          <a:prstGeom prst="roundRect">
            <a:avLst>
              <a:gd name="adj" fmla="val 499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52000" y="17928000"/>
            <a:ext cx="28188000" cy="6707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DejaVu Sans"/>
              </a:defRPr>
            </a:pPr>
            <a:r>
              <a:t>Our Method: RoboPIN / PinCoT</a:t>
            </a:r>
          </a:p>
        </p:txBody>
      </p:sp>
      <p:pic>
        <p:nvPicPr>
          <p:cNvPr id="59" name="Picture 58" descr="figure-2-data-pipelin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20000" y="19152000"/>
            <a:ext cx="25200000" cy="562144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332000" y="25056000"/>
            <a:ext cx="4932000" cy="842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Three-stage</a:t>
            </a:r>
          </a:p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post-training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840000" y="24912000"/>
            <a:ext cx="6696000" cy="1008000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E1F5F6"/>
              </a:gs>
              <a:gs pos="100000">
                <a:srgbClr val="EEF9FA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84000" y="24984000"/>
            <a:ext cx="640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SFT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84000" y="25488000"/>
            <a:ext cx="6408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8334B"/>
                </a:solidFill>
                <a:latin typeface="DejaVu Sans"/>
              </a:defRPr>
            </a:pPr>
            <a:r>
              <a:t>Embodied knowledge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3752000" y="25416000"/>
            <a:ext cx="540000" cy="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4148000" y="25308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4148000" y="25416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14508000" y="24912000"/>
            <a:ext cx="6696000" cy="1008000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E1F5F6"/>
              </a:gs>
              <a:gs pos="100000">
                <a:srgbClr val="EEF9FA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4652000" y="24984000"/>
            <a:ext cx="640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CoT-SFT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652000" y="25488000"/>
            <a:ext cx="6408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8334B"/>
                </a:solidFill>
                <a:latin typeface="DejaVu Sans"/>
              </a:defRPr>
            </a:pPr>
            <a:r>
              <a:t>Structured reasoning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21420000" y="25416000"/>
            <a:ext cx="540000" cy="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1816000" y="25308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1816000" y="25416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22464000" y="24912000"/>
            <a:ext cx="6696000" cy="1008000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E1F5F6"/>
              </a:gs>
              <a:gs pos="100000">
                <a:srgbClr val="EEF9FA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2608000" y="24984000"/>
            <a:ext cx="640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RFT / GRPO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608000" y="25488000"/>
            <a:ext cx="6408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8334B"/>
                </a:solidFill>
                <a:latin typeface="DejaVu Sans"/>
              </a:defRPr>
            </a:pPr>
            <a:r>
              <a:t>Process alignment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04000" y="26460000"/>
            <a:ext cx="14400000" cy="15120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BDE5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04000" y="26460000"/>
            <a:ext cx="14400000" cy="15480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00798B"/>
              </a:gs>
              <a:gs pos="100000">
                <a:srgbClr val="12A58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529200" y="27648000"/>
            <a:ext cx="14349600" cy="13906800"/>
          </a:xfrm>
          <a:prstGeom prst="roundRect">
            <a:avLst>
              <a:gd name="adj" fmla="val 258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52000" y="26712000"/>
            <a:ext cx="13320000" cy="6553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26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FFFFFF"/>
                </a:solidFill>
                <a:latin typeface="DejaVu Sans"/>
              </a:defRPr>
            </a:pPr>
            <a:r>
              <a:t>Experimental Results</a:t>
            </a:r>
          </a:p>
        </p:txBody>
      </p:sp>
      <p:pic>
        <p:nvPicPr>
          <p:cNvPr id="80" name="Picture 79" descr="performance-origin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4000" y="28044000"/>
            <a:ext cx="12960000" cy="8275061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36000" y="36756000"/>
            <a:ext cx="13536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007E87"/>
                </a:solidFill>
                <a:latin typeface="DejaVu Sans"/>
              </a:defRPr>
            </a:pPr>
            <a:r>
              <a:t>Ablation studies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36000" y="37584000"/>
            <a:ext cx="6444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02B46"/>
                </a:solidFill>
                <a:latin typeface="DejaVu Sans"/>
              </a:defRPr>
            </a:pPr>
            <a:r>
              <a:t>Reward design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992000" y="37584000"/>
            <a:ext cx="6480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02B46"/>
                </a:solidFill>
                <a:latin typeface="DejaVu Sans"/>
              </a:defRPr>
            </a:pPr>
            <a:r>
              <a:t>Training stages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36000" y="38160000"/>
            <a:ext cx="6408000" cy="540000"/>
          </a:xfrm>
          <a:prstGeom prst="roundRect">
            <a:avLst>
              <a:gd name="adj" fmla="val 13333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7992000" y="38160000"/>
            <a:ext cx="6480000" cy="540000"/>
          </a:xfrm>
          <a:prstGeom prst="roundRect">
            <a:avLst>
              <a:gd name="adj" fmla="val 13333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16000" y="38268000"/>
            <a:ext cx="4032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8334B"/>
                </a:solidFill>
                <a:latin typeface="DejaVu Sans"/>
              </a:defRPr>
            </a:pPr>
            <a:r>
              <a:t>Setting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328000" y="38268000"/>
            <a:ext cx="1836000" cy="4073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074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34B"/>
                </a:solidFill>
                <a:latin typeface="DejaVu Sans"/>
              </a:defRPr>
            </a:pPr>
            <a:r>
              <a:t>EmbSpatial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172000" y="38268000"/>
            <a:ext cx="2520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8334B"/>
                </a:solidFill>
                <a:latin typeface="DejaVu Sans"/>
              </a:defRPr>
            </a:pPr>
            <a:r>
              <a:t>Stage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764000" y="38268000"/>
            <a:ext cx="1620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8334B"/>
                </a:solidFill>
                <a:latin typeface="DejaVu Sans"/>
              </a:defRPr>
            </a:pPr>
            <a:r>
              <a:t>Spatial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2636000" y="38268000"/>
            <a:ext cx="1656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8334B"/>
                </a:solidFill>
                <a:latin typeface="DejaVu Sans"/>
              </a:defRPr>
            </a:pPr>
            <a:r>
              <a:t>Point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16000" y="38916000"/>
            <a:ext cx="4212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E87"/>
                </a:solidFill>
                <a:latin typeface="DejaVu Sans"/>
              </a:defRPr>
            </a:pPr>
            <a:r>
              <a:t>Full reward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36000" y="38916000"/>
            <a:ext cx="17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7E87"/>
                </a:solidFill>
                <a:latin typeface="DejaVu Sans"/>
              </a:defRPr>
            </a:pPr>
            <a:r>
              <a:t>84.7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16000" y="39600000"/>
            <a:ext cx="4212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334B"/>
                </a:solidFill>
                <a:latin typeface="DejaVu Sans"/>
              </a:defRPr>
            </a:pPr>
            <a:r>
              <a:t>w/o Pin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36000" y="39600000"/>
            <a:ext cx="17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82.0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16000" y="40284000"/>
            <a:ext cx="4212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334B"/>
                </a:solidFill>
                <a:latin typeface="DejaVu Sans"/>
              </a:defRPr>
            </a:pPr>
            <a:r>
              <a:t>w/o Consistency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36000" y="40284000"/>
            <a:ext cx="17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82.7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72000" y="38916000"/>
            <a:ext cx="2520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8334B"/>
                </a:solidFill>
                <a:latin typeface="DejaVu Sans"/>
              </a:defRPr>
            </a:pPr>
            <a:r>
              <a:t>SFT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764000" y="38916000"/>
            <a:ext cx="162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57.0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36000" y="38916000"/>
            <a:ext cx="1656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66.0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172000" y="39600000"/>
            <a:ext cx="2520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8334B"/>
                </a:solidFill>
                <a:latin typeface="DejaVu Sans"/>
              </a:defRPr>
            </a:pPr>
            <a:r>
              <a:t>+ CoT-SFT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764000" y="39600000"/>
            <a:ext cx="162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62.0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636000" y="39600000"/>
            <a:ext cx="1656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63.6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172000" y="40284000"/>
            <a:ext cx="2520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E87"/>
                </a:solidFill>
                <a:latin typeface="DejaVu Sans"/>
              </a:defRPr>
            </a:pPr>
            <a:r>
              <a:t>+ RFT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764000" y="40284000"/>
            <a:ext cx="162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7E87"/>
                </a:solidFill>
                <a:latin typeface="DejaVu Sans"/>
              </a:defRPr>
            </a:pPr>
            <a:r>
              <a:t>67.7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36000" y="40284000"/>
            <a:ext cx="1656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7E87"/>
                </a:solidFill>
                <a:latin typeface="DejaVu Sans"/>
              </a:defRPr>
            </a:pPr>
            <a:r>
              <a:t>67.9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7704000" y="37692000"/>
            <a:ext cx="0" cy="3096000"/>
          </a:xfrm>
          <a:prstGeom prst="line">
            <a:avLst/>
          </a:prstGeom>
          <a:ln w="12700">
            <a:solidFill>
              <a:srgbClr val="D5E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936000" y="41040000"/>
            <a:ext cx="13536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E87"/>
                </a:solidFill>
                <a:latin typeface="DejaVu Sans"/>
              </a:defRPr>
            </a:pPr>
            <a:r>
              <a:t>Spatial reasoning: +10.7 points from SFT to RFT.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5192000" y="26460000"/>
            <a:ext cx="14580000" cy="1512000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BDE5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15192000" y="26460000"/>
            <a:ext cx="14580000" cy="15480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00798B"/>
              </a:gs>
              <a:gs pos="100000">
                <a:srgbClr val="12A58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15217200" y="27648000"/>
            <a:ext cx="14529600" cy="13906800"/>
          </a:xfrm>
          <a:prstGeom prst="roundRect">
            <a:avLst>
              <a:gd name="adj" fmla="val 258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5840000" y="26712000"/>
            <a:ext cx="13500000" cy="6707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DejaVu Sans"/>
              </a:defRPr>
            </a:pPr>
            <a:r>
              <a:t>Qualitative Results</a:t>
            </a:r>
          </a:p>
        </p:txBody>
      </p:sp>
      <p:pic>
        <p:nvPicPr>
          <p:cNvPr id="112" name="Picture 111" descr="robot-three-row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660000" y="28044000"/>
            <a:ext cx="13644000" cy="6361254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15660000" y="34776000"/>
            <a:ext cx="13644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7E87"/>
                </a:solidFill>
                <a:latin typeface="DejaVu Sans"/>
              </a:defRPr>
            </a:pPr>
            <a:r>
              <a:t>Zero-shot xArm · successes / 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5660000" y="35424000"/>
            <a:ext cx="4284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007E87"/>
                </a:solidFill>
                <a:latin typeface="DejaVu Sans"/>
              </a:defRPr>
            </a:pPr>
            <a:r>
              <a:t>20 / 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0000" y="36000000"/>
            <a:ext cx="4284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8334B"/>
                </a:solidFill>
                <a:latin typeface="DejaVu Sans"/>
              </a:defRPr>
            </a:pPr>
            <a:r>
              <a:t>Spatial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0268000" y="35424000"/>
            <a:ext cx="4284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007E87"/>
                </a:solidFill>
                <a:latin typeface="DejaVu Sans"/>
              </a:defRPr>
            </a:pPr>
            <a:r>
              <a:t>14 / 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0268000" y="36000000"/>
            <a:ext cx="4284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8334B"/>
                </a:solidFill>
                <a:latin typeface="DejaVu Sans"/>
              </a:defRPr>
            </a:pPr>
            <a:r>
              <a:t>Multi-view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4876000" y="35424000"/>
            <a:ext cx="4284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007E87"/>
                </a:solidFill>
                <a:latin typeface="DejaVu Sans"/>
              </a:defRPr>
            </a:pPr>
            <a:r>
              <a:t>11 / 20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4876000" y="36000000"/>
            <a:ext cx="4284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8334B"/>
                </a:solidFill>
                <a:latin typeface="DejaVu Sans"/>
              </a:defRPr>
            </a:pPr>
            <a:r>
              <a:t>Long-horizon</a:t>
            </a:r>
          </a:p>
        </p:txBody>
      </p:sp>
      <p:pic>
        <p:nvPicPr>
          <p:cNvPr id="120" name="Picture 119" descr="figure-4-two-example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68000" y="36540000"/>
            <a:ext cx="11628000" cy="4679271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1620000" y="42120000"/>
            <a:ext cx="27036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FFFFFF"/>
                </a:solidFill>
                <a:latin typeface="DejaVu Sans"/>
              </a:defRPr>
            </a:pPr>
            <a:r>
              <a:t>Persistent visual anchors make embodied reasoning traceable.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