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A0 portrait 841 × 1189 mm. SDO reference restyle: Comic Neue Bold headings, Open Sans body, coral bars, white background. HTML/CSS and native PowerPoint share the same layout. The Method first recomposes the published Figure 2 lower CoT example with original views, one full anchor tag, the published coordinates and source-specific camera-motion reasoning. Data construction and progressive training are shown separately underneath. The Key Insight diagram is conceptual, not a new experimental result. Performance is the untouched plot cropped from paper Figure 1. Robot visualization includes all three rows of Figure 3. Reward ablation: Table 5, controlled EmbSpatial setting (84.7 / 82.0 / 82.7). Cumulative training: Table 6, Spatial 57.0 / 62.0 / 67.7, Point 66.0 / 63.6 / 67.9. The controlled ablation averages are distinct from the headline results; Point does not improve monotonically. No cross-step coverage panel. Text and ablation tables are editable; paper images and logos are replaceable pictures. Trial-count discrepancy in the source caption remains documented in SOURCES.md. QR is a placeholder.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76000" cy="4280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32000"/>
            <a:ext cx="20448000" cy="21180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7772"/>
              </a:lnSpc>
              <a:spcBef>
                <a:spcPts val="0"/>
              </a:spcBef>
              <a:spcAft>
                <a:spcPts val="0"/>
              </a:spcAft>
              <a:defRPr sz="6700" b="1">
                <a:solidFill>
                  <a:srgbClr val="E54C64"/>
                </a:solidFill>
                <a:latin typeface="Comic Neue"/>
              </a:defRPr>
            </a:pPr>
            <a:r>
              <a:rPr>
                <a:solidFill>
                  <a:srgbClr val="E54C64"/>
                </a:solidFill>
              </a:rPr>
              <a:t>RoboPIN: Grounded Embodied Reasoning</a:t>
            </a:r>
          </a:p>
          <a:p>
            <a:pPr algn="l">
              <a:lnSpc>
                <a:spcPts val="7772"/>
              </a:lnSpc>
              <a:spcBef>
                <a:spcPts val="0"/>
              </a:spcBef>
              <a:spcAft>
                <a:spcPts val="0"/>
              </a:spcAft>
              <a:defRPr sz="6700" b="1">
                <a:solidFill>
                  <a:srgbClr val="E54C64"/>
                </a:solidFill>
                <a:latin typeface="Comic Neue"/>
              </a:defRPr>
            </a:pPr>
            <a:r>
              <a:rPr>
                <a:solidFill>
                  <a:srgbClr val="E54C64"/>
                </a:solidFill>
              </a:rPr>
              <a:t>via Pinned Chain-of-Thought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4000" y="2736000"/>
            <a:ext cx="20448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Yaoting Huang* · Yifu Yuan*† · Linqi Han · Chengwen Li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000" y="3240000"/>
            <a:ext cx="2044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Shuoheng Zhang · Xianze Yao · Hongyao Tang · Yan Zheng · Jianye Hao†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4000" y="3888000"/>
            <a:ext cx="2044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Tianjin University · ACM Multimedia 2026 · Rio de Janeiro, Brazil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4000" y="4500000"/>
            <a:ext cx="2044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quark404@tju.edu.cn · yuanyf@tju.edu.cn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4968000"/>
            <a:ext cx="20448000" cy="422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96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566B7C"/>
                </a:solidFill>
                <a:latin typeface="Open Sans"/>
              </a:defRPr>
            </a:pPr>
            <a:r>
              <a:rPr>
                <a:solidFill>
                  <a:srgbClr val="566B7C"/>
                </a:solidFill>
              </a:rPr>
              <a:t>* Equal contribution † Corresponding authors</a:t>
            </a:r>
          </a:p>
        </p:txBody>
      </p:sp>
      <p:pic>
        <p:nvPicPr>
          <p:cNvPr id="9" name="Picture 8" descr="mm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14857" y="576000"/>
            <a:ext cx="7654285" cy="1692000"/>
          </a:xfrm>
          <a:prstGeom prst="rect">
            <a:avLst/>
          </a:prstGeom>
        </p:spPr>
      </p:pic>
      <p:pic>
        <p:nvPicPr>
          <p:cNvPr id="10" name="Picture 9" descr="tju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292000" y="2696129"/>
            <a:ext cx="2304000" cy="2167741"/>
          </a:xfrm>
          <a:prstGeom prst="ellipse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5848000" y="3240000"/>
            <a:ext cx="3996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Tianjin University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4000" y="5508000"/>
            <a:ext cx="14904000" cy="1044000"/>
          </a:xfrm>
          <a:prstGeom prst="rect">
            <a:avLst/>
          </a:prstGeom>
          <a:solidFill>
            <a:srgbClr val="E5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0000" y="5616000"/>
            <a:ext cx="14472000" cy="794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124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FFFFFF"/>
                </a:solidFill>
                <a:latin typeface="Comic Neue"/>
              </a:defRPr>
            </a:pPr>
            <a:r>
              <a:rPr>
                <a:solidFill>
                  <a:srgbClr val="FFFFFF"/>
                </a:solidFill>
              </a:rPr>
              <a:t>Motivation</a:t>
            </a:r>
          </a:p>
        </p:txBody>
      </p:sp>
      <p:pic>
        <p:nvPicPr>
          <p:cNvPr id="14" name="Picture 13" descr="figure-1-cot-comparis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000" y="6840000"/>
            <a:ext cx="12600000" cy="67940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2000" y="13896000"/>
            <a:ext cx="14328000" cy="9832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1. Text-based references can </a:t>
            </a:r>
            <a:r>
              <a:rPr>
                <a:solidFill>
                  <a:srgbClr val="E54C64"/>
                </a:solidFill>
              </a:rPr>
              <a:t>drift</a:t>
            </a:r>
            <a:r>
              <a:rPr>
                <a:solidFill>
                  <a:srgbClr val="222222"/>
                </a:solidFill>
              </a:rPr>
              <a:t> between similar objects. Coordinate-only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grounding lacks </a:t>
            </a:r>
            <a:r>
              <a:rPr>
                <a:solidFill>
                  <a:srgbClr val="E54C64"/>
                </a:solidFill>
              </a:rPr>
              <a:t>explicit identity tracking</a:t>
            </a:r>
            <a:r>
              <a:rPr>
                <a:solidFill>
                  <a:srgbClr val="222222"/>
                </a:solidFill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000" y="14976000"/>
            <a:ext cx="14328000" cy="98321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2. A model may correctly analyze </a:t>
            </a:r>
            <a:r>
              <a:rPr>
                <a:solidFill>
                  <a:srgbClr val="E54C64"/>
                </a:solidFill>
              </a:rPr>
              <a:t>object A</a:t>
            </a:r>
            <a:r>
              <a:rPr>
                <a:solidFill>
                  <a:srgbClr val="222222"/>
                </a:solidFill>
              </a:rPr>
              <a:t>, then silently point to </a:t>
            </a:r>
            <a:r>
              <a:rPr>
                <a:solidFill>
                  <a:srgbClr val="E54C64"/>
                </a:solidFill>
              </a:rPr>
              <a:t>object B</a:t>
            </a:r>
            <a:r>
              <a:rPr>
                <a:solidFill>
                  <a:srgbClr val="222222"/>
                </a:solidFill>
              </a:rPr>
              <a:t>. This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reasoning-to-answer misalignment</a:t>
            </a:r>
            <a:r>
              <a:rPr>
                <a:solidFill>
                  <a:srgbClr val="222222"/>
                </a:solidFill>
              </a:rPr>
              <a:t> breaks reliable visual grounding.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912000" y="5508000"/>
            <a:ext cx="13860000" cy="1044000"/>
          </a:xfrm>
          <a:prstGeom prst="rect">
            <a:avLst/>
          </a:prstGeom>
          <a:solidFill>
            <a:srgbClr val="E5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128000" y="5616000"/>
            <a:ext cx="13428000" cy="794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124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FFFFFF"/>
                </a:solidFill>
                <a:latin typeface="Comic Neue"/>
              </a:defRPr>
            </a:pPr>
            <a:r>
              <a:rPr>
                <a:solidFill>
                  <a:srgbClr val="FFFFFF"/>
                </a:solidFill>
              </a:rPr>
              <a:t>Key Insight: Persistent Identity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344000" y="6876000"/>
            <a:ext cx="12960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Implicit references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344000" y="7560000"/>
            <a:ext cx="3744000" cy="900000"/>
          </a:xfrm>
          <a:prstGeom prst="rect">
            <a:avLst/>
          </a:prstGeom>
          <a:solidFill>
            <a:srgbClr val="F3F4F5"/>
          </a:solidFill>
          <a:ln w="12700">
            <a:solidFill>
              <a:srgbClr val="D5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452000" y="7740000"/>
            <a:ext cx="352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a cup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0232000" y="8028000"/>
            <a:ext cx="432000" cy="0"/>
          </a:xfrm>
          <a:prstGeom prst="line">
            <a:avLst/>
          </a:prstGeom>
          <a:ln w="38100">
            <a:solidFill>
              <a:srgbClr val="566B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0520000" y="7920000"/>
            <a:ext cx="144000" cy="108000"/>
          </a:xfrm>
          <a:prstGeom prst="line">
            <a:avLst/>
          </a:prstGeom>
          <a:ln w="38100">
            <a:solidFill>
              <a:srgbClr val="566B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0520000" y="8028000"/>
            <a:ext cx="144000" cy="108000"/>
          </a:xfrm>
          <a:prstGeom prst="line">
            <a:avLst/>
          </a:prstGeom>
          <a:ln w="38100">
            <a:solidFill>
              <a:srgbClr val="566B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20880000" y="7560000"/>
            <a:ext cx="3744000" cy="900000"/>
          </a:xfrm>
          <a:prstGeom prst="rect">
            <a:avLst/>
          </a:prstGeom>
          <a:solidFill>
            <a:srgbClr val="F3F4F5"/>
          </a:solidFill>
          <a:ln w="12700">
            <a:solidFill>
              <a:srgbClr val="D5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988000" y="7740000"/>
            <a:ext cx="352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it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4768000" y="8028000"/>
            <a:ext cx="432000" cy="0"/>
          </a:xfrm>
          <a:prstGeom prst="line">
            <a:avLst/>
          </a:prstGeom>
          <a:ln w="38100">
            <a:solidFill>
              <a:srgbClr val="566B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5056000" y="7920000"/>
            <a:ext cx="144000" cy="108000"/>
          </a:xfrm>
          <a:prstGeom prst="line">
            <a:avLst/>
          </a:prstGeom>
          <a:ln w="38100">
            <a:solidFill>
              <a:srgbClr val="566B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5056000" y="8028000"/>
            <a:ext cx="144000" cy="108000"/>
          </a:xfrm>
          <a:prstGeom prst="line">
            <a:avLst/>
          </a:prstGeom>
          <a:ln w="38100">
            <a:solidFill>
              <a:srgbClr val="566B7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25416000" y="7560000"/>
            <a:ext cx="3744000" cy="900000"/>
          </a:xfrm>
          <a:prstGeom prst="rect">
            <a:avLst/>
          </a:prstGeom>
          <a:solidFill>
            <a:srgbClr val="F3F4F5"/>
          </a:solidFill>
          <a:ln w="12700">
            <a:solidFill>
              <a:srgbClr val="D5E0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524000" y="7740000"/>
            <a:ext cx="352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the target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344000" y="8640000"/>
            <a:ext cx="12960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566B7C"/>
                </a:solidFill>
                <a:latin typeface="Open Sans"/>
              </a:defRPr>
            </a:pPr>
            <a:r>
              <a:rPr>
                <a:solidFill>
                  <a:srgbClr val="566B7C"/>
                </a:solidFill>
              </a:rPr>
              <a:t>Which instance is carried forward?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344000" y="9396000"/>
            <a:ext cx="12960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PinCoT: persistent identity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6344000" y="10080000"/>
            <a:ext cx="3744000" cy="900000"/>
          </a:xfrm>
          <a:prstGeom prst="rect">
            <a:avLst/>
          </a:prstGeom>
          <a:solidFill>
            <a:srgbClr val="FFF0F3"/>
          </a:solidFill>
          <a:ln w="12700">
            <a:solidFill>
              <a:srgbClr val="E54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6452000" y="10260000"/>
            <a:ext cx="352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obj_01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0232000" y="10548000"/>
            <a:ext cx="432000" cy="0"/>
          </a:xfrm>
          <a:prstGeom prst="line">
            <a:avLst/>
          </a:prstGeom>
          <a:ln w="38100">
            <a:solidFill>
              <a:srgbClr val="E54C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20520000" y="10440000"/>
            <a:ext cx="144000" cy="108000"/>
          </a:xfrm>
          <a:prstGeom prst="line">
            <a:avLst/>
          </a:prstGeom>
          <a:ln w="38100">
            <a:solidFill>
              <a:srgbClr val="E54C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20520000" y="10548000"/>
            <a:ext cx="144000" cy="108000"/>
          </a:xfrm>
          <a:prstGeom prst="line">
            <a:avLst/>
          </a:prstGeom>
          <a:ln w="38100">
            <a:solidFill>
              <a:srgbClr val="E54C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20880000" y="10080000"/>
            <a:ext cx="3744000" cy="900000"/>
          </a:xfrm>
          <a:prstGeom prst="rect">
            <a:avLst/>
          </a:prstGeom>
          <a:solidFill>
            <a:srgbClr val="FFF0F3"/>
          </a:solidFill>
          <a:ln w="12700">
            <a:solidFill>
              <a:srgbClr val="E54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988000" y="10260000"/>
            <a:ext cx="352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obj_01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4768000" y="10548000"/>
            <a:ext cx="432000" cy="0"/>
          </a:xfrm>
          <a:prstGeom prst="line">
            <a:avLst/>
          </a:prstGeom>
          <a:ln w="38100">
            <a:solidFill>
              <a:srgbClr val="E54C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5056000" y="10440000"/>
            <a:ext cx="144000" cy="108000"/>
          </a:xfrm>
          <a:prstGeom prst="line">
            <a:avLst/>
          </a:prstGeom>
          <a:ln w="38100">
            <a:solidFill>
              <a:srgbClr val="E54C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5056000" y="10548000"/>
            <a:ext cx="144000" cy="108000"/>
          </a:xfrm>
          <a:prstGeom prst="line">
            <a:avLst/>
          </a:prstGeom>
          <a:ln w="38100">
            <a:solidFill>
              <a:srgbClr val="E54C6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25416000" y="10080000"/>
            <a:ext cx="3744000" cy="900000"/>
          </a:xfrm>
          <a:prstGeom prst="rect">
            <a:avLst/>
          </a:prstGeom>
          <a:solidFill>
            <a:srgbClr val="FFF0F3"/>
          </a:solidFill>
          <a:ln w="12700">
            <a:solidFill>
              <a:srgbClr val="E54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524000" y="10260000"/>
            <a:ext cx="3528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obj_01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344000" y="11376000"/>
            <a:ext cx="12960000" cy="9689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• Spatial references are usually </a:t>
            </a:r>
            <a:r>
              <a:rPr>
                <a:solidFill>
                  <a:srgbClr val="E54C64"/>
                </a:solidFill>
              </a:rPr>
              <a:t>isolated annotations</a:t>
            </a:r>
            <a:r>
              <a:rPr>
                <a:solidFill>
                  <a:srgbClr val="222222"/>
                </a:solidFill>
              </a:rPr>
              <a:t>, without explicit</a:t>
            </a:r>
          </a:p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identity tracking</a:t>
            </a:r>
            <a:r>
              <a:rPr>
                <a:solidFill>
                  <a:srgbClr val="222222"/>
                </a:solidFill>
              </a:rPr>
              <a:t> during reasoning.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344000" y="12564000"/>
            <a:ext cx="12960000" cy="9689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• PinCoT binds each entity to a </a:t>
            </a:r>
            <a:r>
              <a:rPr>
                <a:solidFill>
                  <a:srgbClr val="E54C64"/>
                </a:solidFill>
              </a:rPr>
              <a:t>name, ID, view and point</a:t>
            </a:r>
            <a:r>
              <a:rPr>
                <a:solidFill>
                  <a:srgbClr val="222222"/>
                </a:solidFill>
              </a:rPr>
              <a:t>. Later steps</a:t>
            </a:r>
          </a:p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reuse the </a:t>
            </a:r>
            <a:r>
              <a:rPr>
                <a:solidFill>
                  <a:srgbClr val="E54C64"/>
                </a:solidFill>
              </a:rPr>
              <a:t>same ID</a:t>
            </a:r>
            <a:r>
              <a:rPr>
                <a:solidFill>
                  <a:srgbClr val="222222"/>
                </a:solidFill>
              </a:rPr>
              <a:t>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6344000" y="13752000"/>
            <a:ext cx="10080000" cy="1381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• </a:t>
            </a:r>
            <a:r>
              <a:rPr>
                <a:solidFill>
                  <a:srgbClr val="E54C64"/>
                </a:solidFill>
              </a:rPr>
              <a:t>Our insight:</a:t>
            </a:r>
            <a:r>
              <a:rPr>
                <a:solidFill>
                  <a:srgbClr val="222222"/>
                </a:solidFill>
              </a:rPr>
              <a:t> visual anchors act as </a:t>
            </a:r>
            <a:r>
              <a:rPr>
                <a:solidFill>
                  <a:srgbClr val="E54C64"/>
                </a:solidFill>
              </a:rPr>
              <a:t>persistent reasoning</a:t>
            </a:r>
          </a:p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variables</a:t>
            </a:r>
            <a:r>
              <a:rPr>
                <a:solidFill>
                  <a:srgbClr val="222222"/>
                </a:solidFill>
              </a:rPr>
              <a:t>, making each step traceable to visual</a:t>
            </a:r>
          </a:p>
          <a:p>
            <a:pPr algn="l">
              <a:lnSpc>
                <a:spcPts val="3247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evidence.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288000" y="14076000"/>
            <a:ext cx="1872000" cy="1512000"/>
          </a:xfrm>
          <a:prstGeom prst="rect">
            <a:avLst/>
          </a:prstGeom>
          <a:solidFill>
            <a:srgbClr val="FFFFFF"/>
          </a:solidFill>
          <a:ln w="15240">
            <a:solidFill>
              <a:srgbClr val="BAC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7432000" y="14508000"/>
            <a:ext cx="1584000" cy="6398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566B7C"/>
                </a:solidFill>
                <a:latin typeface="Open Sans"/>
              </a:defRPr>
            </a:pPr>
            <a:r>
              <a:rPr>
                <a:solidFill>
                  <a:srgbClr val="566B7C"/>
                </a:solidFill>
              </a:rPr>
              <a:t>QR</a:t>
            </a:r>
          </a:p>
          <a:p>
            <a:pPr algn="ctr">
              <a:lnSpc>
                <a:spcPts val="1952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566B7C"/>
                </a:solidFill>
                <a:latin typeface="Open Sans"/>
              </a:defRPr>
            </a:pPr>
            <a:r>
              <a:rPr>
                <a:solidFill>
                  <a:srgbClr val="566B7C"/>
                </a:solidFill>
              </a:rPr>
              <a:t>PLACEHOLDER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000000" y="15732000"/>
            <a:ext cx="2448000" cy="4073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074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PAPER / CODE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4000" y="16236000"/>
            <a:ext cx="29268000" cy="1044000"/>
          </a:xfrm>
          <a:prstGeom prst="rect">
            <a:avLst/>
          </a:prstGeom>
          <a:solidFill>
            <a:srgbClr val="E5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0000" y="16344000"/>
            <a:ext cx="28836000" cy="856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612"/>
              </a:lnSpc>
              <a:spcBef>
                <a:spcPts val="0"/>
              </a:spcBef>
              <a:spcAft>
                <a:spcPts val="0"/>
              </a:spcAft>
              <a:defRPr sz="4600" b="1">
                <a:solidFill>
                  <a:srgbClr val="FFFFFF"/>
                </a:solidFill>
                <a:latin typeface="Comic Neue"/>
              </a:defRPr>
            </a:pPr>
            <a:r>
              <a:rPr>
                <a:solidFill>
                  <a:srgbClr val="FFFFFF"/>
                </a:solidFill>
              </a:rPr>
              <a:t>Our Method: RoboPIN / PinCoT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2000" y="17532000"/>
            <a:ext cx="28548000" cy="6398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4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A. How PinCoT Reasons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92000" y="18288000"/>
            <a:ext cx="6660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1. Observe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100000" y="18288000"/>
            <a:ext cx="6660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2. Introduce an anchor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5408000" y="18288000"/>
            <a:ext cx="6660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3. Reuse identity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716000" y="18288000"/>
            <a:ext cx="6660000" cy="56233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94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4. Ground the answer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2000" y="18936000"/>
            <a:ext cx="6660000" cy="79830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How did the camera rotate</a:t>
            </a:r>
          </a:p>
          <a:p>
            <a:pPr algn="l">
              <a:lnSpc>
                <a:spcPts val="2576"/>
              </a:lnSpc>
              <a:spcBef>
                <a:spcPts val="0"/>
              </a:spcBef>
              <a:spcAft>
                <a:spcPts val="0"/>
              </a:spcAft>
              <a:defRPr sz="23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between the two views?</a:t>
            </a:r>
          </a:p>
        </p:txBody>
      </p:sp>
      <p:pic>
        <p:nvPicPr>
          <p:cNvPr id="60" name="Picture 59" descr="view-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000" y="19812080"/>
            <a:ext cx="3096000" cy="2399919"/>
          </a:xfrm>
          <a:prstGeom prst="rect">
            <a:avLst/>
          </a:prstGeom>
        </p:spPr>
      </p:pic>
      <p:sp>
        <p:nvSpPr>
          <p:cNvPr id="61" name="Oval 60"/>
          <p:cNvSpPr/>
          <p:nvPr/>
        </p:nvSpPr>
        <p:spPr>
          <a:xfrm>
            <a:off x="2672064" y="21111634"/>
            <a:ext cx="165600" cy="165600"/>
          </a:xfrm>
          <a:prstGeom prst="ellipse">
            <a:avLst/>
          </a:prstGeom>
          <a:solidFill>
            <a:srgbClr val="E54C64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92000" y="22284000"/>
            <a:ext cx="3096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View 0</a:t>
            </a:r>
          </a:p>
        </p:txBody>
      </p:sp>
      <p:pic>
        <p:nvPicPr>
          <p:cNvPr id="63" name="Picture 62" descr="view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2000" y="19666889"/>
            <a:ext cx="3096000" cy="2545110"/>
          </a:xfrm>
          <a:prstGeom prst="rect">
            <a:avLst/>
          </a:prstGeom>
        </p:spPr>
      </p:pic>
      <p:sp>
        <p:nvSpPr>
          <p:cNvPr id="64" name="Oval 63"/>
          <p:cNvSpPr/>
          <p:nvPr/>
        </p:nvSpPr>
        <p:spPr>
          <a:xfrm>
            <a:off x="6742224" y="21380937"/>
            <a:ext cx="165600" cy="165600"/>
          </a:xfrm>
          <a:prstGeom prst="ellipse">
            <a:avLst/>
          </a:prstGeom>
          <a:solidFill>
            <a:srgbClr val="E54C64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212000" y="22284000"/>
            <a:ext cx="3096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View 1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100000" y="19008000"/>
            <a:ext cx="6660000" cy="1476000"/>
          </a:xfrm>
          <a:prstGeom prst="rect">
            <a:avLst/>
          </a:prstGeom>
          <a:solidFill>
            <a:srgbClr val="FF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280000" y="19188000"/>
            <a:ext cx="6300000" cy="1241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&lt;obj name="microwave"</a:t>
            </a:r>
          </a:p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id="</a:t>
            </a:r>
            <a:r>
              <a:rPr>
                <a:solidFill>
                  <a:srgbClr val="E54C64"/>
                </a:solidFill>
              </a:rPr>
              <a:t>obj_01</a:t>
            </a:r>
            <a:r>
              <a:rPr>
                <a:solidFill>
                  <a:srgbClr val="222222"/>
                </a:solidFill>
              </a:rPr>
              <a:t>" img_idx="0"</a:t>
            </a:r>
          </a:p>
          <a:p>
            <a:pPr algn="l">
              <a:lnSpc>
                <a:spcPts val="2879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point="[634,576]"&gt;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00000" y="20916000"/>
            <a:ext cx="6660000" cy="1258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Introduce the entity once</a:t>
            </a:r>
          </a:p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with identity, view and point.</a:t>
            </a:r>
          </a:p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Then refer to it by </a:t>
            </a:r>
            <a:r>
              <a:rPr>
                <a:solidFill>
                  <a:srgbClr val="E54C64"/>
                </a:solidFill>
              </a:rPr>
              <a:t>obj_01</a:t>
            </a:r>
            <a:r>
              <a:rPr>
                <a:solidFill>
                  <a:srgbClr val="222222"/>
                </a:solidFill>
              </a:rPr>
              <a:t>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5408000" y="19116000"/>
            <a:ext cx="6660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Same </a:t>
            </a:r>
            <a:r>
              <a:rPr>
                <a:solidFill>
                  <a:srgbClr val="E54C64"/>
                </a:solidFill>
              </a:rPr>
              <a:t>obj_01</a:t>
            </a:r>
            <a:r>
              <a:rPr>
                <a:solidFill>
                  <a:srgbClr val="222222"/>
                </a:solidFill>
              </a:rPr>
              <a:t>, new view: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5408000" y="19800000"/>
            <a:ext cx="6660000" cy="8996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75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View 0: [634,576]</a:t>
            </a:r>
          </a:p>
          <a:p>
            <a:pPr algn="l">
              <a:lnSpc>
                <a:spcPts val="2975"/>
              </a:lnSpc>
              <a:spcBef>
                <a:spcPts val="0"/>
              </a:spcBef>
              <a:spcAft>
                <a:spcPts val="0"/>
              </a:spcAft>
              <a:defRPr sz="25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View 1: [844,706]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5408000" y="21024000"/>
            <a:ext cx="6660000" cy="1258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Its x-coordinate increases</a:t>
            </a:r>
          </a:p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from </a:t>
            </a:r>
            <a:r>
              <a:rPr>
                <a:solidFill>
                  <a:srgbClr val="E54C64"/>
                </a:solidFill>
              </a:rPr>
              <a:t>634 to 844</a:t>
            </a:r>
            <a:r>
              <a:rPr>
                <a:solidFill>
                  <a:srgbClr val="222222"/>
                </a:solidFill>
              </a:rPr>
              <a:t>: the object</a:t>
            </a:r>
          </a:p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appears to </a:t>
            </a:r>
            <a:r>
              <a:rPr>
                <a:solidFill>
                  <a:srgbClr val="E54C64"/>
                </a:solidFill>
              </a:rPr>
              <a:t>shift right</a:t>
            </a:r>
            <a:r>
              <a:rPr>
                <a:solidFill>
                  <a:srgbClr val="222222"/>
                </a:solidFill>
              </a:rPr>
              <a:t>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716000" y="19116000"/>
            <a:ext cx="6660000" cy="1258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In this example, apparent</a:t>
            </a:r>
          </a:p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object motion is opposite</a:t>
            </a:r>
          </a:p>
          <a:p>
            <a:pPr algn="l">
              <a:lnSpc>
                <a:spcPts val="2925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to camera motion.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2716000" y="20916000"/>
            <a:ext cx="6660000" cy="1332000"/>
          </a:xfrm>
          <a:prstGeom prst="rect">
            <a:avLst/>
          </a:prstGeom>
          <a:solidFill>
            <a:srgbClr val="FF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2932000" y="21096000"/>
            <a:ext cx="6228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Answer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2932000" y="21600000"/>
            <a:ext cx="6228000" cy="6088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60"/>
              </a:lnSpc>
              <a:spcBef>
                <a:spcPts val="0"/>
              </a:spcBef>
              <a:spcAft>
                <a:spcPts val="0"/>
              </a:spcAft>
              <a:defRPr sz="30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Movement left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596000" y="20664000"/>
            <a:ext cx="3600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7812000" y="20556000"/>
            <a:ext cx="144000" cy="10800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Connector 77"/>
          <p:cNvCxnSpPr/>
          <p:nvPr/>
        </p:nvCxnSpPr>
        <p:spPr>
          <a:xfrm flipV="1">
            <a:off x="7812000" y="20664000"/>
            <a:ext cx="144000" cy="10800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14904000" y="20664000"/>
            <a:ext cx="3600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15120000" y="20556000"/>
            <a:ext cx="144000" cy="10800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15120000" y="20664000"/>
            <a:ext cx="144000" cy="10800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22212000" y="20664000"/>
            <a:ext cx="3600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22428000" y="20556000"/>
            <a:ext cx="144000" cy="10800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 flipV="1">
            <a:off x="22428000" y="20664000"/>
            <a:ext cx="144000" cy="10800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792000" y="22788000"/>
            <a:ext cx="28584000" cy="0"/>
          </a:xfrm>
          <a:prstGeom prst="line">
            <a:avLst/>
          </a:prstGeom>
          <a:ln w="15240">
            <a:solidFill>
              <a:srgbClr val="D5E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92000" y="23040000"/>
            <a:ext cx="28548000" cy="6398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4"/>
              </a:lnSpc>
              <a:spcBef>
                <a:spcPts val="0"/>
              </a:spcBef>
              <a:spcAft>
                <a:spcPts val="0"/>
              </a:spcAft>
              <a:defRPr sz="32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B. Data Construction &amp; Training</a:t>
            </a:r>
          </a:p>
        </p:txBody>
      </p:sp>
      <p:pic>
        <p:nvPicPr>
          <p:cNvPr id="87" name="Picture 86" descr="figure-2-data-pipel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000" y="23724000"/>
            <a:ext cx="17280000" cy="3854701"/>
          </a:xfrm>
          <a:prstGeom prst="rect">
            <a:avLst/>
          </a:prstGeom>
        </p:spPr>
      </p:pic>
      <p:cxnSp>
        <p:nvCxnSpPr>
          <p:cNvPr id="88" name="Connector 87"/>
          <p:cNvCxnSpPr/>
          <p:nvPr/>
        </p:nvCxnSpPr>
        <p:spPr>
          <a:xfrm>
            <a:off x="18684000" y="23868000"/>
            <a:ext cx="0" cy="3492000"/>
          </a:xfrm>
          <a:prstGeom prst="line">
            <a:avLst/>
          </a:prstGeom>
          <a:ln w="15240">
            <a:solidFill>
              <a:srgbClr val="D5E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9260000" y="23832000"/>
            <a:ext cx="9900000" cy="5468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72"/>
              </a:lnSpc>
              <a:spcBef>
                <a:spcPts val="0"/>
              </a:spcBef>
              <a:spcAft>
                <a:spcPts val="0"/>
              </a:spcAft>
              <a:defRPr sz="26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Learning to reason with anchors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9260000" y="24696000"/>
            <a:ext cx="3600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SFT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3112000" y="24696000"/>
            <a:ext cx="6264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Embodied knowledge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9260000" y="25560000"/>
            <a:ext cx="3600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CoT-SFT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3112000" y="25560000"/>
            <a:ext cx="6264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Learn PinCoT traces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9260000" y="26424000"/>
            <a:ext cx="3600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RFT / GRPO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3112000" y="26424000"/>
            <a:ext cx="6264000" cy="50036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6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Align reasoning and answers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4000" y="27900000"/>
            <a:ext cx="14400000" cy="1044000"/>
          </a:xfrm>
          <a:prstGeom prst="rect">
            <a:avLst/>
          </a:prstGeom>
          <a:solidFill>
            <a:srgbClr val="E5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20000" y="28008000"/>
            <a:ext cx="13968000" cy="794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124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FFFFFF"/>
                </a:solidFill>
                <a:latin typeface="Comic Neue"/>
              </a:defRPr>
            </a:pPr>
            <a:r>
              <a:rPr>
                <a:solidFill>
                  <a:srgbClr val="FFFFFF"/>
                </a:solidFill>
              </a:rPr>
              <a:t>Experimental Results</a:t>
            </a:r>
          </a:p>
        </p:txBody>
      </p:sp>
      <p:pic>
        <p:nvPicPr>
          <p:cNvPr id="98" name="Picture 97" descr="performance-origin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4000" y="29376000"/>
            <a:ext cx="11520000" cy="735561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936000" y="37008000"/>
            <a:ext cx="13536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Ablation studies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36000" y="37584000"/>
            <a:ext cx="6444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Reward design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92000" y="37584000"/>
            <a:ext cx="6480000" cy="531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050"/>
              </a:lnSpc>
              <a:spcBef>
                <a:spcPts val="0"/>
              </a:spcBef>
              <a:spcAft>
                <a:spcPts val="0"/>
              </a:spcAft>
              <a:defRPr sz="25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Training stages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936000" y="38160000"/>
            <a:ext cx="6408000" cy="540000"/>
          </a:xfrm>
          <a:prstGeom prst="roundRect">
            <a:avLst>
              <a:gd name="adj" fmla="val 13333"/>
            </a:avLst>
          </a:prstGeom>
          <a:solidFill>
            <a:srgbClr val="FF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7992000" y="38160000"/>
            <a:ext cx="6480000" cy="540000"/>
          </a:xfrm>
          <a:prstGeom prst="roundRect">
            <a:avLst>
              <a:gd name="adj" fmla="val 13333"/>
            </a:avLst>
          </a:prstGeom>
          <a:solidFill>
            <a:srgbClr val="FFF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116000" y="38268000"/>
            <a:ext cx="4032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Setting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5328000" y="38268000"/>
            <a:ext cx="1836000" cy="40739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074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EmbSpatial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172000" y="38268000"/>
            <a:ext cx="2520000" cy="4538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44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Stage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764000" y="38268000"/>
            <a:ext cx="1620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Spatial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2636000" y="38268000"/>
            <a:ext cx="1656000" cy="43838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318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Point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16000" y="38916000"/>
            <a:ext cx="4212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Full reward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436000" y="38916000"/>
            <a:ext cx="17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84.7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16000" y="39600000"/>
            <a:ext cx="4212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w/o Pin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436000" y="39600000"/>
            <a:ext cx="17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82.0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116000" y="40284000"/>
            <a:ext cx="4212000" cy="4848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w/o Consistency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436000" y="40284000"/>
            <a:ext cx="1728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82.7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172000" y="38916000"/>
            <a:ext cx="252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SFT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64000" y="38916000"/>
            <a:ext cx="162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57.0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36000" y="38916000"/>
            <a:ext cx="1656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66.0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172000" y="39600000"/>
            <a:ext cx="252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+ CoT-SFT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764000" y="39600000"/>
            <a:ext cx="162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62.0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2636000" y="39600000"/>
            <a:ext cx="1656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63.6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172000" y="40284000"/>
            <a:ext cx="2520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+ RFT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764000" y="40284000"/>
            <a:ext cx="1620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67.7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36000" y="40284000"/>
            <a:ext cx="1656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67.9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7704000" y="37692000"/>
            <a:ext cx="0" cy="3096000"/>
          </a:xfrm>
          <a:prstGeom prst="line">
            <a:avLst/>
          </a:prstGeom>
          <a:ln w="12700">
            <a:solidFill>
              <a:srgbClr val="D5E0E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936000" y="41040000"/>
            <a:ext cx="13536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Spatial reasoning: +10.7 points from SFT to RFT.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5192000" y="27900000"/>
            <a:ext cx="14580000" cy="1044000"/>
          </a:xfrm>
          <a:prstGeom prst="rect">
            <a:avLst/>
          </a:prstGeom>
          <a:solidFill>
            <a:srgbClr val="E5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5408000" y="28008000"/>
            <a:ext cx="14148000" cy="7947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124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FFFFFF"/>
                </a:solidFill>
                <a:latin typeface="Comic Neue"/>
              </a:defRPr>
            </a:pPr>
            <a:r>
              <a:rPr>
                <a:solidFill>
                  <a:srgbClr val="FFFFFF"/>
                </a:solidFill>
              </a:rPr>
              <a:t>Qualitative Results</a:t>
            </a:r>
          </a:p>
        </p:txBody>
      </p:sp>
      <p:pic>
        <p:nvPicPr>
          <p:cNvPr id="128" name="Picture 127" descr="robot-three-row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164000" y="29376000"/>
            <a:ext cx="12600000" cy="5874509"/>
          </a:xfrm>
          <a:prstGeom prst="rect">
            <a:avLst/>
          </a:prstGeom>
        </p:spPr>
      </p:pic>
      <p:sp>
        <p:nvSpPr>
          <p:cNvPr id="129" name="TextBox 128"/>
          <p:cNvSpPr txBox="1"/>
          <p:nvPr/>
        </p:nvSpPr>
        <p:spPr>
          <a:xfrm>
            <a:off x="15660000" y="35496000"/>
            <a:ext cx="13644000" cy="5158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28"/>
              </a:lnSpc>
              <a:spcBef>
                <a:spcPts val="0"/>
              </a:spcBef>
              <a:spcAft>
                <a:spcPts val="0"/>
              </a:spcAft>
              <a:defRPr sz="24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Zero-shot xArm · successes / 20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5660000" y="36108000"/>
            <a:ext cx="4284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20 / 20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5660000" y="36720000"/>
            <a:ext cx="4284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Spatial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0268000" y="36108000"/>
            <a:ext cx="4284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14 / 20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0268000" y="36720000"/>
            <a:ext cx="4284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Multi-view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4876000" y="36108000"/>
            <a:ext cx="4284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E54C64"/>
                </a:solidFill>
                <a:latin typeface="Open Sans"/>
              </a:defRPr>
            </a:pPr>
            <a:r>
              <a:rPr>
                <a:solidFill>
                  <a:srgbClr val="E54C64"/>
                </a:solidFill>
              </a:rPr>
              <a:t>11 / 20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4876000" y="36720000"/>
            <a:ext cx="4284000" cy="4693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2562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222222"/>
                </a:solidFill>
                <a:latin typeface="Open Sans"/>
              </a:defRPr>
            </a:pPr>
            <a:r>
              <a:rPr>
                <a:solidFill>
                  <a:srgbClr val="222222"/>
                </a:solidFill>
              </a:rPr>
              <a:t>Long-horizon</a:t>
            </a:r>
          </a:p>
        </p:txBody>
      </p:sp>
      <p:pic>
        <p:nvPicPr>
          <p:cNvPr id="136" name="Picture 135" descr="figure-4-two-example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748000" y="37476000"/>
            <a:ext cx="9468000" cy="3810057"/>
          </a:xfrm>
          <a:prstGeom prst="rect">
            <a:avLst/>
          </a:prstGeom>
        </p:spPr>
      </p:pic>
      <p:sp>
        <p:nvSpPr>
          <p:cNvPr id="137" name="Rectangle 136"/>
          <p:cNvSpPr/>
          <p:nvPr/>
        </p:nvSpPr>
        <p:spPr>
          <a:xfrm>
            <a:off x="504000" y="42012000"/>
            <a:ext cx="29268000" cy="648000"/>
          </a:xfrm>
          <a:prstGeom prst="rect">
            <a:avLst/>
          </a:prstGeom>
          <a:solidFill>
            <a:srgbClr val="E54C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720000" y="42048000"/>
            <a:ext cx="28836000" cy="59332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3538"/>
              </a:lnSpc>
              <a:spcBef>
                <a:spcPts val="0"/>
              </a:spcBef>
              <a:spcAft>
                <a:spcPts val="0"/>
              </a:spcAft>
              <a:defRPr sz="2900" b="1">
                <a:solidFill>
                  <a:srgbClr val="FFFFFF"/>
                </a:solidFill>
                <a:latin typeface="Open Sans"/>
              </a:defRPr>
            </a:pPr>
            <a:r>
              <a:rPr>
                <a:solidFill>
                  <a:srgbClr val="FFFFFF"/>
                </a:solidFill>
              </a:rPr>
              <a:t>Persistent Visual Anchors · Consistent Reasoning · Grounded Answers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