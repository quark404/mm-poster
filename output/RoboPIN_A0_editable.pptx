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841 × 1189 mm. Layout aligned to the user-supplied SDO poster screenshot: Motivation and Key Insight above a full-width Method, then Experimental and Qualitative Results. Character decorations and all SDO-specific scientific content are excluded. The external API-based PosterAgent generator was not run. Original Figure 1 comparison and Figure 2 pipeline are preserved. The qualitative panel adds the original Figure 4 reasoning examples. Three grouped bar charts reproduce paper Figure 1 and Tables 1–3: spatial mean over 13 capability columns, pointing mean over 5 benchmarks, robot successes over 60 trials. Missing robot baseline is n/a. The detailed selected-benchmark table is retained in the source notes rather than repeated on this poster. The robot trial-count caption conflict in the source paper still requires author confirmation. Logos are original official images; paper/code QR remains an intentional placeholder. Chart bars, values, axes, text and training nodes are editable; source figures are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468000"/>
            <a:ext cx="20160000" cy="13370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94"/>
              </a:lnSpc>
              <a:spcBef>
                <a:spcPts val="0"/>
              </a:spcBef>
              <a:spcAft>
                <a:spcPts val="0"/>
              </a:spcAft>
              <a:defRPr sz="7700" b="1">
                <a:solidFill>
                  <a:srgbClr val="102B46"/>
                </a:solidFill>
                <a:latin typeface="DejaVu Sans"/>
              </a:defRPr>
            </a:pPr>
            <a:r>
              <a:t>RoboPIN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21600000" cy="11965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44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102B46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4144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102B46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3240000"/>
            <a:ext cx="24840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708000"/>
            <a:ext cx="24840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2448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Tianjin University · ACM Multimedia 2026 · Rio de Janeiro,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860000"/>
            <a:ext cx="23400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quark404@tju.edu.cn · yuanyf@tju.edu.cn | * Equal contribution † Corresponding authors</a:t>
            </a:r>
          </a:p>
        </p:txBody>
      </p:sp>
      <p:pic>
        <p:nvPicPr>
          <p:cNvPr id="9" name="Picture 8" descr="m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8000" y="522568"/>
            <a:ext cx="7812000" cy="1726863"/>
          </a:xfrm>
          <a:prstGeom prst="rect">
            <a:avLst/>
          </a:prstGeom>
        </p:spPr>
      </p:pic>
      <p:pic>
        <p:nvPicPr>
          <p:cNvPr id="10" name="Picture 9" descr="tj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56000" y="2666516"/>
            <a:ext cx="2520000" cy="237096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20000" y="5868000"/>
            <a:ext cx="14112000" cy="900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6012000"/>
            <a:ext cx="13536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Motivation</a:t>
            </a:r>
          </a:p>
        </p:txBody>
      </p:sp>
      <p:pic>
        <p:nvPicPr>
          <p:cNvPr id="13" name="Picture 12" descr="figure-1-cot-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000" y="7236000"/>
            <a:ext cx="13212000" cy="71240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52000" y="14544000"/>
            <a:ext cx="1321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Paper Figure 1 · comparing three CoT paradigms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15300000"/>
            <a:ext cx="1321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1. Reference drift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15948000"/>
            <a:ext cx="13212000" cy="918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334B"/>
                </a:solidFill>
                <a:latin typeface="DejaVu Sans"/>
              </a:defRPr>
            </a:pPr>
            <a:r>
              <a:t>Textual references can switch between similar objects during multi-step</a:t>
            </a:r>
          </a:p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334B"/>
                </a:solidFill>
                <a:latin typeface="DejaVu Sans"/>
              </a:defRPr>
            </a:pPr>
            <a:r>
              <a:t>reasoning.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17280000"/>
            <a:ext cx="1321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2. Reasoning–answer misalignment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17928000"/>
            <a:ext cx="13212000" cy="918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334B"/>
                </a:solidFill>
                <a:latin typeface="DejaVu Sans"/>
              </a:defRPr>
            </a:pPr>
            <a:r>
              <a:t>A correct intermediate analysis can still end on the wrong object, especially across</a:t>
            </a:r>
          </a:p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334B"/>
                </a:solidFill>
                <a:latin typeface="DejaVu Sans"/>
              </a:defRPr>
            </a:pPr>
            <a:r>
              <a:t>views.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444000" y="5868000"/>
            <a:ext cx="14112000" cy="900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732000" y="6012000"/>
            <a:ext cx="13536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Key Insight: Persistent Identity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6000" y="7200000"/>
            <a:ext cx="529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VIEW 0</a:t>
            </a:r>
          </a:p>
        </p:txBody>
      </p:sp>
      <p:pic>
        <p:nvPicPr>
          <p:cNvPr id="22" name="Picture 21" descr="view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56000" y="7776000"/>
            <a:ext cx="5292000" cy="3996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9274328" y="9940895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236000" y="7956000"/>
            <a:ext cx="2520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08000" y="7992000"/>
            <a:ext cx="2376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64000" y="7200000"/>
            <a:ext cx="529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VIEW 1</a:t>
            </a:r>
          </a:p>
        </p:txBody>
      </p:sp>
      <p:pic>
        <p:nvPicPr>
          <p:cNvPr id="27" name="Picture 26" descr="view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64000" y="7776000"/>
            <a:ext cx="5292000" cy="399600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27693648" y="10460375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3544000" y="7956000"/>
            <a:ext cx="2520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616000" y="7992000"/>
            <a:ext cx="2376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1708000" y="9684000"/>
            <a:ext cx="1224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788000" y="957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2788000" y="968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5876000" y="12276000"/>
            <a:ext cx="1321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Same entity. Same ID. Different views.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876000" y="13212000"/>
            <a:ext cx="1321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8334B"/>
                </a:solidFill>
                <a:latin typeface="DejaVu Sans"/>
              </a:defRPr>
            </a:pPr>
            <a:r>
              <a:t>Reasoning anchor = name + ID + view + point.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76000" y="14580000"/>
            <a:ext cx="1321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Introduce the anchor once; reuse its identity throughout the reasoning chain.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76000" y="16272000"/>
            <a:ext cx="975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Our 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876000" y="16956000"/>
            <a:ext cx="9756000" cy="918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334B"/>
                </a:solidFill>
                <a:latin typeface="DejaVu Sans"/>
              </a:defRPr>
            </a:pPr>
            <a:r>
              <a:t>Persistent IDs connect visual grounding, intermediate steps</a:t>
            </a:r>
          </a:p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18334B"/>
                </a:solidFill>
                <a:latin typeface="DejaVu Sans"/>
              </a:defRPr>
            </a:pPr>
            <a:r>
              <a:t>and the final answer.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84000" y="16128000"/>
            <a:ext cx="2304000" cy="2304000"/>
          </a:xfrm>
          <a:prstGeom prst="roundRect">
            <a:avLst>
              <a:gd name="adj" fmla="val 1562"/>
            </a:avLst>
          </a:prstGeom>
          <a:solidFill>
            <a:srgbClr val="FFFFFF"/>
          </a:solidFill>
          <a:ln w="12700">
            <a:solidFill>
              <a:srgbClr val="D5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000000" y="16812000"/>
            <a:ext cx="1872000" cy="7485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PLACEHOLDER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68000" y="18684000"/>
            <a:ext cx="2736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566B7C"/>
                </a:solidFill>
                <a:latin typeface="DejaVu Sans"/>
              </a:defRPr>
            </a:pPr>
            <a:r>
              <a:t>PAPER / CODE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000" y="19440000"/>
            <a:ext cx="28836000" cy="900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8000" y="19584000"/>
            <a:ext cx="28260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Our Method: RoboPIN / PinCoT</a:t>
            </a:r>
          </a:p>
        </p:txBody>
      </p:sp>
      <p:pic>
        <p:nvPicPr>
          <p:cNvPr id="44" name="Picture 43" descr="figure-2-data-pipe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000" y="20844000"/>
            <a:ext cx="27972000" cy="623979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152000" y="28152000"/>
            <a:ext cx="4932000" cy="842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Three-stage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post-training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8000" y="27828000"/>
            <a:ext cx="7164000" cy="1440000"/>
          </a:xfrm>
          <a:prstGeom prst="roundRect">
            <a:avLst>
              <a:gd name="adj" fmla="val 5000"/>
            </a:avLst>
          </a:prstGeom>
          <a:solidFill>
            <a:srgbClr val="ED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68000" y="28044000"/>
            <a:ext cx="6804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8000" y="28692000"/>
            <a:ext cx="680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Embodied knowledge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3860000" y="28548000"/>
            <a:ext cx="252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3968000" y="2844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3968000" y="28548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4220000" y="27828000"/>
            <a:ext cx="7164000" cy="1440000"/>
          </a:xfrm>
          <a:prstGeom prst="roundRect">
            <a:avLst>
              <a:gd name="adj" fmla="val 5000"/>
            </a:avLst>
          </a:prstGeom>
          <a:solidFill>
            <a:srgbClr val="ED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4400000" y="28044000"/>
            <a:ext cx="6804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400000" y="28692000"/>
            <a:ext cx="680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Structured reasoning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1492000" y="28548000"/>
            <a:ext cx="252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600000" y="2844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1600000" y="28548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21852000" y="27828000"/>
            <a:ext cx="7164000" cy="1440000"/>
          </a:xfrm>
          <a:prstGeom prst="roundRect">
            <a:avLst>
              <a:gd name="adj" fmla="val 5000"/>
            </a:avLst>
          </a:prstGeom>
          <a:solidFill>
            <a:srgbClr val="ED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032000" y="28044000"/>
            <a:ext cx="6804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032000" y="28692000"/>
            <a:ext cx="680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Process alignment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2000" y="29844000"/>
            <a:ext cx="27972000" cy="9395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PinCoT binds visual evidence to persistent identities. PIN-170K supplies structured traces; process rewards supervise grounding and identity</a:t>
            </a:r>
          </a:p>
          <a:p>
            <a:pPr algn="l">
              <a:lnSpc>
                <a:spcPts val="3131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consistency.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0000" y="31248000"/>
            <a:ext cx="14112000" cy="900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8000" y="31392000"/>
            <a:ext cx="13536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Experimental Results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52000" y="32652000"/>
            <a:ext cx="216000" cy="216000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512000" y="32616000"/>
            <a:ext cx="637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Embodied-R1 (3B)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08000" y="32652000"/>
            <a:ext cx="216000" cy="2160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68000" y="32616000"/>
            <a:ext cx="637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RoboBrain2.0 (7B)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152000" y="33228000"/>
            <a:ext cx="216000" cy="216000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512000" y="33192000"/>
            <a:ext cx="637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Mimo-Embodied (7B)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08000" y="33228000"/>
            <a:ext cx="216000" cy="216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68000" y="33192000"/>
            <a:ext cx="637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RoboPIN (4B)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84000" y="34128000"/>
            <a:ext cx="3852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02B46"/>
                </a:solidFill>
                <a:latin typeface="DejaVu Sans"/>
              </a:defRPr>
            </a:pPr>
            <a:r>
              <a:t>Spatial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1584000" y="387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936000" y="385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584000" y="369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936000" y="367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584000" y="351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936000" y="349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000" y="36813323"/>
            <a:ext cx="648000" cy="1886676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584000" y="36417323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52.4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28000" y="36716400"/>
            <a:ext cx="648000" cy="19836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84000" y="363204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55.1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528000" y="36585415"/>
            <a:ext cx="648000" cy="2114584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384000" y="36189415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58.7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428000" y="36252276"/>
            <a:ext cx="648000" cy="2447723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84000" y="35856276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68.0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156000" y="34128000"/>
            <a:ext cx="3852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02B46"/>
                </a:solidFill>
                <a:latin typeface="DejaVu Sans"/>
              </a:defRPr>
            </a:pPr>
            <a:r>
              <a:t>Pointing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156000" y="387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508000" y="385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156000" y="369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508000" y="367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156000" y="351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5508000" y="349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0000" y="36338400"/>
            <a:ext cx="648000" cy="2361600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56000" y="359424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65.6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00000" y="36835200"/>
            <a:ext cx="648000" cy="18648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056000" y="364392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51.8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00000" y="36463680"/>
            <a:ext cx="648000" cy="2236320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6000" y="3606768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62.1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0" y="36257040"/>
            <a:ext cx="648000" cy="244296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856000" y="3586104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67.9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728000" y="34128000"/>
            <a:ext cx="3852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02B46"/>
                </a:solidFill>
                <a:latin typeface="DejaVu Sans"/>
              </a:defRPr>
            </a:pPr>
            <a:r>
              <a:t>Robot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0728000" y="387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10080000" y="385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10728000" y="369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10080000" y="367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10728000" y="35100000"/>
            <a:ext cx="3708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0080000" y="3499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64000" y="38196000"/>
            <a:ext cx="792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n/a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772000" y="37620000"/>
            <a:ext cx="648000" cy="10800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628000" y="372240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30.0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672000" y="38100000"/>
            <a:ext cx="648000" cy="600000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2528000" y="377040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16.7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3572000" y="36000000"/>
            <a:ext cx="648000" cy="2700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3428000" y="356040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75.0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52000" y="39132000"/>
            <a:ext cx="13212000" cy="76375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Scores (%) · Figure 1 / Tables 1–3. Spatial: 13-column mean; pointing: 5-benchmark mean; robot:</a:t>
            </a:r>
          </a:p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success over 60 trials.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152000" y="40392000"/>
            <a:ext cx="13212000" cy="1260000"/>
          </a:xfrm>
          <a:prstGeom prst="roundRect">
            <a:avLst>
              <a:gd name="adj" fmla="val 5714"/>
            </a:avLst>
          </a:prstGeom>
          <a:solidFill>
            <a:srgbClr val="ED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512000" y="40536000"/>
            <a:ext cx="1249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18.8% → 99.9% cross-step ID coverage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512000" y="41148000"/>
            <a:ext cx="1249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Without RFT → RoboPIN · EmbSpatial, Table 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5444000" y="31248000"/>
            <a:ext cx="14112000" cy="900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5732000" y="31392000"/>
            <a:ext cx="13536000" cy="6707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148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Qualitative Results</a:t>
            </a:r>
          </a:p>
        </p:txBody>
      </p:sp>
      <p:pic>
        <p:nvPicPr>
          <p:cNvPr id="122" name="Picture 121" descr="robot-dem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76000" y="32652000"/>
            <a:ext cx="13212000" cy="4052395"/>
          </a:xfrm>
          <a:prstGeom prst="rect">
            <a:avLst/>
          </a:prstGeom>
        </p:spPr>
      </p:pic>
      <p:pic>
        <p:nvPicPr>
          <p:cNvPr id="123" name="Picture 122" descr="figure-4-qualitat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76000" y="37080000"/>
            <a:ext cx="7236000" cy="4403343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23760000" y="37152000"/>
            <a:ext cx="53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Zero-shot xArm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3760000" y="37980000"/>
            <a:ext cx="5328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3760000" y="38340000"/>
            <a:ext cx="53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3760000" y="38880000"/>
            <a:ext cx="5328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760000" y="39240000"/>
            <a:ext cx="53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3760000" y="39780000"/>
            <a:ext cx="5328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Long-horizon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3760000" y="40140000"/>
            <a:ext cx="53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760000" y="40788000"/>
            <a:ext cx="5328000" cy="6748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Successes per task</a:t>
            </a:r>
          </a:p>
          <a:p>
            <a:pPr algn="l">
              <a:lnSpc>
                <a:spcPts val="209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Table 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876000" y="41616000"/>
            <a:ext cx="13212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Figure 3: execution · Figure 4: grounded reasoning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0" y="42120000"/>
            <a:ext cx="30276000" cy="684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20000" y="42228000"/>
            <a:ext cx="2883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FFFFF"/>
                </a:solidFill>
                <a:latin typeface="DejaVu Sans"/>
              </a:defRPr>
            </a:pPr>
            <a:r>
              <a:t>Persistent visual anchors make embodied reasoning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