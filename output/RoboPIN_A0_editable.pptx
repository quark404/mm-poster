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(841 × 1189 mm), verified against the ACM Multimedia 2026 presenter guidelines. Text, the results table and the training nodes are editable; original paper figures and logos are separate replaceable images. Sections 01 and 02 use the original Figure 1 left comparison and Figure 2 upper data pipeline from the supplied paper. The top charts use Tables 1–3 and reproduce Figure 1 aggregates: spatial mean over 13 capability columns, pointing mean over 5 benchmarks, robot success over 60 trials. Missing robot baseline is n/a. The lower table is selected comparisons only. Table 7: cross-step identity coverage. Robot trial counts follow Table 3 and Section 4.3; the Table 3 caption says 5 trials and requires author confirmation. Conference and Tianjin University logos use unmodified official assets matching the supplied designs on a white header. Only the paper/code QR remains an intentional placeholder. The 12% abstract claim is omitted because the aggregate weighting is not specified. See README.md and SOURCES.md for provenance, editing and build instructions.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554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36000"/>
            <a:ext cx="30276000" cy="108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6000" y="432000"/>
            <a:ext cx="1620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VISUAL GROUNDING × IDENTITY-CONSISTENT REASONING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972000"/>
            <a:ext cx="15840000" cy="16933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200"/>
              </a:lnSpc>
              <a:spcBef>
                <a:spcPts val="0"/>
              </a:spcBef>
              <a:spcAft>
                <a:spcPts val="0"/>
              </a:spcAft>
              <a:defRPr sz="10000" b="1">
                <a:solidFill>
                  <a:srgbClr val="102B46"/>
                </a:solidFill>
                <a:latin typeface="DejaVu Sans"/>
              </a:defRPr>
            </a:pPr>
            <a:r>
              <a:t>RoboPIN</a:t>
            </a:r>
          </a:p>
        </p:txBody>
      </p:sp>
      <p:pic>
        <p:nvPicPr>
          <p:cNvPr id="7" name="Picture 6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8000" y="809052"/>
            <a:ext cx="8640000" cy="1909894"/>
          </a:xfrm>
          <a:prstGeom prst="rect">
            <a:avLst/>
          </a:prstGeom>
        </p:spPr>
      </p:pic>
      <p:pic>
        <p:nvPicPr>
          <p:cNvPr id="8" name="Picture 7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60000" y="409161"/>
            <a:ext cx="2880000" cy="2709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6000" y="2556000"/>
            <a:ext cx="28404000" cy="141806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16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102B46"/>
                </a:solidFill>
                <a:latin typeface="DejaVu Sans"/>
              </a:defRPr>
            </a:pPr>
            <a:r>
              <a:t>Grounded Embodied Reasoning</a:t>
            </a:r>
          </a:p>
          <a:p>
            <a:pPr algn="l">
              <a:lnSpc>
                <a:spcPts val="5016"/>
              </a:lnSpc>
              <a:spcBef>
                <a:spcPts val="0"/>
              </a:spcBef>
              <a:spcAft>
                <a:spcPts val="0"/>
              </a:spcAft>
              <a:defRPr sz="4400" b="1">
                <a:solidFill>
                  <a:srgbClr val="102B46"/>
                </a:solidFill>
                <a:latin typeface="DejaVu Sans"/>
              </a:defRPr>
            </a:pPr>
            <a:r>
              <a:t>via Pinned Chain-of-Thought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000" y="3996000"/>
            <a:ext cx="284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Yaoting Huang* · Yifu Yuan*† · Linqi Han · Chengwen Li · Shuoheng Zhang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4428000"/>
            <a:ext cx="2840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566B7C"/>
                </a:solidFill>
                <a:latin typeface="DejaVu Sans"/>
              </a:defRPr>
            </a:pPr>
            <a:r>
              <a:t>Xianze Yao · Hongyao Tang · Yan Zheng · Jianye Hao†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6000" y="4932000"/>
            <a:ext cx="28404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Tianjin University | ACM Multimedia 2026 · Rio de Janeiro, Brazil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36000" y="5976000"/>
            <a:ext cx="28404000" cy="5652000"/>
          </a:xfrm>
          <a:prstGeom prst="roundRect">
            <a:avLst>
              <a:gd name="adj" fmla="val 2547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12000" y="6408000"/>
            <a:ext cx="27252000" cy="6243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82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18334B"/>
                </a:solidFill>
                <a:latin typeface="DejaVu Sans"/>
              </a:defRPr>
            </a:pPr>
            <a:r>
              <a:t>Overall performance across task families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12000" y="7200000"/>
            <a:ext cx="252000" cy="252000"/>
          </a:xfrm>
          <a:prstGeom prst="rect">
            <a:avLst/>
          </a:prstGeom>
          <a:solidFill>
            <a:srgbClr val="E6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08000" y="7164000"/>
            <a:ext cx="594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Embodied-R1 (3B)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44000" y="7200000"/>
            <a:ext cx="252000" cy="252000"/>
          </a:xfrm>
          <a:prstGeom prst="rect">
            <a:avLst/>
          </a:prstGeom>
          <a:solidFill>
            <a:srgbClr val="A99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0000" y="7164000"/>
            <a:ext cx="594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RoboBrain2.0 (7B)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660000" y="7200000"/>
            <a:ext cx="252000" cy="252000"/>
          </a:xfrm>
          <a:prstGeom prst="rect">
            <a:avLst/>
          </a:prstGeom>
          <a:solidFill>
            <a:srgbClr val="86A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056000" y="7164000"/>
            <a:ext cx="594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8334B"/>
                </a:solidFill>
                <a:latin typeface="DejaVu Sans"/>
              </a:defRPr>
            </a:pPr>
            <a:r>
              <a:t>Mimo-Embodied (7B)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76000" y="7200000"/>
            <a:ext cx="252000" cy="252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472000" y="7164000"/>
            <a:ext cx="594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007E87"/>
                </a:solidFill>
                <a:latin typeface="DejaVu Sans"/>
              </a:defRPr>
            </a:pPr>
            <a:r>
              <a:t>RoboPIN (4B)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6000" y="7848000"/>
            <a:ext cx="766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Spatial · 9 benchmarks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412000" y="10800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512000" y="10656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412000" y="9666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512000" y="9522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12000" y="8532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512000" y="8388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36000" y="9611393"/>
            <a:ext cx="1080000" cy="1188606"/>
          </a:xfrm>
          <a:prstGeom prst="rect">
            <a:avLst/>
          </a:prstGeom>
          <a:solidFill>
            <a:srgbClr val="E6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6000" y="9215393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52.4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28000" y="9550332"/>
            <a:ext cx="1080000" cy="1249668"/>
          </a:xfrm>
          <a:prstGeom prst="rect">
            <a:avLst/>
          </a:prstGeom>
          <a:solidFill>
            <a:srgbClr val="A99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48000" y="9154332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55.1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20000" y="9467811"/>
            <a:ext cx="1080000" cy="1332188"/>
          </a:xfrm>
          <a:prstGeom prst="rect">
            <a:avLst/>
          </a:prstGeom>
          <a:solidFill>
            <a:srgbClr val="86A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0000" y="9071811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58.7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2000" y="9257934"/>
            <a:ext cx="1080000" cy="1542065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2000" y="8861934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68.0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700000" y="7848000"/>
            <a:ext cx="766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Pointing · 5 benchmarks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1736000" y="10800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0836000" y="10656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1736000" y="9666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836000" y="9522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36000" y="8532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36000" y="8388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060000" y="9312192"/>
            <a:ext cx="1080000" cy="1487807"/>
          </a:xfrm>
          <a:prstGeom prst="rect">
            <a:avLst/>
          </a:prstGeom>
          <a:solidFill>
            <a:srgbClr val="E6B5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80000" y="8916192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65.6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52000" y="9625176"/>
            <a:ext cx="1080000" cy="1174824"/>
          </a:xfrm>
          <a:prstGeom prst="rect">
            <a:avLst/>
          </a:prstGeom>
          <a:solidFill>
            <a:srgbClr val="A99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572000" y="9229176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51.8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444000" y="9391118"/>
            <a:ext cx="1080000" cy="1408881"/>
          </a:xfrm>
          <a:prstGeom prst="rect">
            <a:avLst/>
          </a:prstGeom>
          <a:solidFill>
            <a:srgbClr val="86A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264000" y="8995118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62.1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7136000" y="9260935"/>
            <a:ext cx="1080000" cy="1539064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956000" y="8864935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67.9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024000" y="7848000"/>
            <a:ext cx="766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18334B"/>
                </a:solidFill>
                <a:latin typeface="DejaVu Sans"/>
              </a:defRPr>
            </a:pPr>
            <a:r>
              <a:t>Real-world · 3 tasks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1060000" y="10800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20160000" y="10656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0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1060000" y="9666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0160000" y="9522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50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21060000" y="8532000"/>
            <a:ext cx="7524000" cy="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20160000" y="8388000"/>
            <a:ext cx="684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276000" y="10368000"/>
            <a:ext cx="129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n/a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076000" y="10119600"/>
            <a:ext cx="1080000" cy="680400"/>
          </a:xfrm>
          <a:prstGeom prst="rect">
            <a:avLst/>
          </a:prstGeom>
          <a:solidFill>
            <a:srgbClr val="A99C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896000" y="9723600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30.0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4768000" y="10422000"/>
            <a:ext cx="1080000" cy="378000"/>
          </a:xfrm>
          <a:prstGeom prst="rect">
            <a:avLst/>
          </a:prstGeom>
          <a:solidFill>
            <a:srgbClr val="86A5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588000" y="10026000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16.7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6460000" y="9099000"/>
            <a:ext cx="1080000" cy="1701000"/>
          </a:xfrm>
          <a:prstGeom prst="rect">
            <a:avLst/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6280000" y="8703000"/>
            <a:ext cx="14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007E87"/>
                </a:solidFill>
                <a:latin typeface="DejaVu Sans"/>
              </a:defRPr>
            </a:pPr>
            <a:r>
              <a:t>75.0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12000" y="11124000"/>
            <a:ext cx="2725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Scores (%), Tables 1–3 / Figure 1. Spatial: 13-column mean; pointing: 5-benchmark mean; robot: success over 60 trials.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36000" y="12132000"/>
            <a:ext cx="28404000" cy="8568000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1512000" y="12600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512000" y="12679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68000" y="12636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One entity. One persistent identity.</a:t>
            </a:r>
          </a:p>
        </p:txBody>
      </p:sp>
      <p:pic>
        <p:nvPicPr>
          <p:cNvPr id="72" name="Picture 71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000" y="13536000"/>
            <a:ext cx="12600000" cy="6794088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120000" y="13680000"/>
            <a:ext cx="13284000" cy="11666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007E87"/>
                </a:solidFill>
                <a:latin typeface="DejaVu Sans"/>
              </a:defRPr>
            </a:pPr>
            <a:r>
              <a:t>Ground reasoning in</a:t>
            </a:r>
          </a:p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007E87"/>
                </a:solidFill>
                <a:latin typeface="DejaVu Sans"/>
              </a:defRPr>
            </a:pPr>
            <a:r>
              <a:t>persistent visual anchors.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5120000" y="15120000"/>
            <a:ext cx="1328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Text CoT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120000" y="15696000"/>
            <a:ext cx="1328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Implicit entity references can drift.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5120000" y="16524000"/>
            <a:ext cx="1328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8334B"/>
                </a:solidFill>
                <a:latin typeface="DejaVu Sans"/>
              </a:defRPr>
            </a:pPr>
            <a:r>
              <a:t>Coordinate CoT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5120000" y="17100000"/>
            <a:ext cx="1328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Spatial coordinates alone do not preserve identity.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120000" y="18288000"/>
            <a:ext cx="13284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007E87"/>
                </a:solidFill>
                <a:latin typeface="DejaVu Sans"/>
              </a:defRPr>
            </a:pPr>
            <a:r>
              <a:t>PinCoT / ours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120000" y="18864000"/>
            <a:ext cx="1328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566B7C"/>
                </a:solidFill>
                <a:latin typeface="DejaVu Sans"/>
              </a:defRPr>
            </a:pPr>
            <a:r>
              <a:t>Bind every step to an explicit, trackable entity.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120000" y="19728000"/>
            <a:ext cx="1328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Name + ID + view + point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120000" y="20304000"/>
            <a:ext cx="13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Original comparison: paper Figure 1 (left).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36000" y="21204000"/>
            <a:ext cx="28404000" cy="7524000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512000" y="216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512000" y="217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68000" y="21708000"/>
            <a:ext cx="26604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From data to RoboPIN</a:t>
            </a:r>
          </a:p>
        </p:txBody>
      </p:sp>
      <p:pic>
        <p:nvPicPr>
          <p:cNvPr id="86" name="Picture 85" descr="figure-2-data-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6000" y="22392000"/>
            <a:ext cx="23400000" cy="5219908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512000" y="27864000"/>
            <a:ext cx="6048000" cy="842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Three-stage</a:t>
            </a:r>
          </a:p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post-training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100000" y="27792000"/>
            <a:ext cx="6444000" cy="864000"/>
          </a:xfrm>
          <a:prstGeom prst="roundRect">
            <a:avLst>
              <a:gd name="adj" fmla="val 8333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44000" y="27864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SFT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44000" y="28260000"/>
            <a:ext cx="615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Embodied knowledge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14652000" y="28224000"/>
            <a:ext cx="36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14868000" y="2811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 flipV="1">
            <a:off x="14868000" y="2822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ounded Rectangle 93"/>
          <p:cNvSpPr/>
          <p:nvPr/>
        </p:nvSpPr>
        <p:spPr>
          <a:xfrm>
            <a:off x="15120000" y="27792000"/>
            <a:ext cx="6444000" cy="864000"/>
          </a:xfrm>
          <a:prstGeom prst="roundRect">
            <a:avLst>
              <a:gd name="adj" fmla="val 8333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5264000" y="27864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CoT-SFT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5264000" y="28260000"/>
            <a:ext cx="615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Structured reasoning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21672000" y="28224000"/>
            <a:ext cx="360000" cy="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1888000" y="28116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21888000" y="28224000"/>
            <a:ext cx="144000" cy="108000"/>
          </a:xfrm>
          <a:prstGeom prst="line">
            <a:avLst/>
          </a:prstGeom>
          <a:ln w="38100">
            <a:solidFill>
              <a:srgbClr val="007E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140000" y="27792000"/>
            <a:ext cx="6444000" cy="864000"/>
          </a:xfrm>
          <a:prstGeom prst="roundRect">
            <a:avLst>
              <a:gd name="adj" fmla="val 8333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284000" y="27864000"/>
            <a:ext cx="615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RFT / GRPO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2284000" y="28260000"/>
            <a:ext cx="6156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566B7C"/>
                </a:solidFill>
                <a:latin typeface="DejaVu Sans"/>
              </a:defRPr>
            </a:pPr>
            <a:r>
              <a:t>Process alignment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6000" y="29232000"/>
            <a:ext cx="13824000" cy="8244000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1512000" y="29700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512000" y="29779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03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268000" y="29736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Results &amp; process analysis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12000" y="30564000"/>
            <a:ext cx="12672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RoboPIN 4B vs. Mimo-Embodied 7B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512000" y="31176000"/>
            <a:ext cx="12672000" cy="720000"/>
          </a:xfrm>
          <a:prstGeom prst="roundRect">
            <a:avLst>
              <a:gd name="adj" fmla="val 5000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28000" y="31356000"/>
            <a:ext cx="5220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Benchmark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56000" y="31356000"/>
            <a:ext cx="194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7B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252000" y="31356000"/>
            <a:ext cx="2196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4B / ours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952000" y="31356000"/>
            <a:ext cx="205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FFFFFF"/>
                </a:solidFill>
                <a:latin typeface="DejaVu Sans"/>
              </a:defRPr>
            </a:pPr>
            <a:r>
              <a:t>Δ pp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512000" y="32004000"/>
            <a:ext cx="12672000" cy="61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728000" y="32112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EmbSpatial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56000" y="32112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76.2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52000" y="32112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83.1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952000" y="32112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728000" y="32724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RoboSpatial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056000" y="32724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61.8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252000" y="32724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66.6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952000" y="32724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+4.8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512000" y="33228000"/>
            <a:ext cx="12672000" cy="612000"/>
          </a:xfrm>
          <a:prstGeom prst="rect">
            <a:avLst/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728000" y="33336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18334B"/>
                </a:solidFill>
                <a:latin typeface="DejaVu Sans"/>
              </a:defRPr>
            </a:pPr>
            <a:r>
              <a:t>CrossPoint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056000" y="33336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36.8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252000" y="33336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1952000" y="33336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+35.4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728000" y="33948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BLINK · multi-view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056000" y="33948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26.3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252000" y="33948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952000" y="33948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+46.6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512000" y="34452000"/>
            <a:ext cx="12672000" cy="612000"/>
          </a:xfrm>
          <a:prstGeom prst="rect">
            <a:avLst/>
          </a:prstGeom>
          <a:solidFill>
            <a:srgbClr val="F0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728000" y="34560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RoboRefit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7056000" y="34560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82.3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252000" y="34560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89.0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952000" y="34560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+6.7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728000" y="35172000"/>
            <a:ext cx="53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18334B"/>
                </a:solidFill>
                <a:latin typeface="DejaVu Sans"/>
              </a:defRPr>
            </a:pPr>
            <a:r>
              <a:t>RoboAfford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056000" y="35172000"/>
            <a:ext cx="1944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0">
                <a:solidFill>
                  <a:srgbClr val="18334B"/>
                </a:solidFill>
                <a:latin typeface="DejaVu Sans"/>
              </a:defRPr>
            </a:pPr>
            <a:r>
              <a:t>69.8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52000" y="35172000"/>
            <a:ext cx="21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007E87"/>
                </a:solidFill>
                <a:latin typeface="DejaVu Sans"/>
              </a:defRPr>
            </a:pPr>
            <a:r>
              <a:t>72.8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952000" y="35172000"/>
            <a:ext cx="2052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007E87"/>
                </a:solidFill>
                <a:latin typeface="DejaVu Sans"/>
              </a:defRPr>
            </a:pPr>
            <a:r>
              <a:t>+3.0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12000" y="35928000"/>
            <a:ext cx="12672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566B7C"/>
                </a:solidFill>
                <a:latin typeface="DejaVu Sans"/>
              </a:defRPr>
            </a:pPr>
            <a:r>
              <a:t>Selected results, Tables 1–2; Δ in percentage points.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1512000" y="36396000"/>
            <a:ext cx="12672000" cy="792000"/>
          </a:xfrm>
          <a:prstGeom prst="roundRect">
            <a:avLst>
              <a:gd name="adj" fmla="val 9090"/>
            </a:avLst>
          </a:prstGeom>
          <a:solidFill>
            <a:srgbClr val="E4F3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800000" y="36468000"/>
            <a:ext cx="12096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007E87"/>
                </a:solidFill>
                <a:latin typeface="DejaVu Sans"/>
              </a:defRPr>
            </a:pPr>
            <a:r>
              <a:t>Cross-step ID coverage: 18.8% → 99.9%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00000" y="36900000"/>
            <a:ext cx="1209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566B7C"/>
                </a:solidFill>
                <a:latin typeface="DejaVu Sans"/>
              </a:defRPr>
            </a:pPr>
            <a:r>
              <a:t>Without RFT → RoboPIN · EmbSpatial, Table 7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5516000" y="29232000"/>
            <a:ext cx="13824000" cy="8244000"/>
          </a:xfrm>
          <a:prstGeom prst="roundRect">
            <a:avLst>
              <a:gd name="adj" fmla="val 1746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ounded Rectangle 144"/>
          <p:cNvSpPr/>
          <p:nvPr/>
        </p:nvSpPr>
        <p:spPr>
          <a:xfrm>
            <a:off x="16092000" y="29772000"/>
            <a:ext cx="540000" cy="540000"/>
          </a:xfrm>
          <a:prstGeom prst="roundRect">
            <a:avLst>
              <a:gd name="adj" fmla="val 13333"/>
            </a:avLst>
          </a:prstGeom>
          <a:solidFill>
            <a:srgbClr val="007E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6092000" y="29851200"/>
            <a:ext cx="54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FFFFFF"/>
                </a:solidFill>
                <a:latin typeface="DejaVu Sans"/>
              </a:defRPr>
            </a:pPr>
            <a:r>
              <a:t>04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6848000" y="29808000"/>
            <a:ext cx="11916000" cy="65530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26"/>
              </a:lnSpc>
              <a:spcBef>
                <a:spcPts val="0"/>
              </a:spcBef>
              <a:spcAft>
                <a:spcPts val="0"/>
              </a:spcAft>
              <a:defRPr sz="3300" b="1">
                <a:solidFill>
                  <a:srgbClr val="18334B"/>
                </a:solidFill>
                <a:latin typeface="DejaVu Sans"/>
              </a:defRPr>
            </a:pPr>
            <a:r>
              <a:t>Zero-shot robot transfer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6092000" y="30708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007E87"/>
                </a:solidFill>
                <a:latin typeface="DejaVu Sans"/>
              </a:defRPr>
            </a:pPr>
            <a:r>
              <a:t>xArm · static + wrist cameras · Figure 3 / Table 3</a:t>
            </a:r>
          </a:p>
        </p:txBody>
      </p:sp>
      <p:pic>
        <p:nvPicPr>
          <p:cNvPr id="149" name="Picture 148" descr="robot-dem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2000" y="31428000"/>
            <a:ext cx="12672000" cy="3888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6092000" y="35604000"/>
            <a:ext cx="12672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566B7C"/>
                </a:solidFill>
                <a:latin typeface="DejaVu Sans"/>
              </a:defRPr>
            </a:pPr>
            <a:r>
              <a:t>Successful executions / 20 per task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6092000" y="36288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20 / 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6092000" y="37008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Spatial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484000" y="36288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14 / 20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484000" y="37008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Multi-view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4876000" y="36288000"/>
            <a:ext cx="3888000" cy="686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4270"/>
              </a:lnSpc>
              <a:spcBef>
                <a:spcPts val="0"/>
              </a:spcBef>
              <a:spcAft>
                <a:spcPts val="0"/>
              </a:spcAft>
              <a:defRPr sz="3500" b="1">
                <a:solidFill>
                  <a:srgbClr val="007E87"/>
                </a:solidFill>
                <a:latin typeface="DejaVu Sans"/>
              </a:defRPr>
            </a:pPr>
            <a:r>
              <a:t>11 / 20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4876000" y="37008000"/>
            <a:ext cx="3888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8334B"/>
                </a:solidFill>
                <a:latin typeface="DejaVu Sans"/>
              </a:defRPr>
            </a:pPr>
            <a:r>
              <a:t>Long-horizon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36000" y="37980000"/>
            <a:ext cx="28404000" cy="3888000"/>
          </a:xfrm>
          <a:prstGeom prst="roundRect">
            <a:avLst>
              <a:gd name="adj" fmla="val 3703"/>
            </a:avLst>
          </a:prstGeom>
          <a:solidFill>
            <a:srgbClr val="10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512000" y="38448000"/>
            <a:ext cx="22284000" cy="701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392"/>
              </a:lnSpc>
              <a:spcBef>
                <a:spcPts val="0"/>
              </a:spcBef>
              <a:spcAft>
                <a:spcPts val="0"/>
              </a:spcAft>
              <a:defRPr sz="3600" b="1">
                <a:solidFill>
                  <a:srgbClr val="FFFFFF"/>
                </a:solidFill>
                <a:latin typeface="DejaVu Sans"/>
              </a:defRPr>
            </a:pPr>
            <a:r>
              <a:t>Ground every step. Preserve every identity.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512000" y="39240000"/>
            <a:ext cx="22284000" cy="9806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PinCoT makes visual evidence trackable across reasoning steps</a:t>
            </a:r>
          </a:p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DAE7EF"/>
                </a:solidFill>
                <a:latin typeface="DejaVu Sans"/>
              </a:defRPr>
            </a:pPr>
            <a:r>
              <a:t>and viewpoints, supporting reliable embodied decisions.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512000" y="40464000"/>
            <a:ext cx="2228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87DCD1"/>
                </a:solidFill>
                <a:latin typeface="DejaVu Sans"/>
              </a:defRPr>
            </a:pPr>
            <a:r>
              <a:t>Contact: quark404@tju.edu.cn | yuanyf@tju.edu.cn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512000" y="41076000"/>
            <a:ext cx="22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DAE7EF"/>
                </a:solidFill>
                <a:latin typeface="DejaVu Sans"/>
              </a:defRPr>
            </a:pPr>
            <a:r>
              <a:t>* Equal contribution † Corresponding authors: Yifu Yuan, Jianye Hao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5812000" y="38556000"/>
            <a:ext cx="2808000" cy="2808000"/>
          </a:xfrm>
          <a:prstGeom prst="roundRect">
            <a:avLst>
              <a:gd name="adj" fmla="val 2564"/>
            </a:avLst>
          </a:prstGeom>
          <a:solidFill>
            <a:srgbClr val="1C3B56"/>
          </a:solidFill>
          <a:ln w="12700">
            <a:solidFill>
              <a:srgbClr val="55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6028000" y="39240000"/>
            <a:ext cx="2376000" cy="12641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PAPER / CODE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QR</a:t>
            </a:r>
          </a:p>
          <a:p>
            <a:pPr algn="ctr">
              <a:lnSpc>
                <a:spcPts val="2940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D8E5ED"/>
                </a:solidFill>
                <a:latin typeface="DejaVu Sans"/>
              </a:defRPr>
            </a:pPr>
            <a:r>
              <a:t>PLACEHOLDER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