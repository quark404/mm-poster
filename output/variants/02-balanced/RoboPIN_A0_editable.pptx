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 portrait 841 × 1189 mm. Module refinement variant: balanced. The clean variant reduces decorative load; balanced expands evidence and qualitative examples; mechanism adds source-published anchor coordinates and the four reward components. Scientific figures and text remain grounded in the paper. The external API-based PosterAgent generator was not run. Original Figure 1 comparison and Figure 2 pipeline are preserved. The qualitative panel adds the original Figure 4 reasoning examples. Three grouped bar charts reproduce paper Figure 1 and Tables 1–3: spatial mean over 13 capability columns, pointing mean over 5 benchmarks, robot successes over 60 trials. Missing robot baseline is n/a. Compact variants include three explicitly selected benchmark comparisons: CrossPoint, BLINK multi-view and EmbSpatial; these do not assert universal superiority. The robot trial-count caption conflict in the source paper still requires author confirmation. Logos are original official images; paper/code QR remains an intentional placeholder. Chart bars, values, axes, text and training nodes are editable; source figures are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o-wav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6000" cy="4280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360000"/>
            <a:ext cx="19800000" cy="18793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63"/>
              </a:lnSpc>
              <a:spcBef>
                <a:spcPts val="0"/>
              </a:spcBef>
              <a:spcAft>
                <a:spcPts val="0"/>
              </a:spcAft>
              <a:defRPr sz="11200" b="1">
                <a:solidFill>
                  <a:srgbClr val="00576B"/>
                </a:solidFill>
                <a:latin typeface="DejaVu Sans"/>
              </a:defRPr>
            </a:pPr>
            <a:r>
              <a:t>RoboPIN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2052000"/>
            <a:ext cx="21240000" cy="112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5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02B46"/>
                </a:solidFill>
                <a:latin typeface="DejaVu Sans"/>
              </a:defRPr>
            </a:pPr>
            <a:r>
              <a:t>Grounded Embodied Reasoning</a:t>
            </a:r>
          </a:p>
          <a:p>
            <a:pPr algn="l">
              <a:lnSpc>
                <a:spcPts val="385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02B46"/>
                </a:solidFill>
                <a:latin typeface="DejaVu Sans"/>
              </a:defRPr>
            </a:pPr>
            <a:r>
              <a:t>via Pinned Chain-of-Thought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3276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Yaoting Huang* · Yifu Yuan*† · Linqi Han · Chengwen Li · Shuoheng 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3744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Xianze Yao · Hongyao Tang · Yan Zheng · Jianye Hao†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4320000"/>
            <a:ext cx="2203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Tianjin University · ACM Multimedia 2026 · Rio de Janeiro,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860000"/>
            <a:ext cx="22032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quark404@tju.edu.cn · yuanyf@tju.edu.cn | * Equal contribution † Corresponding authors</a:t>
            </a:r>
          </a:p>
        </p:txBody>
      </p:sp>
      <p:pic>
        <p:nvPicPr>
          <p:cNvPr id="10" name="Picture 9" descr="m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857" y="576000"/>
            <a:ext cx="7654285" cy="1692000"/>
          </a:xfrm>
          <a:prstGeom prst="rect">
            <a:avLst/>
          </a:prstGeom>
        </p:spPr>
      </p:pic>
      <p:pic>
        <p:nvPicPr>
          <p:cNvPr id="11" name="Picture 10" descr="tju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2000" y="2696129"/>
            <a:ext cx="2304000" cy="2167741"/>
          </a:xfrm>
          <a:prstGeom prst="ellipse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848000" y="3240000"/>
            <a:ext cx="3996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B46"/>
                </a:solidFill>
                <a:latin typeface="DejaVu Sans"/>
              </a:defRPr>
            </a:pPr>
            <a:r>
              <a:t>Tianjin University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" y="5508000"/>
            <a:ext cx="15624000" cy="118080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" y="5508000"/>
            <a:ext cx="15624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9200" y="6696000"/>
            <a:ext cx="15573600" cy="10594800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" y="5760000"/>
            <a:ext cx="14544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Motivation</a:t>
            </a:r>
          </a:p>
        </p:txBody>
      </p:sp>
      <p:pic>
        <p:nvPicPr>
          <p:cNvPr id="17" name="Picture 16" descr="figure-1-cot-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000" y="7020000"/>
            <a:ext cx="13824000" cy="74540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6000" y="14868000"/>
            <a:ext cx="14760000" cy="9720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8FA"/>
              </a:gs>
              <a:gs pos="100000">
                <a:srgbClr val="F4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4000" y="15030000"/>
            <a:ext cx="648000" cy="6480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4000" y="15048000"/>
            <a:ext cx="64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2000" y="14940000"/>
            <a:ext cx="12996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Reference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2000" y="15480000"/>
            <a:ext cx="12996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Entity references can switch between similar objects across reasoning steps.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000" y="16020000"/>
            <a:ext cx="14760000" cy="9720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8FA"/>
              </a:gs>
              <a:gs pos="100000">
                <a:srgbClr val="F4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24000" y="16182000"/>
            <a:ext cx="648000" cy="6480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4000" y="16200000"/>
            <a:ext cx="64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2000" y="16092000"/>
            <a:ext cx="12996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Reasoning–answer misalignment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2000" y="16632000"/>
            <a:ext cx="12996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The final answer can point to a different entity from the one analyzed.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16000" y="5508000"/>
            <a:ext cx="13356000" cy="118080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416000" y="5508000"/>
            <a:ext cx="13356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41200" y="6696000"/>
            <a:ext cx="13305600" cy="10594800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64000" y="5760000"/>
            <a:ext cx="12276000" cy="6398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Key Insight: Persistent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84000" y="7128000"/>
            <a:ext cx="532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VIEW 0</a:t>
            </a:r>
          </a:p>
        </p:txBody>
      </p:sp>
      <p:pic>
        <p:nvPicPr>
          <p:cNvPr id="33" name="Picture 32" descr="view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4000" y="7704000"/>
            <a:ext cx="5328000" cy="406800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20125152" y="9910367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064000" y="7884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36000" y="792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40000" y="7128000"/>
            <a:ext cx="532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VIEW 1</a:t>
            </a:r>
          </a:p>
        </p:txBody>
      </p:sp>
      <p:pic>
        <p:nvPicPr>
          <p:cNvPr id="38" name="Picture 37" descr="view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0000" y="7704000"/>
            <a:ext cx="5328000" cy="406800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8300032" y="10439208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4120000" y="7884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192000" y="792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572000" y="9684000"/>
            <a:ext cx="936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364000" y="957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364000" y="9684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6848000" y="12132000"/>
            <a:ext cx="12492000" cy="2196000"/>
          </a:xfrm>
          <a:prstGeom prst="roundRect">
            <a:avLst>
              <a:gd name="adj" fmla="val 8196"/>
            </a:avLst>
          </a:prstGeom>
          <a:gradFill rotWithShape="1">
            <a:gsLst>
              <a:gs pos="0">
                <a:srgbClr val="EDF8FA"/>
              </a:gs>
              <a:gs pos="100000">
                <a:srgbClr val="F3F8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244000" y="12420000"/>
            <a:ext cx="11700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Same entity. Same ID. Different views.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244000" y="13176000"/>
            <a:ext cx="1170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334B"/>
                </a:solidFill>
                <a:latin typeface="DejaVu Sans"/>
              </a:defRPr>
            </a:pPr>
            <a:r>
              <a:t>Anchor = name + ID + view + point.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44000" y="13860000"/>
            <a:ext cx="11700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Keep identity stable across steps and viewpoints.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848000" y="14616000"/>
            <a:ext cx="9504000" cy="2340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EDF8F3"/>
              </a:gs>
              <a:gs pos="100000">
                <a:srgbClr val="F4FAF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280000" y="14904000"/>
            <a:ext cx="8640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Our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280000" y="15696000"/>
            <a:ext cx="8640000" cy="856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Persistent IDs connect visual evidence, intermediate steps</a:t>
            </a:r>
          </a:p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and the final answer.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856000" y="14652000"/>
            <a:ext cx="2520000" cy="2160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36000" y="15480000"/>
            <a:ext cx="2160000" cy="705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QR</a:t>
            </a:r>
          </a:p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PLACEHOLDER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12000" y="16920000"/>
            <a:ext cx="2808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2B46"/>
                </a:solidFill>
                <a:latin typeface="DejaVu Sans"/>
              </a:defRPr>
            </a:pPr>
            <a:r>
              <a:t>PAPER / 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4000" y="17676000"/>
            <a:ext cx="29268000" cy="954000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4000" y="17676000"/>
            <a:ext cx="29268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9200" y="18864000"/>
            <a:ext cx="29217600" cy="8326800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000" y="17928000"/>
            <a:ext cx="28188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Our Method: RoboPIN / PinCoT</a:t>
            </a:r>
          </a:p>
        </p:txBody>
      </p:sp>
      <p:pic>
        <p:nvPicPr>
          <p:cNvPr id="59" name="Picture 58" descr="figure-2-data-pipe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0000" y="19116000"/>
            <a:ext cx="27000000" cy="60229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332000" y="25704000"/>
            <a:ext cx="4932000" cy="84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Three-stage</a:t>
            </a:r>
          </a:p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post-training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40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84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SFT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84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Embodied knowledge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3752000" y="26136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148000" y="26028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148000" y="2613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4508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652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CoT-SFT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52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Structured reasoning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1420000" y="26136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1816000" y="26028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1816000" y="2613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22464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608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RFT / GRPO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608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Process alignment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26784000"/>
            <a:ext cx="28404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34B"/>
                </a:solidFill>
                <a:latin typeface="DejaVu Sans"/>
              </a:defRPr>
            </a:pPr>
            <a:r>
              <a:t>PIN-170K supplies grounded reasoning traces; progressive training couples visual evidence to the final answer.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4000" y="27576000"/>
            <a:ext cx="14400000" cy="14004000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4000" y="27576000"/>
            <a:ext cx="1440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29200" y="28764000"/>
            <a:ext cx="14349600" cy="1279080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52000" y="27828000"/>
            <a:ext cx="13320000" cy="6553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Experimental Results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32000" y="29196000"/>
            <a:ext cx="216000" cy="21600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92000" y="29160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Embodied-R1 (3B)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2000" y="29196000"/>
            <a:ext cx="216000" cy="216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72000" y="29160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RoboBrain2.0 (7B)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32000" y="29772000"/>
            <a:ext cx="216000" cy="216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92000" y="29736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Mimo-Embodied (7B)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12000" y="29772000"/>
            <a:ext cx="216000" cy="216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72000" y="29736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7"/>
                </a:solidFill>
                <a:latin typeface="DejaVu Sans"/>
              </a:defRPr>
            </a:pPr>
            <a:r>
              <a:t>RoboPIN (4B)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12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Spatial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512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64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512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64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512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64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56000" y="33384655"/>
            <a:ext cx="720000" cy="2075344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12000" y="32952655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52.4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20000" y="33278040"/>
            <a:ext cx="720000" cy="218196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76000" y="3284604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55.1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84000" y="33133956"/>
            <a:ext cx="720000" cy="2326043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40000" y="32701956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58.7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48000" y="32767504"/>
            <a:ext cx="720000" cy="2692495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04000" y="32335504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68.0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76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Pointing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976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328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976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328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976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328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0000" y="32862240"/>
            <a:ext cx="720000" cy="259776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76000" y="3243024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65.6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84000" y="33408720"/>
            <a:ext cx="720000" cy="205128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40000" y="3297672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51.8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48000" y="33000048"/>
            <a:ext cx="720000" cy="2459952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04000" y="32568048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62.1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712000" y="32772744"/>
            <a:ext cx="720000" cy="2687256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68000" y="32340744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67.9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40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Robot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440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792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440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792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440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792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76000" y="35028000"/>
            <a:ext cx="792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66B7C"/>
                </a:solidFill>
                <a:latin typeface="DejaVu Sans"/>
              </a:defRPr>
            </a:pPr>
            <a:r>
              <a:t>n/a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448000" y="34272000"/>
            <a:ext cx="720000" cy="1188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304000" y="33840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30.0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2312000" y="34800000"/>
            <a:ext cx="720000" cy="660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168000" y="34368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16.7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176000" y="32490000"/>
            <a:ext cx="720000" cy="2970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032000" y="32058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75.0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6000" y="35856000"/>
            <a:ext cx="13536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66B7C"/>
                </a:solidFill>
                <a:latin typeface="DejaVu Sans"/>
              </a:defRPr>
            </a:pPr>
            <a:r>
              <a:t>Scores (%): spatial mean over 13 columns; pointing mean over 5 benchmarks; robot success over 60 trials.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6000" y="36864000"/>
            <a:ext cx="13536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Selected benchmarks · score (%)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36000" y="37476000"/>
            <a:ext cx="13536000" cy="43200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88000" y="37548000"/>
            <a:ext cx="5580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Benchmark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56000" y="37548000"/>
            <a:ext cx="2196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Mimo-7B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04000" y="37548000"/>
            <a:ext cx="2340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RoboPIN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132000" y="37548000"/>
            <a:ext cx="2052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Δ pp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000" y="38088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CrossPoint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056000" y="38088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36.8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504000" y="38088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72.2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132000" y="38088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+35.4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88000" y="38664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BLINK multi-view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056000" y="38664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26.3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04000" y="38664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72.9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132000" y="38664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+46.6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88000" y="39240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EmbSpatial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56000" y="39240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76.2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4000" y="3924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83.1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132000" y="39240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+6.9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36000" y="39996000"/>
            <a:ext cx="13536000" cy="11520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EDF7F5"/>
              </a:gs>
              <a:gs pos="100000">
                <a:srgbClr val="F2F9F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68000" y="40140000"/>
            <a:ext cx="12672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18.8% → 99.9% cross-step ID coverage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68000" y="40716000"/>
            <a:ext cx="12672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Without RFT → RoboPIN · EmbSpatial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5192000" y="27576000"/>
            <a:ext cx="14580000" cy="14004000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5192000" y="27576000"/>
            <a:ext cx="1458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5217200" y="28764000"/>
            <a:ext cx="14529600" cy="1279080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840000" y="27828000"/>
            <a:ext cx="135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Qualitative Results</a:t>
            </a:r>
          </a:p>
        </p:txBody>
      </p:sp>
      <p:pic>
        <p:nvPicPr>
          <p:cNvPr id="159" name="Picture 158" descr="robot-de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60000" y="29160000"/>
            <a:ext cx="13644000" cy="4184899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5660000" y="33696000"/>
            <a:ext cx="13644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Zero-shot xArm · successful executions / 20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660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20 / 20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660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Spatial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268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14 / 20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268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Multi-view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876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11 / 20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4876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Long-horizon</a:t>
            </a:r>
          </a:p>
        </p:txBody>
      </p:sp>
      <p:pic>
        <p:nvPicPr>
          <p:cNvPr id="167" name="Picture 166" descr="figure-4-two-exampl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60000" y="36036000"/>
            <a:ext cx="13644000" cy="549053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620000" y="42120000"/>
            <a:ext cx="27036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Persistent visual anchors make embodied reasoning traceable.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