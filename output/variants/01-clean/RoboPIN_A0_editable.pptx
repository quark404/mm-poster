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A0 portrait 841 × 1189 mm. Module refinement variant: clean. The clean variant reduces decorative load; balanced expands evidence and qualitative examples; mechanism adds source-published anchor coordinates and the four reward components. Scientific figures and text remain grounded in the paper. The external API-based PosterAgent generator was not run. Original Figure 1 comparison and Figure 2 pipeline are preserved. The qualitative panel adds the original Figure 4 reasoning examples. Three grouped bar charts reproduce paper Figure 1 and Tables 1–3: spatial mean over 13 capability columns, pointing mean over 5 benchmarks, robot successes over 60 trials. Missing robot baseline is n/a. Compact variants include three explicitly selected benchmark comparisons: CrossPoint, BLINK multi-view and EmbSpatial; these do not assert universal superiority. The robot trial-count caption conflict in the source paper still requires author confirmation. Logos are original official images; paper/code QR remains an intentional placeholder. Chart bars, values, axes, text and training nodes are editable; source figures are replaceable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000" cy="428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o-wave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276000" cy="42804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30276000" cy="61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360000"/>
            <a:ext cx="19800000" cy="22821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836"/>
              </a:lnSpc>
              <a:spcBef>
                <a:spcPts val="0"/>
              </a:spcBef>
              <a:spcAft>
                <a:spcPts val="0"/>
              </a:spcAft>
              <a:defRPr sz="13800" b="1">
                <a:solidFill>
                  <a:srgbClr val="00576B"/>
                </a:solidFill>
                <a:latin typeface="DejaVu Sans"/>
              </a:defRPr>
            </a:pPr>
            <a:r>
              <a:t>RoboPIN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" y="2520000"/>
            <a:ext cx="21240000" cy="12582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87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102B46"/>
                </a:solidFill>
                <a:latin typeface="DejaVu Sans"/>
              </a:defRPr>
            </a:pPr>
            <a:r>
              <a:t>Grounded Embodied Reasoning</a:t>
            </a:r>
          </a:p>
          <a:p>
            <a:pPr algn="l">
              <a:lnSpc>
                <a:spcPts val="4387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102B46"/>
                </a:solidFill>
                <a:latin typeface="DejaVu Sans"/>
              </a:defRPr>
            </a:pPr>
            <a:r>
              <a:t>via Pinned Chain-of-Thought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000" y="3924000"/>
            <a:ext cx="2196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Yaoting Huang* · Yifu Yuan*† · Linqi Han · Chengwen Li · Shuoheng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4392000"/>
            <a:ext cx="2196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Xianze Yao · Hongyao Tang · Yan Zheng · Jianye Hao†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" y="5004000"/>
            <a:ext cx="22032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Tianjin University · ACM Multimedia 2026 · Rio de Janeiro, Brazil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000" y="5544000"/>
            <a:ext cx="22032000" cy="422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66B7C"/>
                </a:solidFill>
                <a:latin typeface="DejaVu Sans"/>
              </a:defRPr>
            </a:pPr>
            <a:r>
              <a:t>quark404@tju.edu.cn · yuanyf@tju.edu.cn | * Equal contribution † Corresponding authors</a:t>
            </a:r>
          </a:p>
        </p:txBody>
      </p:sp>
      <p:pic>
        <p:nvPicPr>
          <p:cNvPr id="11" name="Picture 10" descr="m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4857" y="576000"/>
            <a:ext cx="7654285" cy="1692000"/>
          </a:xfrm>
          <a:prstGeom prst="rect">
            <a:avLst/>
          </a:prstGeom>
        </p:spPr>
      </p:pic>
      <p:pic>
        <p:nvPicPr>
          <p:cNvPr id="12" name="Picture 11" descr="tju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2000" y="3344129"/>
            <a:ext cx="2304000" cy="2167741"/>
          </a:xfrm>
          <a:prstGeom prst="ellipse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48000" y="3888000"/>
            <a:ext cx="3996000" cy="546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02B46"/>
                </a:solidFill>
                <a:latin typeface="DejaVu Sans"/>
              </a:defRPr>
            </a:pPr>
            <a:r>
              <a:t>Tianjin University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00" y="6300000"/>
            <a:ext cx="15624000" cy="12924000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4000" y="6300000"/>
            <a:ext cx="15624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9200" y="7488000"/>
            <a:ext cx="15573600" cy="11710800"/>
          </a:xfrm>
          <a:prstGeom prst="roundRect">
            <a:avLst>
              <a:gd name="adj" fmla="val 307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000" y="6552000"/>
            <a:ext cx="14544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Motivation</a:t>
            </a:r>
          </a:p>
        </p:txBody>
      </p:sp>
      <p:pic>
        <p:nvPicPr>
          <p:cNvPr id="18" name="Picture 17" descr="figure-1-cot-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000" y="7776000"/>
            <a:ext cx="14760000" cy="795878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36000" y="16524000"/>
            <a:ext cx="14760000" cy="1152000"/>
          </a:xfrm>
          <a:prstGeom prst="roundRect">
            <a:avLst>
              <a:gd name="adj" fmla="val 18750"/>
            </a:avLst>
          </a:prstGeom>
          <a:gradFill rotWithShape="1">
            <a:gsLst>
              <a:gs pos="0">
                <a:srgbClr val="E9F7FA"/>
              </a:gs>
              <a:gs pos="100000">
                <a:srgbClr val="F0F8F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32000" y="16632000"/>
            <a:ext cx="864000" cy="936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A6AE"/>
              </a:gs>
              <a:gs pos="100000">
                <a:srgbClr val="00748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2000" y="16740000"/>
            <a:ext cx="864000" cy="5778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4000" y="16632000"/>
            <a:ext cx="12744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Reference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4000" y="17172000"/>
            <a:ext cx="1274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Textual references can switch between similar objects during multi-step reasoning.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6000" y="17820000"/>
            <a:ext cx="14760000" cy="1152000"/>
          </a:xfrm>
          <a:prstGeom prst="roundRect">
            <a:avLst>
              <a:gd name="adj" fmla="val 18750"/>
            </a:avLst>
          </a:prstGeom>
          <a:gradFill rotWithShape="1">
            <a:gsLst>
              <a:gs pos="0">
                <a:srgbClr val="E9F7FA"/>
              </a:gs>
              <a:gs pos="100000">
                <a:srgbClr val="F0F8F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332000" y="17928000"/>
            <a:ext cx="864000" cy="936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A6AE"/>
              </a:gs>
              <a:gs pos="100000">
                <a:srgbClr val="00748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32000" y="18036000"/>
            <a:ext cx="864000" cy="5778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4000" y="17928000"/>
            <a:ext cx="12744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Reasoning–answer misalignment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4000" y="18468000"/>
            <a:ext cx="12744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A correct intermediate analysis can still end on the wrong object, especially across views.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416000" y="6300000"/>
            <a:ext cx="13356000" cy="12924000"/>
          </a:xfrm>
          <a:prstGeom prst="roundRect">
            <a:avLst>
              <a:gd name="adj" fmla="val 2785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416000" y="6300000"/>
            <a:ext cx="13356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6441200" y="7488000"/>
            <a:ext cx="13305600" cy="11710800"/>
          </a:xfrm>
          <a:prstGeom prst="roundRect">
            <a:avLst>
              <a:gd name="adj" fmla="val 307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064000" y="6552000"/>
            <a:ext cx="12276000" cy="6553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  <a:defRPr sz="3300" b="1">
                <a:solidFill>
                  <a:srgbClr val="FFFFFF"/>
                </a:solidFill>
                <a:latin typeface="DejaVu Sans"/>
              </a:defRPr>
            </a:pPr>
            <a:r>
              <a:t>Key Insight: Persistent Identity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884000" y="7992000"/>
            <a:ext cx="5328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VIEW 0</a:t>
            </a:r>
          </a:p>
        </p:txBody>
      </p:sp>
      <p:pic>
        <p:nvPicPr>
          <p:cNvPr id="34" name="Picture 33" descr="view-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84000" y="8532000"/>
            <a:ext cx="5328000" cy="406800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20125152" y="10738367"/>
            <a:ext cx="273600" cy="273600"/>
          </a:xfrm>
          <a:prstGeom prst="ellipse">
            <a:avLst/>
          </a:prstGeom>
          <a:solidFill>
            <a:srgbClr val="007E8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7064000" y="8712000"/>
            <a:ext cx="2484000" cy="468000"/>
          </a:xfrm>
          <a:prstGeom prst="roundRect">
            <a:avLst>
              <a:gd name="adj" fmla="val 7692"/>
            </a:avLst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136000" y="8748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obj_01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940000" y="7992000"/>
            <a:ext cx="5328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7E87"/>
                </a:solidFill>
                <a:latin typeface="DejaVu Sans"/>
              </a:defRPr>
            </a:pPr>
            <a:r>
              <a:t>VIEW 1</a:t>
            </a:r>
          </a:p>
        </p:txBody>
      </p:sp>
      <p:pic>
        <p:nvPicPr>
          <p:cNvPr id="39" name="Picture 38" descr="view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40000" y="8532000"/>
            <a:ext cx="5328000" cy="4068000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28300032" y="11267208"/>
            <a:ext cx="273600" cy="273600"/>
          </a:xfrm>
          <a:prstGeom prst="ellipse">
            <a:avLst/>
          </a:prstGeom>
          <a:solidFill>
            <a:srgbClr val="007E8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4120000" y="8712000"/>
            <a:ext cx="2484000" cy="468000"/>
          </a:xfrm>
          <a:prstGeom prst="roundRect">
            <a:avLst>
              <a:gd name="adj" fmla="val 7692"/>
            </a:avLst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192000" y="8748000"/>
            <a:ext cx="234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DejaVu Sans"/>
              </a:defRPr>
            </a:pPr>
            <a:r>
              <a:t>obj_01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2572000" y="10512000"/>
            <a:ext cx="936000" cy="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3364000" y="10404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3364000" y="10512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6848000" y="12960000"/>
            <a:ext cx="12492000" cy="2556000"/>
          </a:xfrm>
          <a:prstGeom prst="roundRect">
            <a:avLst>
              <a:gd name="adj" fmla="val 9859"/>
            </a:avLst>
          </a:prstGeom>
          <a:gradFill rotWithShape="1">
            <a:gsLst>
              <a:gs pos="0">
                <a:srgbClr val="E7F7FA"/>
              </a:gs>
              <a:gs pos="100000">
                <a:srgbClr val="EDF6FD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7244000" y="13320000"/>
            <a:ext cx="11700000" cy="5933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538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7E87"/>
                </a:solidFill>
                <a:latin typeface="DejaVu Sans"/>
              </a:defRPr>
            </a:pPr>
            <a:r>
              <a:t>Same entity. Same ID. Different views.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244000" y="14148000"/>
            <a:ext cx="11700000" cy="531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334B"/>
                </a:solidFill>
                <a:latin typeface="DejaVu Sans"/>
              </a:defRPr>
            </a:pPr>
            <a:r>
              <a:t>Reasoning anchor = name + ID + view + point.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244000" y="14868000"/>
            <a:ext cx="11700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334B"/>
                </a:solidFill>
                <a:latin typeface="DejaVu Sans"/>
              </a:defRPr>
            </a:pPr>
            <a:r>
              <a:t>Introduce the anchor; reuse its identity throughout the reasoning chain.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848000" y="16092000"/>
            <a:ext cx="9504000" cy="2880000"/>
          </a:xfrm>
          <a:prstGeom prst="roundRect">
            <a:avLst>
              <a:gd name="adj" fmla="val 8750"/>
            </a:avLst>
          </a:prstGeom>
          <a:gradFill rotWithShape="1">
            <a:gsLst>
              <a:gs pos="0">
                <a:srgbClr val="E8F7EF"/>
              </a:gs>
              <a:gs pos="100000">
                <a:srgbClr val="EDF9F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7748000" y="16740000"/>
            <a:ext cx="144000" cy="0"/>
          </a:xfrm>
          <a:prstGeom prst="line">
            <a:avLst/>
          </a:prstGeom>
          <a:ln w="635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7684735" y="16892735"/>
            <a:ext cx="101823" cy="101823"/>
          </a:xfrm>
          <a:prstGeom prst="line">
            <a:avLst/>
          </a:prstGeom>
          <a:ln w="635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7532000" y="16956000"/>
            <a:ext cx="0" cy="144000"/>
          </a:xfrm>
          <a:prstGeom prst="line">
            <a:avLst/>
          </a:prstGeom>
          <a:ln w="635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17277441" y="16892735"/>
            <a:ext cx="101823" cy="101823"/>
          </a:xfrm>
          <a:prstGeom prst="line">
            <a:avLst/>
          </a:prstGeom>
          <a:ln w="635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7172000" y="16740000"/>
            <a:ext cx="144000" cy="0"/>
          </a:xfrm>
          <a:prstGeom prst="line">
            <a:avLst/>
          </a:prstGeom>
          <a:ln w="635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7277441" y="16485441"/>
            <a:ext cx="101823" cy="101823"/>
          </a:xfrm>
          <a:prstGeom prst="line">
            <a:avLst/>
          </a:prstGeom>
          <a:ln w="635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7532000" y="16380000"/>
            <a:ext cx="0" cy="144000"/>
          </a:xfrm>
          <a:prstGeom prst="line">
            <a:avLst/>
          </a:prstGeom>
          <a:ln w="635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7684735" y="16485441"/>
            <a:ext cx="101823" cy="101823"/>
          </a:xfrm>
          <a:prstGeom prst="line">
            <a:avLst/>
          </a:prstGeom>
          <a:ln w="635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17280000" y="16488000"/>
            <a:ext cx="504000" cy="504000"/>
          </a:xfrm>
          <a:prstGeom prst="ellipse">
            <a:avLst/>
          </a:prstGeom>
          <a:solidFill>
            <a:srgbClr val="007E87"/>
          </a:solidFill>
          <a:ln w="38100">
            <a:solidFill>
              <a:srgbClr val="007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7442000" y="16650000"/>
            <a:ext cx="180000" cy="180000"/>
          </a:xfrm>
          <a:prstGeom prst="ellipse">
            <a:avLst/>
          </a:prstGeom>
          <a:solidFill>
            <a:srgbClr val="E8F7EF"/>
          </a:solidFill>
          <a:ln w="38100">
            <a:solidFill>
              <a:srgbClr val="E8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8252000" y="16416000"/>
            <a:ext cx="7668000" cy="6088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7E87"/>
                </a:solidFill>
                <a:latin typeface="DejaVu Sans"/>
              </a:defRPr>
            </a:pPr>
            <a:r>
              <a:t>Our insight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280000" y="17532000"/>
            <a:ext cx="8532000" cy="8567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Persistent IDs connect visual grounding, intermediate</a:t>
            </a:r>
          </a:p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334B"/>
                </a:solidFill>
                <a:latin typeface="DejaVu Sans"/>
              </a:defRPr>
            </a:pPr>
            <a:r>
              <a:t>steps and the final answer.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6856000" y="16236000"/>
            <a:ext cx="2520000" cy="2160000"/>
          </a:xfrm>
          <a:prstGeom prst="roundRect">
            <a:avLst/>
          </a:prstGeom>
          <a:noFill/>
          <a:ln w="19050">
            <a:solidFill>
              <a:srgbClr val="9DB6C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36000" y="17064000"/>
            <a:ext cx="2160000" cy="705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66B7C"/>
                </a:solidFill>
                <a:latin typeface="DejaVu Sans"/>
              </a:defRPr>
            </a:pPr>
            <a:r>
              <a:t>QR</a:t>
            </a:r>
          </a:p>
          <a:p>
            <a:pPr algn="ctr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66B7C"/>
                </a:solidFill>
                <a:latin typeface="DejaVu Sans"/>
              </a:defRPr>
            </a:pPr>
            <a:r>
              <a:t>PLACEHOLDER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712000" y="18648000"/>
            <a:ext cx="2808000" cy="422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2B46"/>
                </a:solidFill>
                <a:latin typeface="DejaVu Sans"/>
              </a:defRPr>
            </a:pPr>
            <a:r>
              <a:t>PAPER / CODE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4000" y="19584000"/>
            <a:ext cx="29268000" cy="1094400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04000" y="19584000"/>
            <a:ext cx="29268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29200" y="20772000"/>
            <a:ext cx="29217600" cy="9730800"/>
          </a:xfrm>
          <a:prstGeom prst="roundRect">
            <a:avLst>
              <a:gd name="adj" fmla="val 369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52000" y="19836000"/>
            <a:ext cx="28188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Our Method: RoboPIN / PinCoT</a:t>
            </a:r>
          </a:p>
        </p:txBody>
      </p:sp>
      <p:pic>
        <p:nvPicPr>
          <p:cNvPr id="70" name="Picture 69" descr="figure-2-data-pipe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000" y="21060000"/>
            <a:ext cx="28404000" cy="633616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512000" y="28332000"/>
            <a:ext cx="4752000" cy="84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Three-stage</a:t>
            </a:r>
          </a:p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07E87"/>
                </a:solidFill>
                <a:latin typeface="DejaVu Sans"/>
              </a:defRPr>
            </a:pPr>
            <a:r>
              <a:t>post-training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40000" y="28080000"/>
            <a:ext cx="6696000" cy="1476000"/>
          </a:xfrm>
          <a:prstGeom prst="roundRect">
            <a:avLst>
              <a:gd name="adj" fmla="val 12195"/>
            </a:avLst>
          </a:prstGeom>
          <a:gradFill rotWithShape="1">
            <a:gsLst>
              <a:gs pos="0">
                <a:srgbClr val="D0F2F4"/>
              </a:gs>
              <a:gs pos="100000">
                <a:srgbClr val="E8F9F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984000" y="28296000"/>
            <a:ext cx="6408000" cy="546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7E87"/>
                </a:solidFill>
                <a:latin typeface="DejaVu Sans"/>
              </a:defRPr>
            </a:pPr>
            <a:r>
              <a:t>SFT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84000" y="28944000"/>
            <a:ext cx="64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Embodied knowledge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3752000" y="28800000"/>
            <a:ext cx="540000" cy="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4148000" y="28692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4148000" y="28800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14508000" y="28080000"/>
            <a:ext cx="6696000" cy="1476000"/>
          </a:xfrm>
          <a:prstGeom prst="roundRect">
            <a:avLst>
              <a:gd name="adj" fmla="val 12195"/>
            </a:avLst>
          </a:prstGeom>
          <a:gradFill rotWithShape="1">
            <a:gsLst>
              <a:gs pos="0">
                <a:srgbClr val="D0F2F4"/>
              </a:gs>
              <a:gs pos="100000">
                <a:srgbClr val="E8F9F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4652000" y="28296000"/>
            <a:ext cx="6408000" cy="546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7E87"/>
                </a:solidFill>
                <a:latin typeface="DejaVu Sans"/>
              </a:defRPr>
            </a:pPr>
            <a:r>
              <a:t>CoT-SFT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652000" y="28944000"/>
            <a:ext cx="64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Structured reasoning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1420000" y="28800000"/>
            <a:ext cx="540000" cy="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21816000" y="28692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21816000" y="28800000"/>
            <a:ext cx="144000" cy="108000"/>
          </a:xfrm>
          <a:prstGeom prst="line">
            <a:avLst/>
          </a:prstGeom>
          <a:ln w="38100">
            <a:solidFill>
              <a:srgbClr val="007E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22464000" y="28080000"/>
            <a:ext cx="6696000" cy="1476000"/>
          </a:xfrm>
          <a:prstGeom prst="roundRect">
            <a:avLst>
              <a:gd name="adj" fmla="val 12195"/>
            </a:avLst>
          </a:prstGeom>
          <a:gradFill rotWithShape="1">
            <a:gsLst>
              <a:gs pos="0">
                <a:srgbClr val="D0F2F4"/>
              </a:gs>
              <a:gs pos="100000">
                <a:srgbClr val="E8F9FB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608000" y="28296000"/>
            <a:ext cx="6408000" cy="546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7E87"/>
                </a:solidFill>
                <a:latin typeface="DejaVu Sans"/>
              </a:defRPr>
            </a:pPr>
            <a:r>
              <a:t>RFT / GRPO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608000" y="28944000"/>
            <a:ext cx="6408000" cy="4848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334B"/>
                </a:solidFill>
                <a:latin typeface="DejaVu Sans"/>
              </a:defRPr>
            </a:pPr>
            <a:r>
              <a:t>Process alignment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6000" y="29916000"/>
            <a:ext cx="28404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34B"/>
                </a:solidFill>
                <a:latin typeface="DejaVu Sans"/>
              </a:defRPr>
            </a:pPr>
            <a:r>
              <a:t>PinCoT binds visual evidence to persistent identities. PIN-170K supplies structured traces; process rewards supervise grounding and identity consistency.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04000" y="30888000"/>
            <a:ext cx="14400000" cy="10692000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504000" y="30888000"/>
            <a:ext cx="14400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29200" y="32076000"/>
            <a:ext cx="14349600" cy="94788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52000" y="31140000"/>
            <a:ext cx="13320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Experimental Results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32000" y="32472000"/>
            <a:ext cx="216000" cy="216000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92000" y="32436000"/>
            <a:ext cx="6084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34B"/>
                </a:solidFill>
                <a:latin typeface="DejaVu Sans"/>
              </a:defRPr>
            </a:pPr>
            <a:r>
              <a:t>Embodied-R1 (3B)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812000" y="32472000"/>
            <a:ext cx="216000" cy="21600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172000" y="32436000"/>
            <a:ext cx="6084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34B"/>
                </a:solidFill>
                <a:latin typeface="DejaVu Sans"/>
              </a:defRPr>
            </a:pPr>
            <a:r>
              <a:t>RoboBrain2.0 (7B)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32000" y="33048000"/>
            <a:ext cx="216000" cy="216000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692000" y="33012000"/>
            <a:ext cx="6084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334B"/>
                </a:solidFill>
                <a:latin typeface="DejaVu Sans"/>
              </a:defRPr>
            </a:pPr>
            <a:r>
              <a:t>Mimo-Embodied (7B)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812000" y="33048000"/>
            <a:ext cx="216000" cy="21600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72000" y="33012000"/>
            <a:ext cx="6084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7E87"/>
                </a:solidFill>
                <a:latin typeface="DejaVu Sans"/>
              </a:defRPr>
            </a:pPr>
            <a:r>
              <a:t>RoboPIN (4B)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12000" y="33948000"/>
            <a:ext cx="378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02B46"/>
                </a:solidFill>
                <a:latin typeface="DejaVu Sans"/>
              </a:defRPr>
            </a:pPr>
            <a:r>
              <a:t>Spatial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1512000" y="37944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864000" y="37836000"/>
            <a:ext cx="504000" cy="391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512000" y="3645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864000" y="36342000"/>
            <a:ext cx="504000" cy="391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512000" y="34956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864000" y="34848000"/>
            <a:ext cx="504000" cy="391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656000" y="36378058"/>
            <a:ext cx="648000" cy="1565941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12000" y="35982058"/>
            <a:ext cx="936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52.4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520000" y="36297612"/>
            <a:ext cx="648000" cy="1646388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376000" y="35901612"/>
            <a:ext cx="936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55.1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84000" y="36188894"/>
            <a:ext cx="648000" cy="1755105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240000" y="35792894"/>
            <a:ext cx="936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58.7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248000" y="35912389"/>
            <a:ext cx="648000" cy="203161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04000" y="35516389"/>
            <a:ext cx="936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E87"/>
                </a:solidFill>
                <a:latin typeface="DejaVu Sans"/>
              </a:defRPr>
            </a:pPr>
            <a:r>
              <a:t>68.0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976000" y="33948000"/>
            <a:ext cx="378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02B46"/>
                </a:solidFill>
                <a:latin typeface="DejaVu Sans"/>
              </a:defRPr>
            </a:pPr>
            <a:r>
              <a:t>Pointing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976000" y="37944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5328000" y="37836000"/>
            <a:ext cx="504000" cy="391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5976000" y="3645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5328000" y="36342000"/>
            <a:ext cx="504000" cy="391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5976000" y="34956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5328000" y="34848000"/>
            <a:ext cx="504000" cy="391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120000" y="35983872"/>
            <a:ext cx="648000" cy="1960127"/>
          </a:xfrm>
          <a:prstGeom prst="rect">
            <a:avLst/>
          </a:prstGeom>
          <a:solidFill>
            <a:srgbClr val="CFD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976000" y="35587872"/>
            <a:ext cx="936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65.6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984000" y="36396216"/>
            <a:ext cx="648000" cy="1547784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840000" y="36000216"/>
            <a:ext cx="936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51.8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848000" y="36087854"/>
            <a:ext cx="648000" cy="1856145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704000" y="35691854"/>
            <a:ext cx="936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62.1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12000" y="35916343"/>
            <a:ext cx="648000" cy="2027656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568000" y="35520343"/>
            <a:ext cx="936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E87"/>
                </a:solidFill>
                <a:latin typeface="DejaVu Sans"/>
              </a:defRPr>
            </a:pPr>
            <a:r>
              <a:t>67.9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440000" y="33948000"/>
            <a:ext cx="3780000" cy="50036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02B46"/>
                </a:solidFill>
                <a:latin typeface="DejaVu Sans"/>
              </a:defRPr>
            </a:pPr>
            <a:r>
              <a:t>Robot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10440000" y="37944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9792000" y="37836000"/>
            <a:ext cx="504000" cy="391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B7C"/>
                </a:solidFill>
                <a:latin typeface="DejaVu Sans"/>
              </a:defRPr>
            </a:pPr>
            <a:r>
              <a:t>0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10440000" y="36450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9792000" y="36342000"/>
            <a:ext cx="504000" cy="391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B7C"/>
                </a:solidFill>
                <a:latin typeface="DejaVu Sans"/>
              </a:defRPr>
            </a:pPr>
            <a:r>
              <a:t>50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10440000" y="34956000"/>
            <a:ext cx="3636000" cy="0"/>
          </a:xfrm>
          <a:prstGeom prst="line">
            <a:avLst/>
          </a:prstGeom>
          <a:ln w="12700">
            <a:solidFill>
              <a:srgbClr val="DDE6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9792000" y="34848000"/>
            <a:ext cx="504000" cy="3919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66B7C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476000" y="37512000"/>
            <a:ext cx="792000" cy="422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66B7C"/>
                </a:solidFill>
                <a:latin typeface="DejaVu Sans"/>
              </a:defRPr>
            </a:pPr>
            <a:r>
              <a:t>n/a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448000" y="37047600"/>
            <a:ext cx="648000" cy="896400"/>
          </a:xfrm>
          <a:prstGeom prst="rect">
            <a:avLst/>
          </a:prstGeom>
          <a:solidFill>
            <a:srgbClr val="AE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304000" y="36651600"/>
            <a:ext cx="936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30.0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2312000" y="37446000"/>
            <a:ext cx="648000" cy="498000"/>
          </a:xfrm>
          <a:prstGeom prst="rect">
            <a:avLst/>
          </a:prstGeom>
          <a:solidFill>
            <a:srgbClr val="7E9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2168000" y="37050000"/>
            <a:ext cx="936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334B"/>
                </a:solidFill>
                <a:latin typeface="DejaVu Sans"/>
              </a:defRPr>
            </a:pPr>
            <a:r>
              <a:t>16.7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3176000" y="35703000"/>
            <a:ext cx="648000" cy="2241000"/>
          </a:xfrm>
          <a:prstGeom prst="rect">
            <a:avLst/>
          </a:prstGeom>
          <a:solidFill>
            <a:srgbClr val="007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032000" y="35307000"/>
            <a:ext cx="936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E87"/>
                </a:solidFill>
                <a:latin typeface="DejaVu Sans"/>
              </a:defRPr>
            </a:pPr>
            <a:r>
              <a:t>75.0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36000" y="38448000"/>
            <a:ext cx="13536000" cy="438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66B7C"/>
                </a:solidFill>
                <a:latin typeface="DejaVu Sans"/>
              </a:defRPr>
            </a:pPr>
            <a:r>
              <a:t>Scores (%) · Spatial: 13-column mean; pointing: 5-benchmark mean; robot: success over 60 trials.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36000" y="39456000"/>
            <a:ext cx="13536000" cy="1692000"/>
          </a:xfrm>
          <a:prstGeom prst="roundRect">
            <a:avLst>
              <a:gd name="adj" fmla="val 12765"/>
            </a:avLst>
          </a:prstGeom>
          <a:gradFill rotWithShape="1">
            <a:gsLst>
              <a:gs pos="0">
                <a:srgbClr val="E8F7F5"/>
              </a:gs>
              <a:gs pos="100000">
                <a:srgbClr val="EDF9F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368000" y="39780000"/>
            <a:ext cx="12672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E87"/>
                </a:solidFill>
                <a:latin typeface="DejaVu Sans"/>
              </a:defRPr>
            </a:pPr>
            <a:r>
              <a:t>18.8% → 99.9% cross-step ID coverage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368000" y="40572000"/>
            <a:ext cx="12672000" cy="4693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66B7C"/>
                </a:solidFill>
                <a:latin typeface="DejaVu Sans"/>
              </a:defRPr>
            </a:pPr>
            <a:r>
              <a:t>Without RFT → RoboPIN · EmbSpatial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5192000" y="30888000"/>
            <a:ext cx="14580000" cy="10692000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2700">
            <a:solidFill>
              <a:srgbClr val="BD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15192000" y="30888000"/>
            <a:ext cx="14580000" cy="15480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798B"/>
              </a:gs>
              <a:gs pos="100000">
                <a:srgbClr val="12A58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15217200" y="32076000"/>
            <a:ext cx="14529600" cy="94788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5840000" y="31140000"/>
            <a:ext cx="13500000" cy="670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148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Qualitative Results</a:t>
            </a:r>
          </a:p>
        </p:txBody>
      </p:sp>
      <p:pic>
        <p:nvPicPr>
          <p:cNvPr id="152" name="Picture 151" descr="robot-dem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60000" y="32472000"/>
            <a:ext cx="13644000" cy="4184899"/>
          </a:xfrm>
          <a:prstGeom prst="rect">
            <a:avLst/>
          </a:prstGeom>
        </p:spPr>
      </p:pic>
      <p:pic>
        <p:nvPicPr>
          <p:cNvPr id="153" name="Picture 152" descr="figure-4-qualitati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60000" y="36900000"/>
            <a:ext cx="7128000" cy="4337621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24876000" y="36900000"/>
            <a:ext cx="4428000" cy="515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7E87"/>
                </a:solidFill>
                <a:latin typeface="DejaVu Sans"/>
              </a:defRPr>
            </a:pPr>
            <a:r>
              <a:t>Zero-shot xArm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4876000" y="37764000"/>
            <a:ext cx="4428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Spatial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4876000" y="38160000"/>
            <a:ext cx="4428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E87"/>
                </a:solidFill>
                <a:latin typeface="DejaVu Sans"/>
              </a:defRPr>
            </a:pPr>
            <a:r>
              <a:t>20 / 20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4876000" y="38736000"/>
            <a:ext cx="4428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Multi-view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4876000" y="39132000"/>
            <a:ext cx="4428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E87"/>
                </a:solidFill>
                <a:latin typeface="DejaVu Sans"/>
              </a:defRPr>
            </a:pPr>
            <a:r>
              <a:t>14 / 20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4876000" y="39708000"/>
            <a:ext cx="4428000" cy="453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66B7C"/>
                </a:solidFill>
                <a:latin typeface="DejaVu Sans"/>
              </a:defRPr>
            </a:pPr>
            <a:r>
              <a:t>Long-horizon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4876000" y="40104000"/>
            <a:ext cx="4428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007E87"/>
                </a:solidFill>
                <a:latin typeface="DejaVu Sans"/>
              </a:defRPr>
            </a:pPr>
            <a:r>
              <a:t>11 / 20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4876000" y="40824000"/>
            <a:ext cx="4428000" cy="3840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66B7C"/>
                </a:solidFill>
                <a:latin typeface="DejaVu Sans"/>
              </a:defRPr>
            </a:pPr>
            <a:r>
              <a:t>Successes per task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620000" y="42120000"/>
            <a:ext cx="27036000" cy="5623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294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DejaVu Sans"/>
              </a:defRPr>
            </a:pPr>
            <a:r>
              <a:t>Persistent visual anchors make embodied reasoning traceable.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